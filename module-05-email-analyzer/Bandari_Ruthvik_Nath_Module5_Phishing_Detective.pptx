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presents a phishing detector I built in Google Colab. It reads an email, decides whether it is phishing, and gives it a safety score from 0 to 100, like the filters in Gmail and Outlook. The full notebook, with the working model and all charts, is at the OneDrive link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threat this project focuses on is phishing. A phishing email impersonates someone you trust and tries to get you to click a link, hand over a password, or send money. According to the FBI's 2025 IC3 Annual Report, phishing and spoofing was the most-reported crime type, with 191,561 complaints, and business email compromise, where a fake email from an executive or supplier redirects a payment, cost victims just over 3 billion dollars. Total reported cybercrime losses reached 20.9 billion dollars, up 26 percent on 2024. The impact is direct financial loss, and phishing is also the usual first step of larger attacks.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follows the machine learning workflow in Parisi's textbook. Chapter 3, Ham or Spam, applies supervised classifiers such as logistic regression and decision trees to email. I loaded 18,650 labelled emails from Kaggle, removed empty and duplicate messages and HTML, and kept 17,497. Each email became TF-IDF word weights plus hand-made features for urgent words, requests for personal information, and length and structure. I trained logistic regression, which can explain its decisions word by word, and compared it with a random forest. Chapter 5, on anomaly detection, adds the idea I use for mitigation: a supervised model recognises only known patterns, so an anomaly detector that flags unusual behaviour is a useful second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training, I compared the two classes. Phishing emails had 5.3 times as many exclamation marks, 3.9 times as many money or prize terms, 2.0 times as many requests for personal information and 1.5 times as many urgent words. Links on their own were not a giveaway: safe emails, many of them mailing-list posts, had slightly more. No single feature separates the classes, which is why the model combines them with the words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accurate is the detector? On 3,500 test emails it had never seen, logistic regression was 98.8% accurate, with precision 0.987 and recall 0.981. It caught 1,280 of 1,305 phishing emails, missing 25, and wrongly flagged 17 of 2,195 safe emails. The random forest reached 97.5%. Duplicates were removed before the split, so the score is not inflated by the same email appearing in training and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patterns does the AI find most dangerous? The logistic regression weights show it: calls to act such as remove, click, http, site, and money and offer language. On the safe side are conversational words such as thanks and wrote, names and university addresses. I removed numbers and the archive names Enron and SpamAssassin from the vocabulary, because the two classes were collected in different years, but people's names and places from the safe archive still appear. That is why I treat the accuracy as valid for this dataset, not for any inbox.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the system like a user would, I wrote five emails: two normal workplace messages and three scams, an account-suspension warning, a gift-card prize and a CEO-style wire-transfer request. The safety score is 100 times the model's probability that the email is safe. The safe emails scored 98 and 99, and the scams scored 2, 0, 21. The wire-transfer email has no link, so the model flagged it from its wording and length: length, account, bank, hi.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trend I chose is attackers using generative AI. The FBI's 2025 report has a new section on AI: 22,364 complaints mentioned it, with 893 million dollars in losses, and it warns that chat generators can quickly produce official-sounding emails that mimic a CEO. That removes the spelling mistakes people were taught to look for. My detector still has a role because it scores wording rather than spelling, and the wire-transfer demo shows it can catch a message with no link at all. The mitigation is layered: the content model, anomaly detection for unusual senders and requests as in Chapter 5, out-of-band verification of payments, and regular retraining on recent AI-written phishing.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notebook's security report answers the three questions in under 150 words. The detector is highly accurate on this dataset, it weights calls to act, money language and exclamation marks most heavily, and it could protect my family by scoring every email before anyone clicks. It still misses some phishing, so it supports rather than replaces checking with the sender. In Modules 3 and 4 I applied AI to network traffic and transactions; this project showed the same workflow works on language. I want to build email defences that combine content models with anomaly detection and explain their warnings in plain words.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APA 7th edition: the course textbook (Chapters 3 and 5), the 2025 FBI IC3 report and the Kaggle dataset.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280160"/>
            <a:ext cx="82296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508760"/>
            <a:ext cx="10972800" cy="1554480"/>
          </a:xfrm>
          <a:prstGeom prst="rect">
            <a:avLst/>
          </a:prstGeom>
          <a:noFill/>
        </p:spPr>
        <p:txBody>
          <a:bodyPr wrap="square" lIns="0" rIns="0" tIns="0" bIns="0" anchor="t">
            <a:spAutoFit/>
          </a:bodyPr>
          <a:lstStyle/>
          <a:p>
            <a:pPr algn="l">
              <a:lnSpc>
                <a:spcPct val="100000"/>
              </a:lnSpc>
              <a:spcAft>
                <a:spcPts val="0"/>
              </a:spcAft>
            </a:pPr>
            <a:r>
              <a:rPr sz="4400" b="1" i="0">
                <a:solidFill>
                  <a:srgbClr val="FFFFFF"/>
                </a:solidFill>
                <a:latin typeface="Calibri"/>
              </a:rPr>
              <a:t>Phishing Detective</a:t>
            </a:r>
          </a:p>
          <a:p>
            <a:pPr algn="l">
              <a:lnSpc>
                <a:spcPct val="100000"/>
              </a:lnSpc>
              <a:spcAft>
                <a:spcPts val="0"/>
              </a:spcAft>
            </a:pPr>
            <a:r>
              <a:rPr sz="4400" b="1" i="0">
                <a:solidFill>
                  <a:srgbClr val="FFFFFF"/>
                </a:solidFill>
                <a:latin typeface="Calibri"/>
              </a:rPr>
              <a:t>An AI System That Scores Every Email</a:t>
            </a:r>
          </a:p>
        </p:txBody>
      </p:sp>
      <p:sp>
        <p:nvSpPr>
          <p:cNvPr id="5" name="TextBox 4"/>
          <p:cNvSpPr txBox="1"/>
          <p:nvPr/>
        </p:nvSpPr>
        <p:spPr>
          <a:xfrm>
            <a:off x="548640" y="3154680"/>
            <a:ext cx="10972800" cy="914400"/>
          </a:xfrm>
          <a:prstGeom prst="rect">
            <a:avLst/>
          </a:prstGeom>
          <a:noFill/>
        </p:spPr>
        <p:txBody>
          <a:bodyPr wrap="square" lIns="0" rIns="0" tIns="0" bIns="0" anchor="t">
            <a:spAutoFit/>
          </a:bodyPr>
          <a:lstStyle/>
          <a:p>
            <a:pPr algn="l">
              <a:lnSpc>
                <a:spcPct val="110000"/>
              </a:lnSpc>
              <a:spcAft>
                <a:spcPts val="600"/>
              </a:spcAft>
            </a:pPr>
            <a:r>
              <a:rPr sz="2100" b="0" i="0">
                <a:solidFill>
                  <a:srgbClr val="C9D3E0"/>
                </a:solidFill>
                <a:latin typeface="Calibri"/>
              </a:rPr>
              <a:t>Logistic regression trained on 13,997 labelled emails, tested on 3,500 more, with a safety score for every message</a:t>
            </a:r>
          </a:p>
        </p:txBody>
      </p:sp>
      <p:sp>
        <p:nvSpPr>
          <p:cNvPr id="6" name="TextBox 5"/>
          <p:cNvSpPr txBox="1"/>
          <p:nvPr/>
        </p:nvSpPr>
        <p:spPr>
          <a:xfrm>
            <a:off x="548640" y="4343400"/>
            <a:ext cx="10972800" cy="1280160"/>
          </a:xfrm>
          <a:prstGeom prst="rect">
            <a:avLst/>
          </a:prstGeom>
          <a:noFill/>
        </p:spPr>
        <p:txBody>
          <a:bodyPr wrap="square" lIns="0" rIns="0" tIns="0" bIns="0" anchor="t">
            <a:spAutoFit/>
          </a:bodyPr>
          <a:lstStyle/>
          <a:p>
            <a:pPr algn="l">
              <a:lnSpc>
                <a:spcPct val="110000"/>
              </a:lnSpc>
              <a:spcAft>
                <a:spcPts val="400"/>
              </a:spcAft>
            </a:pPr>
            <a:r>
              <a:rPr sz="1600" b="0" i="0">
                <a:solidFill>
                  <a:srgbClr val="C9D3E0"/>
                </a:solidFill>
                <a:latin typeface="Calibri"/>
              </a:rPr>
              <a:t>Ruthvik Nath Bandari</a:t>
            </a:r>
          </a:p>
          <a:p>
            <a:pPr algn="l">
              <a:lnSpc>
                <a:spcPct val="110000"/>
              </a:lnSpc>
              <a:spcAft>
                <a:spcPts val="400"/>
              </a:spcAft>
            </a:pPr>
            <a:r>
              <a:rPr sz="1600" b="0" i="0">
                <a:solidFill>
                  <a:srgbClr val="C9D3E0"/>
                </a:solidFill>
                <a:latin typeface="Calibri"/>
              </a:rPr>
              <a:t>AAI6680: AI for Cybersecurity · Northeastern University · Mimoza Dimodugno, PhD</a:t>
            </a:r>
          </a:p>
          <a:p>
            <a:pPr algn="l">
              <a:lnSpc>
                <a:spcPct val="110000"/>
              </a:lnSpc>
              <a:spcAft>
                <a:spcPts val="400"/>
              </a:spcAft>
            </a:pPr>
            <a:r>
              <a:rPr sz="1600" b="0" i="0">
                <a:solidFill>
                  <a:srgbClr val="C9D3E0"/>
                </a:solidFill>
                <a:latin typeface="Calibri"/>
              </a:rPr>
              <a:t>October 18, 2026</a:t>
            </a:r>
          </a:p>
        </p:txBody>
      </p:sp>
      <p:sp>
        <p:nvSpPr>
          <p:cNvPr id="7" name="TextBox 6"/>
          <p:cNvSpPr txBox="1"/>
          <p:nvPr/>
        </p:nvSpPr>
        <p:spPr>
          <a:xfrm>
            <a:off x="548640" y="5760720"/>
            <a:ext cx="10972800" cy="548640"/>
          </a:xfrm>
          <a:prstGeom prst="rect">
            <a:avLst/>
          </a:prstGeom>
          <a:noFill/>
        </p:spPr>
        <p:txBody>
          <a:bodyPr wrap="square" lIns="0" rIns="0" tIns="0" bIns="0" anchor="t">
            <a:spAutoFit/>
          </a:bodyPr>
          <a:lstStyle/>
          <a:p>
            <a:pPr algn="l">
              <a:lnSpc>
                <a:spcPct val="110000"/>
              </a:lnSpc>
              <a:spcAft>
                <a:spcPts val="600"/>
              </a:spcAft>
            </a:pPr>
            <a:r>
              <a:rPr sz="1300" b="1" i="0">
                <a:solidFill>
                  <a:srgbClr val="C9D3E0"/>
                </a:solidFill>
                <a:latin typeface="Calibri"/>
              </a:rPr>
              <a:t>Google Colab notebook (shared link):</a:t>
            </a:r>
            <a:r>
              <a:rPr sz="1300" b="0" i="0">
                <a:solidFill>
                  <a:srgbClr val="C9D3E0"/>
                </a:solidFill>
                <a:latin typeface="Calibri"/>
              </a:rPr>
              <a:t> https://colab.research.google.com/drive/1kLUIs3FJafw0vvu0TI55hswcTkTR9-u4?usp=sharing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THE THREAT AND ITS IMPACT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The threat: phishing emails that steal credentials and money</a:t>
            </a:r>
          </a:p>
        </p:txBody>
      </p:sp>
      <p:sp>
        <p:nvSpPr>
          <p:cNvPr id="5" name="Rounded Rectangle 4"/>
          <p:cNvSpPr/>
          <p:nvPr/>
        </p:nvSpPr>
        <p:spPr>
          <a:xfrm>
            <a:off x="548640" y="1691640"/>
            <a:ext cx="356616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691640"/>
            <a:ext cx="73152" cy="1234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19656"/>
            <a:ext cx="3154679" cy="548640"/>
          </a:xfrm>
          <a:prstGeom prst="rect">
            <a:avLst/>
          </a:prstGeom>
          <a:noFill/>
        </p:spPr>
        <p:txBody>
          <a:bodyPr wrap="square" lIns="0" rIns="0" tIns="0" bIns="0" anchor="t">
            <a:spAutoFit/>
          </a:bodyPr>
          <a:lstStyle/>
          <a:p>
            <a:pPr algn="l">
              <a:lnSpc>
                <a:spcPct val="110000"/>
              </a:lnSpc>
              <a:spcAft>
                <a:spcPts val="0"/>
              </a:spcAft>
            </a:pPr>
            <a:r>
              <a:rPr sz="3000" b="1" i="0">
                <a:solidFill>
                  <a:srgbClr val="C0392B"/>
                </a:solidFill>
                <a:latin typeface="Calibri"/>
              </a:rPr>
              <a:t>191,561</a:t>
            </a:r>
          </a:p>
        </p:txBody>
      </p:sp>
      <p:sp>
        <p:nvSpPr>
          <p:cNvPr id="8" name="TextBox 7"/>
          <p:cNvSpPr txBox="1"/>
          <p:nvPr/>
        </p:nvSpPr>
        <p:spPr>
          <a:xfrm>
            <a:off x="822959" y="2404872"/>
            <a:ext cx="3154679"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phishing/spoofing complaints in 2025: the most-reported crime type</a:t>
            </a:r>
          </a:p>
        </p:txBody>
      </p:sp>
      <p:sp>
        <p:nvSpPr>
          <p:cNvPr id="9" name="Rounded Rectangle 8"/>
          <p:cNvSpPr/>
          <p:nvPr/>
        </p:nvSpPr>
        <p:spPr>
          <a:xfrm>
            <a:off x="4315968" y="1691640"/>
            <a:ext cx="356616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315968" y="1691640"/>
            <a:ext cx="73152" cy="1234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90288" y="1819656"/>
            <a:ext cx="3154679" cy="548640"/>
          </a:xfrm>
          <a:prstGeom prst="rect">
            <a:avLst/>
          </a:prstGeom>
          <a:noFill/>
        </p:spPr>
        <p:txBody>
          <a:bodyPr wrap="square" lIns="0" rIns="0" tIns="0" bIns="0" anchor="t">
            <a:spAutoFit/>
          </a:bodyPr>
          <a:lstStyle/>
          <a:p>
            <a:pPr algn="l">
              <a:lnSpc>
                <a:spcPct val="110000"/>
              </a:lnSpc>
              <a:spcAft>
                <a:spcPts val="0"/>
              </a:spcAft>
            </a:pPr>
            <a:r>
              <a:rPr sz="3000" b="1" i="0">
                <a:solidFill>
                  <a:srgbClr val="C0392B"/>
                </a:solidFill>
                <a:latin typeface="Calibri"/>
              </a:rPr>
              <a:t>$3.05 billion</a:t>
            </a:r>
          </a:p>
        </p:txBody>
      </p:sp>
      <p:sp>
        <p:nvSpPr>
          <p:cNvPr id="12" name="TextBox 11"/>
          <p:cNvSpPr txBox="1"/>
          <p:nvPr/>
        </p:nvSpPr>
        <p:spPr>
          <a:xfrm>
            <a:off x="4590288" y="2404872"/>
            <a:ext cx="3154679"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lost to business email compromise (BEC) in 2025</a:t>
            </a:r>
          </a:p>
        </p:txBody>
      </p:sp>
      <p:sp>
        <p:nvSpPr>
          <p:cNvPr id="13" name="Rounded Rectangle 12"/>
          <p:cNvSpPr/>
          <p:nvPr/>
        </p:nvSpPr>
        <p:spPr>
          <a:xfrm>
            <a:off x="8083296" y="1691640"/>
            <a:ext cx="356616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083296" y="1691640"/>
            <a:ext cx="73152" cy="123444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57616" y="1819656"/>
            <a:ext cx="3154679" cy="548640"/>
          </a:xfrm>
          <a:prstGeom prst="rect">
            <a:avLst/>
          </a:prstGeom>
          <a:noFill/>
        </p:spPr>
        <p:txBody>
          <a:bodyPr wrap="square" lIns="0" rIns="0" tIns="0" bIns="0" anchor="t">
            <a:spAutoFit/>
          </a:bodyPr>
          <a:lstStyle/>
          <a:p>
            <a:pPr algn="l">
              <a:lnSpc>
                <a:spcPct val="110000"/>
              </a:lnSpc>
              <a:spcAft>
                <a:spcPts val="0"/>
              </a:spcAft>
            </a:pPr>
            <a:r>
              <a:rPr sz="3000" b="1" i="0">
                <a:solidFill>
                  <a:srgbClr val="1F5FAD"/>
                </a:solidFill>
                <a:latin typeface="Calibri"/>
              </a:rPr>
              <a:t>$20.9 billion</a:t>
            </a:r>
          </a:p>
        </p:txBody>
      </p:sp>
      <p:sp>
        <p:nvSpPr>
          <p:cNvPr id="16" name="TextBox 15"/>
          <p:cNvSpPr txBox="1"/>
          <p:nvPr/>
        </p:nvSpPr>
        <p:spPr>
          <a:xfrm>
            <a:off x="8357616" y="2404872"/>
            <a:ext cx="3154679"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total cybercrime losses reported to the FBI in 2025, up 26%</a:t>
            </a:r>
          </a:p>
        </p:txBody>
      </p:sp>
      <p:sp>
        <p:nvSpPr>
          <p:cNvPr id="17" name="TextBox 16"/>
          <p:cNvSpPr txBox="1"/>
          <p:nvPr/>
        </p:nvSpPr>
        <p:spPr>
          <a:xfrm>
            <a:off x="548640" y="3291840"/>
            <a:ext cx="11064240" cy="2743200"/>
          </a:xfrm>
          <a:prstGeom prst="rect">
            <a:avLst/>
          </a:prstGeom>
          <a:noFill/>
        </p:spPr>
        <p:txBody>
          <a:bodyPr wrap="square" lIns="0" rIns="0" tIns="0" bIns="0">
            <a:spAutoFit/>
          </a:bodyPr>
          <a:lstStyle/>
          <a:p>
            <a:pPr marL="256032" indent="-256032">
              <a:lnSpc>
                <a:spcPct val="110000"/>
              </a:lnSpc>
              <a:spcAft>
                <a:spcPts val="1200"/>
              </a:spcAft>
              <a:buClr>
                <a:srgbClr val="1F5FAD"/>
              </a:buClr>
              <a:buFont typeface="Arial"/>
              <a:buChar char="■"/>
            </a:pPr>
            <a:r>
              <a:rPr sz="1700" b="1" i="0">
                <a:solidFill>
                  <a:srgbClr val="1F2937"/>
                </a:solidFill>
                <a:latin typeface="Calibri"/>
              </a:rPr>
              <a:t>What it is:</a:t>
            </a:r>
            <a:r>
              <a:rPr sz="1700" b="0" i="0">
                <a:solidFill>
                  <a:srgbClr val="1F2937"/>
                </a:solidFill>
                <a:latin typeface="Calibri"/>
              </a:rPr>
              <a:t> an email posing as a bank, a courier or your boss that asks you to click, log in or pay.</a:t>
            </a:r>
          </a:p>
          <a:p>
            <a:pPr marL="256032" indent="-256032">
              <a:lnSpc>
                <a:spcPct val="110000"/>
              </a:lnSpc>
              <a:spcAft>
                <a:spcPts val="1200"/>
              </a:spcAft>
              <a:buClr>
                <a:srgbClr val="1F5FAD"/>
              </a:buClr>
              <a:buFont typeface="Arial"/>
              <a:buChar char="■"/>
            </a:pPr>
            <a:r>
              <a:rPr sz="1700" b="1" i="0">
                <a:solidFill>
                  <a:srgbClr val="1F2937"/>
                </a:solidFill>
                <a:latin typeface="Calibri"/>
              </a:rPr>
              <a:t>Impact:</a:t>
            </a:r>
            <a:r>
              <a:rPr sz="1700" b="0" i="0">
                <a:solidFill>
                  <a:srgbClr val="1F2937"/>
                </a:solidFill>
                <a:latin typeface="Calibri"/>
              </a:rPr>
              <a:t> direct </a:t>
            </a:r>
            <a:r>
              <a:rPr sz="1700" b="1" i="0">
                <a:solidFill>
                  <a:srgbClr val="1F2937"/>
                </a:solidFill>
                <a:latin typeface="Calibri"/>
              </a:rPr>
              <a:t>financial loss</a:t>
            </a:r>
            <a:r>
              <a:rPr sz="1700" b="0" i="0">
                <a:solidFill>
                  <a:srgbClr val="1F2937"/>
                </a:solidFill>
                <a:latin typeface="Calibri"/>
              </a:rPr>
              <a:t> (stolen accounts, wire fraud, gift cards) and a way in for ransomware.</a:t>
            </a:r>
          </a:p>
          <a:p>
            <a:pPr marL="256032" indent="-256032">
              <a:lnSpc>
                <a:spcPct val="110000"/>
              </a:lnSpc>
              <a:spcAft>
                <a:spcPts val="1200"/>
              </a:spcAft>
              <a:buClr>
                <a:srgbClr val="1F5FAD"/>
              </a:buClr>
              <a:buFont typeface="Arial"/>
              <a:buChar char="■"/>
            </a:pPr>
            <a:r>
              <a:rPr sz="1700" b="1" i="0">
                <a:solidFill>
                  <a:srgbClr val="1F2937"/>
                </a:solidFill>
                <a:latin typeface="Calibri"/>
              </a:rPr>
              <a:t>Why AI:</a:t>
            </a:r>
            <a:r>
              <a:rPr sz="1700" b="0" i="0">
                <a:solidFill>
                  <a:srgbClr val="1F2937"/>
                </a:solidFill>
                <a:latin typeface="Calibri"/>
              </a:rPr>
              <a:t> nobody can inspect every message; an AI filter scores each one before it reaches the inbox.</a:t>
            </a:r>
          </a:p>
        </p:txBody>
      </p:sp>
      <p:cxnSp>
        <p:nvCxnSpPr>
          <p:cNvPr id="18" name="Connector 1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Federal Bureau of Investigation (FBI, 2026).</a:t>
            </a:r>
          </a:p>
        </p:txBody>
      </p:sp>
      <p:sp>
        <p:nvSpPr>
          <p:cNvPr id="20" name="TextBox 1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APPROACH · AI CONCEPTS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Chapter 5 concepts: machine learning + anomaly detection</a:t>
            </a:r>
          </a:p>
        </p:txBody>
      </p:sp>
      <p:sp>
        <p:nvSpPr>
          <p:cNvPr id="5" name="Rounded Rectangle 4"/>
          <p:cNvSpPr/>
          <p:nvPr/>
        </p:nvSpPr>
        <p:spPr>
          <a:xfrm>
            <a:off x="548640" y="1737360"/>
            <a:ext cx="20574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1883664"/>
            <a:ext cx="1728216" cy="365760"/>
          </a:xfrm>
          <a:prstGeom prst="rect">
            <a:avLst/>
          </a:prstGeom>
          <a:noFill/>
        </p:spPr>
        <p:txBody>
          <a:bodyPr wrap="square" lIns="0" rIns="0" tIns="0" bIns="0" anchor="t">
            <a:spAutoFit/>
          </a:bodyPr>
          <a:lstStyle/>
          <a:p>
            <a:pPr algn="l">
              <a:lnSpc>
                <a:spcPct val="110000"/>
              </a:lnSpc>
              <a:spcAft>
                <a:spcPts val="0"/>
              </a:spcAft>
            </a:pPr>
            <a:r>
              <a:rPr sz="1600" b="1" i="0">
                <a:solidFill>
                  <a:srgbClr val="1F5FAD"/>
                </a:solidFill>
                <a:latin typeface="Calibri"/>
              </a:rPr>
              <a:t>1  Load</a:t>
            </a:r>
          </a:p>
        </p:txBody>
      </p:sp>
      <p:sp>
        <p:nvSpPr>
          <p:cNvPr id="7" name="TextBox 6"/>
          <p:cNvSpPr txBox="1"/>
          <p:nvPr/>
        </p:nvSpPr>
        <p:spPr>
          <a:xfrm>
            <a:off x="713232" y="2267712"/>
            <a:ext cx="1728216"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18,650 Kaggle emails: safe, or phishing and spam</a:t>
            </a:r>
          </a:p>
        </p:txBody>
      </p:sp>
      <p:sp>
        <p:nvSpPr>
          <p:cNvPr id="8" name="TextBox 7"/>
          <p:cNvSpPr txBox="1"/>
          <p:nvPr/>
        </p:nvSpPr>
        <p:spPr>
          <a:xfrm>
            <a:off x="2606040" y="2286000"/>
            <a:ext cx="201168" cy="457200"/>
          </a:xfrm>
          <a:prstGeom prst="rect">
            <a:avLst/>
          </a:prstGeom>
          <a:noFill/>
        </p:spPr>
        <p:txBody>
          <a:bodyPr wrap="square" lIns="0" rIns="0" tIns="0" bIns="0" anchor="t">
            <a:spAutoFit/>
          </a:bodyPr>
          <a:lstStyle/>
          <a:p>
            <a:pPr algn="ctr">
              <a:lnSpc>
                <a:spcPct val="110000"/>
              </a:lnSpc>
              <a:spcAft>
                <a:spcPts val="600"/>
              </a:spcAft>
            </a:pPr>
            <a:r>
              <a:rPr sz="2400" b="0" i="0">
                <a:solidFill>
                  <a:srgbClr val="9AA3AF"/>
                </a:solidFill>
                <a:latin typeface="Calibri"/>
              </a:rPr>
              <a:t>›</a:t>
            </a:r>
          </a:p>
        </p:txBody>
      </p:sp>
      <p:sp>
        <p:nvSpPr>
          <p:cNvPr id="9" name="Rounded Rectangle 8"/>
          <p:cNvSpPr/>
          <p:nvPr/>
        </p:nvSpPr>
        <p:spPr>
          <a:xfrm>
            <a:off x="2807208" y="1737360"/>
            <a:ext cx="20574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971800" y="1883664"/>
            <a:ext cx="1728216" cy="365760"/>
          </a:xfrm>
          <a:prstGeom prst="rect">
            <a:avLst/>
          </a:prstGeom>
          <a:noFill/>
        </p:spPr>
        <p:txBody>
          <a:bodyPr wrap="square" lIns="0" rIns="0" tIns="0" bIns="0" anchor="t">
            <a:spAutoFit/>
          </a:bodyPr>
          <a:lstStyle/>
          <a:p>
            <a:pPr algn="l">
              <a:lnSpc>
                <a:spcPct val="110000"/>
              </a:lnSpc>
              <a:spcAft>
                <a:spcPts val="0"/>
              </a:spcAft>
            </a:pPr>
            <a:r>
              <a:rPr sz="1600" b="1" i="0">
                <a:solidFill>
                  <a:srgbClr val="1F5FAD"/>
                </a:solidFill>
                <a:latin typeface="Calibri"/>
              </a:rPr>
              <a:t>2  Clean</a:t>
            </a:r>
          </a:p>
        </p:txBody>
      </p:sp>
      <p:sp>
        <p:nvSpPr>
          <p:cNvPr id="11" name="TextBox 10"/>
          <p:cNvSpPr txBox="1"/>
          <p:nvPr/>
        </p:nvSpPr>
        <p:spPr>
          <a:xfrm>
            <a:off x="2971800" y="2267712"/>
            <a:ext cx="1728216"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Drop empty and duplicate emails, strip HTML → 17,497</a:t>
            </a:r>
          </a:p>
        </p:txBody>
      </p:sp>
      <p:sp>
        <p:nvSpPr>
          <p:cNvPr id="12" name="TextBox 11"/>
          <p:cNvSpPr txBox="1"/>
          <p:nvPr/>
        </p:nvSpPr>
        <p:spPr>
          <a:xfrm>
            <a:off x="4864608" y="2286000"/>
            <a:ext cx="201168" cy="457200"/>
          </a:xfrm>
          <a:prstGeom prst="rect">
            <a:avLst/>
          </a:prstGeom>
          <a:noFill/>
        </p:spPr>
        <p:txBody>
          <a:bodyPr wrap="square" lIns="0" rIns="0" tIns="0" bIns="0" anchor="t">
            <a:spAutoFit/>
          </a:bodyPr>
          <a:lstStyle/>
          <a:p>
            <a:pPr algn="ctr">
              <a:lnSpc>
                <a:spcPct val="110000"/>
              </a:lnSpc>
              <a:spcAft>
                <a:spcPts val="600"/>
              </a:spcAft>
            </a:pPr>
            <a:r>
              <a:rPr sz="2400" b="0" i="0">
                <a:solidFill>
                  <a:srgbClr val="9AA3AF"/>
                </a:solidFill>
                <a:latin typeface="Calibri"/>
              </a:rPr>
              <a:t>›</a:t>
            </a:r>
          </a:p>
        </p:txBody>
      </p:sp>
      <p:sp>
        <p:nvSpPr>
          <p:cNvPr id="13" name="Rounded Rectangle 12"/>
          <p:cNvSpPr/>
          <p:nvPr/>
        </p:nvSpPr>
        <p:spPr>
          <a:xfrm>
            <a:off x="5065776" y="1737360"/>
            <a:ext cx="20574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30368" y="1883664"/>
            <a:ext cx="1728216" cy="365760"/>
          </a:xfrm>
          <a:prstGeom prst="rect">
            <a:avLst/>
          </a:prstGeom>
          <a:noFill/>
        </p:spPr>
        <p:txBody>
          <a:bodyPr wrap="square" lIns="0" rIns="0" tIns="0" bIns="0" anchor="t">
            <a:spAutoFit/>
          </a:bodyPr>
          <a:lstStyle/>
          <a:p>
            <a:pPr algn="l">
              <a:lnSpc>
                <a:spcPct val="110000"/>
              </a:lnSpc>
              <a:spcAft>
                <a:spcPts val="0"/>
              </a:spcAft>
            </a:pPr>
            <a:r>
              <a:rPr sz="1600" b="1" i="0">
                <a:solidFill>
                  <a:srgbClr val="1F5FAD"/>
                </a:solidFill>
                <a:latin typeface="Calibri"/>
              </a:rPr>
              <a:t>3  Features</a:t>
            </a:r>
          </a:p>
        </p:txBody>
      </p:sp>
      <p:sp>
        <p:nvSpPr>
          <p:cNvPr id="15" name="TextBox 14"/>
          <p:cNvSpPr txBox="1"/>
          <p:nvPr/>
        </p:nvSpPr>
        <p:spPr>
          <a:xfrm>
            <a:off x="5230368" y="2267712"/>
            <a:ext cx="1728216"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Words (TF-IDF), urgent words, personal-info requests, length</a:t>
            </a:r>
          </a:p>
        </p:txBody>
      </p:sp>
      <p:sp>
        <p:nvSpPr>
          <p:cNvPr id="16" name="TextBox 15"/>
          <p:cNvSpPr txBox="1"/>
          <p:nvPr/>
        </p:nvSpPr>
        <p:spPr>
          <a:xfrm>
            <a:off x="7123176" y="2286000"/>
            <a:ext cx="201168" cy="457200"/>
          </a:xfrm>
          <a:prstGeom prst="rect">
            <a:avLst/>
          </a:prstGeom>
          <a:noFill/>
        </p:spPr>
        <p:txBody>
          <a:bodyPr wrap="square" lIns="0" rIns="0" tIns="0" bIns="0" anchor="t">
            <a:spAutoFit/>
          </a:bodyPr>
          <a:lstStyle/>
          <a:p>
            <a:pPr algn="ctr">
              <a:lnSpc>
                <a:spcPct val="110000"/>
              </a:lnSpc>
              <a:spcAft>
                <a:spcPts val="600"/>
              </a:spcAft>
            </a:pPr>
            <a:r>
              <a:rPr sz="2400" b="0" i="0">
                <a:solidFill>
                  <a:srgbClr val="9AA3AF"/>
                </a:solidFill>
                <a:latin typeface="Calibri"/>
              </a:rPr>
              <a:t>›</a:t>
            </a:r>
          </a:p>
        </p:txBody>
      </p:sp>
      <p:sp>
        <p:nvSpPr>
          <p:cNvPr id="17" name="Rounded Rectangle 16"/>
          <p:cNvSpPr/>
          <p:nvPr/>
        </p:nvSpPr>
        <p:spPr>
          <a:xfrm>
            <a:off x="7324344" y="1737360"/>
            <a:ext cx="20574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88936" y="1883664"/>
            <a:ext cx="1728216" cy="365760"/>
          </a:xfrm>
          <a:prstGeom prst="rect">
            <a:avLst/>
          </a:prstGeom>
          <a:noFill/>
        </p:spPr>
        <p:txBody>
          <a:bodyPr wrap="square" lIns="0" rIns="0" tIns="0" bIns="0" anchor="t">
            <a:spAutoFit/>
          </a:bodyPr>
          <a:lstStyle/>
          <a:p>
            <a:pPr algn="l">
              <a:lnSpc>
                <a:spcPct val="110000"/>
              </a:lnSpc>
              <a:spcAft>
                <a:spcPts val="0"/>
              </a:spcAft>
            </a:pPr>
            <a:r>
              <a:rPr sz="1600" b="1" i="0">
                <a:solidFill>
                  <a:srgbClr val="1F5FAD"/>
                </a:solidFill>
                <a:latin typeface="Calibri"/>
              </a:rPr>
              <a:t>4  Train &amp; test</a:t>
            </a:r>
          </a:p>
        </p:txBody>
      </p:sp>
      <p:sp>
        <p:nvSpPr>
          <p:cNvPr id="19" name="TextBox 18"/>
          <p:cNvSpPr txBox="1"/>
          <p:nvPr/>
        </p:nvSpPr>
        <p:spPr>
          <a:xfrm>
            <a:off x="7488936" y="2267712"/>
            <a:ext cx="1728216"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80/20 split: 13,997 / 3,500</a:t>
            </a:r>
          </a:p>
        </p:txBody>
      </p:sp>
      <p:sp>
        <p:nvSpPr>
          <p:cNvPr id="20" name="TextBox 19"/>
          <p:cNvSpPr txBox="1"/>
          <p:nvPr/>
        </p:nvSpPr>
        <p:spPr>
          <a:xfrm>
            <a:off x="9381744" y="2286000"/>
            <a:ext cx="201168" cy="457200"/>
          </a:xfrm>
          <a:prstGeom prst="rect">
            <a:avLst/>
          </a:prstGeom>
          <a:noFill/>
        </p:spPr>
        <p:txBody>
          <a:bodyPr wrap="square" lIns="0" rIns="0" tIns="0" bIns="0" anchor="t">
            <a:spAutoFit/>
          </a:bodyPr>
          <a:lstStyle/>
          <a:p>
            <a:pPr algn="ctr">
              <a:lnSpc>
                <a:spcPct val="110000"/>
              </a:lnSpc>
              <a:spcAft>
                <a:spcPts val="600"/>
              </a:spcAft>
            </a:pPr>
            <a:r>
              <a:rPr sz="2400" b="0" i="0">
                <a:solidFill>
                  <a:srgbClr val="9AA3AF"/>
                </a:solidFill>
                <a:latin typeface="Calibri"/>
              </a:rPr>
              <a:t>›</a:t>
            </a:r>
          </a:p>
        </p:txBody>
      </p:sp>
      <p:sp>
        <p:nvSpPr>
          <p:cNvPr id="21" name="Rounded Rectangle 20"/>
          <p:cNvSpPr/>
          <p:nvPr/>
        </p:nvSpPr>
        <p:spPr>
          <a:xfrm>
            <a:off x="9582912" y="1737360"/>
            <a:ext cx="20574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47504" y="1883664"/>
            <a:ext cx="1728216" cy="365760"/>
          </a:xfrm>
          <a:prstGeom prst="rect">
            <a:avLst/>
          </a:prstGeom>
          <a:noFill/>
        </p:spPr>
        <p:txBody>
          <a:bodyPr wrap="square" lIns="0" rIns="0" tIns="0" bIns="0" anchor="t">
            <a:spAutoFit/>
          </a:bodyPr>
          <a:lstStyle/>
          <a:p>
            <a:pPr algn="l">
              <a:lnSpc>
                <a:spcPct val="110000"/>
              </a:lnSpc>
              <a:spcAft>
                <a:spcPts val="0"/>
              </a:spcAft>
            </a:pPr>
            <a:r>
              <a:rPr sz="1600" b="1" i="0">
                <a:solidFill>
                  <a:srgbClr val="1F5FAD"/>
                </a:solidFill>
                <a:latin typeface="Calibri"/>
              </a:rPr>
              <a:t>5  Score</a:t>
            </a:r>
          </a:p>
        </p:txBody>
      </p:sp>
      <p:sp>
        <p:nvSpPr>
          <p:cNvPr id="23" name="TextBox 22"/>
          <p:cNvSpPr txBox="1"/>
          <p:nvPr/>
        </p:nvSpPr>
        <p:spPr>
          <a:xfrm>
            <a:off x="9747504" y="2267712"/>
            <a:ext cx="1728216"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Safety score 0–100 for any new email</a:t>
            </a:r>
          </a:p>
        </p:txBody>
      </p:sp>
      <p:sp>
        <p:nvSpPr>
          <p:cNvPr id="24" name="TextBox 23"/>
          <p:cNvSpPr txBox="1"/>
          <p:nvPr/>
        </p:nvSpPr>
        <p:spPr>
          <a:xfrm>
            <a:off x="548640" y="3657600"/>
            <a:ext cx="54864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MACHINE LEARNING: SUPERVISED CLASSIFICATION</a:t>
            </a:r>
          </a:p>
        </p:txBody>
      </p:sp>
      <p:sp>
        <p:nvSpPr>
          <p:cNvPr id="25" name="TextBox 24"/>
          <p:cNvSpPr txBox="1"/>
          <p:nvPr/>
        </p:nvSpPr>
        <p:spPr>
          <a:xfrm>
            <a:off x="548640" y="4023360"/>
            <a:ext cx="5486400" cy="2194560"/>
          </a:xfrm>
          <a:prstGeom prst="rect">
            <a:avLst/>
          </a:prstGeom>
          <a:noFill/>
        </p:spPr>
        <p:txBody>
          <a:bodyPr wrap="square" lIns="0" rIns="0" tIns="0" bIns="0">
            <a:spAutoFit/>
          </a:bodyPr>
          <a:lstStyle/>
          <a:p>
            <a:pPr marL="256032" indent="-256032">
              <a:lnSpc>
                <a:spcPct val="110000"/>
              </a:lnSpc>
              <a:spcAft>
                <a:spcPts val="1000"/>
              </a:spcAft>
              <a:buClr>
                <a:srgbClr val="1F5FAD"/>
              </a:buClr>
              <a:buFont typeface="Arial"/>
              <a:buChar char="■"/>
            </a:pPr>
            <a:r>
              <a:rPr sz="1500" b="1" i="0">
                <a:solidFill>
                  <a:srgbClr val="1F2937"/>
                </a:solidFill>
                <a:latin typeface="Calibri"/>
              </a:rPr>
              <a:t>Logistic regression</a:t>
            </a:r>
            <a:r>
              <a:rPr sz="1500" b="0" i="0">
                <a:solidFill>
                  <a:srgbClr val="1F2937"/>
                </a:solidFill>
                <a:latin typeface="Calibri"/>
              </a:rPr>
              <a:t> (main model) gives every word a weight, showing </a:t>
            </a:r>
            <a:r>
              <a:rPr sz="1500" b="0" i="1">
                <a:solidFill>
                  <a:srgbClr val="1F2937"/>
                </a:solidFill>
                <a:latin typeface="Calibri"/>
              </a:rPr>
              <a:t>why</a:t>
            </a:r>
            <a:r>
              <a:rPr sz="1500" b="0" i="0">
                <a:solidFill>
                  <a:srgbClr val="1F2937"/>
                </a:solidFill>
                <a:latin typeface="Calibri"/>
              </a:rPr>
              <a:t> an email is flagged.</a:t>
            </a:r>
          </a:p>
          <a:p>
            <a:pPr marL="256032" indent="-256032">
              <a:lnSpc>
                <a:spcPct val="110000"/>
              </a:lnSpc>
              <a:spcAft>
                <a:spcPts val="1000"/>
              </a:spcAft>
              <a:buClr>
                <a:srgbClr val="1F5FAD"/>
              </a:buClr>
              <a:buFont typeface="Arial"/>
              <a:buChar char="■"/>
            </a:pPr>
            <a:r>
              <a:rPr sz="1500" b="1" i="0">
                <a:solidFill>
                  <a:srgbClr val="1F2937"/>
                </a:solidFill>
                <a:latin typeface="Calibri"/>
              </a:rPr>
              <a:t>Random forest</a:t>
            </a:r>
            <a:r>
              <a:rPr sz="1500" b="0" i="0">
                <a:solidFill>
                  <a:srgbClr val="1F2937"/>
                </a:solidFill>
                <a:latin typeface="Calibri"/>
              </a:rPr>
              <a:t> (300 decision trees) for comparison.</a:t>
            </a:r>
          </a:p>
        </p:txBody>
      </p:sp>
      <p:sp>
        <p:nvSpPr>
          <p:cNvPr id="26" name="TextBox 25"/>
          <p:cNvSpPr txBox="1"/>
          <p:nvPr/>
        </p:nvSpPr>
        <p:spPr>
          <a:xfrm>
            <a:off x="6400800" y="3657600"/>
            <a:ext cx="52578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ANOMALY DETECTION: THE SAFETY NET</a:t>
            </a:r>
          </a:p>
        </p:txBody>
      </p:sp>
      <p:sp>
        <p:nvSpPr>
          <p:cNvPr id="27" name="TextBox 26"/>
          <p:cNvSpPr txBox="1"/>
          <p:nvPr/>
        </p:nvSpPr>
        <p:spPr>
          <a:xfrm>
            <a:off x="6400800" y="4023360"/>
            <a:ext cx="5257800" cy="2194560"/>
          </a:xfrm>
          <a:prstGeom prst="rect">
            <a:avLst/>
          </a:prstGeom>
          <a:noFill/>
        </p:spPr>
        <p:txBody>
          <a:bodyPr wrap="square" lIns="0" rIns="0" tIns="0" bIns="0">
            <a:spAutoFit/>
          </a:bodyPr>
          <a:lstStyle/>
          <a:p>
            <a:pPr marL="256032" indent="-256032">
              <a:lnSpc>
                <a:spcPct val="110000"/>
              </a:lnSpc>
              <a:spcAft>
                <a:spcPts val="1000"/>
              </a:spcAft>
              <a:buClr>
                <a:srgbClr val="1E846F"/>
              </a:buClr>
              <a:buFont typeface="Arial"/>
              <a:buChar char="■"/>
            </a:pPr>
            <a:r>
              <a:rPr sz="1500" b="0" i="0">
                <a:solidFill>
                  <a:srgbClr val="1F2937"/>
                </a:solidFill>
                <a:latin typeface="Calibri"/>
              </a:rPr>
              <a:t>A classifier knows only scams it has seen; anomaly detection flags </a:t>
            </a:r>
            <a:r>
              <a:rPr sz="1500" b="1" i="0">
                <a:solidFill>
                  <a:srgbClr val="1F2937"/>
                </a:solidFill>
                <a:latin typeface="Calibri"/>
              </a:rPr>
              <a:t>unusual</a:t>
            </a:r>
            <a:r>
              <a:rPr sz="1500" b="0" i="0">
                <a:solidFill>
                  <a:srgbClr val="1F2937"/>
                </a:solidFill>
                <a:latin typeface="Calibri"/>
              </a:rPr>
              <a:t> behaviour.</a:t>
            </a:r>
          </a:p>
          <a:p>
            <a:pPr marL="256032" indent="-256032">
              <a:lnSpc>
                <a:spcPct val="110000"/>
              </a:lnSpc>
              <a:spcAft>
                <a:spcPts val="1000"/>
              </a:spcAft>
              <a:buClr>
                <a:srgbClr val="1E846F"/>
              </a:buClr>
              <a:buFont typeface="Arial"/>
              <a:buChar char="■"/>
            </a:pPr>
            <a:r>
              <a:rPr sz="1500" b="0" i="1">
                <a:solidFill>
                  <a:srgbClr val="1F2937"/>
                </a:solidFill>
                <a:latin typeface="Calibri"/>
              </a:rPr>
              <a:t>Example:</a:t>
            </a:r>
            <a:r>
              <a:rPr sz="1500" b="0" i="0">
                <a:solidFill>
                  <a:srgbClr val="1F2937"/>
                </a:solidFill>
                <a:latin typeface="Calibri"/>
              </a:rPr>
              <a:t> a first-time sender asking for a wire transfer → hold for review.</a:t>
            </a:r>
          </a:p>
        </p:txBody>
      </p:sp>
      <p:cxnSp>
        <p:nvCxnSpPr>
          <p:cNvPr id="28" name="Connector 2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Parisi (2019, Ch. 3); Parisi (2019, Ch. 5); Cyber Cop (2023).</a:t>
            </a:r>
          </a:p>
        </p:txBody>
      </p:sp>
      <p:sp>
        <p:nvSpPr>
          <p:cNvPr id="30" name="TextBox 2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DATA · PHISHING VS NORMAL CHARACTERISTICS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What phishing looks like compared with normal email</a:t>
            </a:r>
          </a:p>
        </p:txBody>
      </p:sp>
      <p:pic>
        <p:nvPicPr>
          <p:cNvPr id="5" name="Picture 4" descr="image.png"/>
          <p:cNvPicPr>
            <a:picLocks noChangeAspect="1"/>
          </p:cNvPicPr>
          <p:nvPr/>
        </p:nvPicPr>
        <p:blipFill>
          <a:blip r:embed="rId2"/>
          <a:stretch>
            <a:fillRect/>
          </a:stretch>
        </p:blipFill>
        <p:spPr>
          <a:xfrm>
            <a:off x="548640" y="1554480"/>
            <a:ext cx="7223760" cy="3709498"/>
          </a:xfrm>
          <a:prstGeom prst="rect">
            <a:avLst/>
          </a:prstGeom>
        </p:spPr>
      </p:pic>
      <p:sp>
        <p:nvSpPr>
          <p:cNvPr id="6" name="TextBox 5"/>
          <p:cNvSpPr txBox="1"/>
          <p:nvPr/>
        </p:nvSpPr>
        <p:spPr>
          <a:xfrm>
            <a:off x="8092440" y="1691640"/>
            <a:ext cx="356616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PER EMAIL, PHISHING HAS</a:t>
            </a:r>
          </a:p>
        </p:txBody>
      </p:sp>
      <p:sp>
        <p:nvSpPr>
          <p:cNvPr id="7" name="TextBox 6"/>
          <p:cNvSpPr txBox="1"/>
          <p:nvPr/>
        </p:nvSpPr>
        <p:spPr>
          <a:xfrm>
            <a:off x="8092440" y="2057400"/>
            <a:ext cx="3566160" cy="4023360"/>
          </a:xfrm>
          <a:prstGeom prst="rect">
            <a:avLst/>
          </a:prstGeom>
          <a:noFill/>
        </p:spPr>
        <p:txBody>
          <a:bodyPr wrap="square" lIns="0" rIns="0" tIns="0" bIns="0">
            <a:spAutoFit/>
          </a:bodyPr>
          <a:lstStyle/>
          <a:p>
            <a:pPr marL="256032" indent="-256032">
              <a:lnSpc>
                <a:spcPct val="110000"/>
              </a:lnSpc>
              <a:spcAft>
                <a:spcPts val="1000"/>
              </a:spcAft>
              <a:buClr>
                <a:srgbClr val="C0392B"/>
              </a:buClr>
              <a:buFont typeface="Arial"/>
              <a:buChar char="■"/>
            </a:pPr>
            <a:r>
              <a:rPr sz="1500" b="1" i="0">
                <a:solidFill>
                  <a:srgbClr val="1F2937"/>
                </a:solidFill>
                <a:latin typeface="Calibri"/>
              </a:rPr>
              <a:t>5.3×</a:t>
            </a:r>
            <a:r>
              <a:rPr sz="1500" b="0" i="0">
                <a:solidFill>
                  <a:srgbClr val="1F2937"/>
                </a:solidFill>
                <a:latin typeface="Calibri"/>
              </a:rPr>
              <a:t> as many exclamation marks</a:t>
            </a:r>
          </a:p>
          <a:p>
            <a:pPr marL="256032" indent="-256032">
              <a:lnSpc>
                <a:spcPct val="110000"/>
              </a:lnSpc>
              <a:spcAft>
                <a:spcPts val="1000"/>
              </a:spcAft>
              <a:buClr>
                <a:srgbClr val="C0392B"/>
              </a:buClr>
              <a:buFont typeface="Arial"/>
              <a:buChar char="■"/>
            </a:pPr>
            <a:r>
              <a:rPr sz="1500" b="1" i="0">
                <a:solidFill>
                  <a:srgbClr val="1F2937"/>
                </a:solidFill>
                <a:latin typeface="Calibri"/>
              </a:rPr>
              <a:t>3.9×</a:t>
            </a:r>
            <a:r>
              <a:rPr sz="1500" b="0" i="0">
                <a:solidFill>
                  <a:srgbClr val="1F2937"/>
                </a:solidFill>
                <a:latin typeface="Calibri"/>
              </a:rPr>
              <a:t> as many money or prize terms</a:t>
            </a:r>
          </a:p>
          <a:p>
            <a:pPr marL="256032" indent="-256032">
              <a:lnSpc>
                <a:spcPct val="110000"/>
              </a:lnSpc>
              <a:spcAft>
                <a:spcPts val="1000"/>
              </a:spcAft>
              <a:buClr>
                <a:srgbClr val="C0392B"/>
              </a:buClr>
              <a:buFont typeface="Arial"/>
              <a:buChar char="■"/>
            </a:pPr>
            <a:r>
              <a:rPr sz="1500" b="1" i="0">
                <a:solidFill>
                  <a:srgbClr val="1F2937"/>
                </a:solidFill>
                <a:latin typeface="Calibri"/>
              </a:rPr>
              <a:t>2.0×</a:t>
            </a:r>
            <a:r>
              <a:rPr sz="1500" b="0" i="0">
                <a:solidFill>
                  <a:srgbClr val="1F2937"/>
                </a:solidFill>
                <a:latin typeface="Calibri"/>
              </a:rPr>
              <a:t> as many requests for passwords, card or account numbers</a:t>
            </a:r>
          </a:p>
          <a:p>
            <a:pPr marL="256032" indent="-256032">
              <a:lnSpc>
                <a:spcPct val="110000"/>
              </a:lnSpc>
              <a:spcAft>
                <a:spcPts val="1000"/>
              </a:spcAft>
              <a:buClr>
                <a:srgbClr val="C0392B"/>
              </a:buClr>
              <a:buFont typeface="Arial"/>
              <a:buChar char="■"/>
            </a:pPr>
            <a:r>
              <a:rPr sz="1500" b="1" i="0">
                <a:solidFill>
                  <a:srgbClr val="1F2937"/>
                </a:solidFill>
                <a:latin typeface="Calibri"/>
              </a:rPr>
              <a:t>1.5×</a:t>
            </a:r>
            <a:r>
              <a:rPr sz="1500" b="0" i="0">
                <a:solidFill>
                  <a:srgbClr val="1F2937"/>
                </a:solidFill>
                <a:latin typeface="Calibri"/>
              </a:rPr>
              <a:t> as many urgent words</a:t>
            </a:r>
          </a:p>
          <a:p>
            <a:pPr marL="256032" indent="-256032">
              <a:lnSpc>
                <a:spcPct val="110000"/>
              </a:lnSpc>
              <a:spcAft>
                <a:spcPts val="1000"/>
              </a:spcAft>
              <a:buClr>
                <a:srgbClr val="C0392B"/>
              </a:buClr>
              <a:buFont typeface="Arial"/>
              <a:buChar char="■"/>
            </a:pPr>
            <a:r>
              <a:rPr sz="1500" b="0" i="0">
                <a:solidFill>
                  <a:srgbClr val="1F2937"/>
                </a:solidFill>
                <a:latin typeface="Calibri"/>
              </a:rPr>
              <a:t>Links are </a:t>
            </a:r>
            <a:r>
              <a:rPr sz="1500" b="1" i="0">
                <a:solidFill>
                  <a:srgbClr val="1F2937"/>
                </a:solidFill>
                <a:latin typeface="Calibri"/>
              </a:rPr>
              <a:t>not</a:t>
            </a:r>
            <a:r>
              <a:rPr sz="1500" b="0" i="0">
                <a:solidFill>
                  <a:srgbClr val="1F2937"/>
                </a:solidFill>
                <a:latin typeface="Calibri"/>
              </a:rPr>
              <a:t> a giveaway: safe emails had slightly more.</a:t>
            </a:r>
          </a:p>
        </p:txBody>
      </p:sp>
      <p:cxnSp>
        <p:nvCxnSpPr>
          <p:cNvPr id="8" name="Connector 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author's analysis of 17,497 cleaned emails from Cyber Cop (2023).</a:t>
            </a:r>
          </a:p>
        </p:txBody>
      </p:sp>
      <p:sp>
        <p:nvSpPr>
          <p:cNvPr id="10" name="TextBox 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RESULTS · MODEL ACCURACY</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98.8% accurate on 3,500 emails it had never seen</a:t>
            </a:r>
          </a:p>
        </p:txBody>
      </p:sp>
      <p:pic>
        <p:nvPicPr>
          <p:cNvPr id="5" name="Picture 4" descr="image.png"/>
          <p:cNvPicPr>
            <a:picLocks noChangeAspect="1"/>
          </p:cNvPicPr>
          <p:nvPr/>
        </p:nvPicPr>
        <p:blipFill>
          <a:blip r:embed="rId2"/>
          <a:stretch>
            <a:fillRect/>
          </a:stretch>
        </p:blipFill>
        <p:spPr>
          <a:xfrm>
            <a:off x="548640" y="1600200"/>
            <a:ext cx="7589520" cy="2583257"/>
          </a:xfrm>
          <a:prstGeom prst="rect">
            <a:avLst/>
          </a:prstGeom>
        </p:spPr>
      </p:pic>
      <p:sp>
        <p:nvSpPr>
          <p:cNvPr id="6" name="Rounded Rectangle 5"/>
          <p:cNvSpPr/>
          <p:nvPr/>
        </p:nvSpPr>
        <p:spPr>
          <a:xfrm>
            <a:off x="8458200" y="1691640"/>
            <a:ext cx="320040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8458200" y="1691640"/>
            <a:ext cx="73152" cy="1234440"/>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32520" y="1819656"/>
            <a:ext cx="2788920" cy="548640"/>
          </a:xfrm>
          <a:prstGeom prst="rect">
            <a:avLst/>
          </a:prstGeom>
          <a:noFill/>
        </p:spPr>
        <p:txBody>
          <a:bodyPr wrap="square" lIns="0" rIns="0" tIns="0" bIns="0" anchor="t">
            <a:spAutoFit/>
          </a:bodyPr>
          <a:lstStyle/>
          <a:p>
            <a:pPr algn="l">
              <a:lnSpc>
                <a:spcPct val="110000"/>
              </a:lnSpc>
              <a:spcAft>
                <a:spcPts val="0"/>
              </a:spcAft>
            </a:pPr>
            <a:r>
              <a:rPr sz="3000" b="1" i="0">
                <a:solidFill>
                  <a:srgbClr val="1E846F"/>
                </a:solidFill>
                <a:latin typeface="Calibri"/>
              </a:rPr>
              <a:t>98.1%</a:t>
            </a:r>
          </a:p>
        </p:txBody>
      </p:sp>
      <p:sp>
        <p:nvSpPr>
          <p:cNvPr id="9" name="TextBox 8"/>
          <p:cNvSpPr txBox="1"/>
          <p:nvPr/>
        </p:nvSpPr>
        <p:spPr>
          <a:xfrm>
            <a:off x="8732520" y="2404872"/>
            <a:ext cx="2788920"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of phishing caught (1,280 of 1,305)</a:t>
            </a:r>
          </a:p>
        </p:txBody>
      </p:sp>
      <p:sp>
        <p:nvSpPr>
          <p:cNvPr id="10" name="Rounded Rectangle 9"/>
          <p:cNvSpPr/>
          <p:nvPr/>
        </p:nvSpPr>
        <p:spPr>
          <a:xfrm>
            <a:off x="8458200" y="3108960"/>
            <a:ext cx="320040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58200" y="3108960"/>
            <a:ext cx="73152" cy="1234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2520" y="3236976"/>
            <a:ext cx="2788920" cy="548640"/>
          </a:xfrm>
          <a:prstGeom prst="rect">
            <a:avLst/>
          </a:prstGeom>
          <a:noFill/>
        </p:spPr>
        <p:txBody>
          <a:bodyPr wrap="square" lIns="0" rIns="0" tIns="0" bIns="0" anchor="t">
            <a:spAutoFit/>
          </a:bodyPr>
          <a:lstStyle/>
          <a:p>
            <a:pPr algn="l">
              <a:lnSpc>
                <a:spcPct val="110000"/>
              </a:lnSpc>
              <a:spcAft>
                <a:spcPts val="0"/>
              </a:spcAft>
            </a:pPr>
            <a:r>
              <a:rPr sz="3000" b="1" i="0">
                <a:solidFill>
                  <a:srgbClr val="C0392B"/>
                </a:solidFill>
                <a:latin typeface="Calibri"/>
              </a:rPr>
              <a:t>17 of 2,195</a:t>
            </a:r>
          </a:p>
        </p:txBody>
      </p:sp>
      <p:sp>
        <p:nvSpPr>
          <p:cNvPr id="13" name="TextBox 12"/>
          <p:cNvSpPr txBox="1"/>
          <p:nvPr/>
        </p:nvSpPr>
        <p:spPr>
          <a:xfrm>
            <a:off x="8732520" y="3822191"/>
            <a:ext cx="2788920"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safe emails wrongly flagged</a:t>
            </a:r>
          </a:p>
        </p:txBody>
      </p:sp>
      <p:sp>
        <p:nvSpPr>
          <p:cNvPr id="14" name="TextBox 13"/>
          <p:cNvSpPr txBox="1"/>
          <p:nvPr/>
        </p:nvSpPr>
        <p:spPr>
          <a:xfrm>
            <a:off x="8458200" y="4572000"/>
            <a:ext cx="3200400" cy="1371600"/>
          </a:xfrm>
          <a:prstGeom prst="rect">
            <a:avLst/>
          </a:prstGeom>
          <a:noFill/>
        </p:spPr>
        <p:txBody>
          <a:bodyPr wrap="square" lIns="0" rIns="0" tIns="0" bIns="0" anchor="t">
            <a:spAutoFit/>
          </a:bodyPr>
          <a:lstStyle/>
          <a:p>
            <a:pPr algn="l">
              <a:lnSpc>
                <a:spcPct val="110000"/>
              </a:lnSpc>
              <a:spcAft>
                <a:spcPts val="600"/>
              </a:spcAft>
            </a:pPr>
            <a:r>
              <a:rPr sz="1400" b="0" i="0">
                <a:solidFill>
                  <a:srgbClr val="1F2937"/>
                </a:solidFill>
                <a:latin typeface="Calibri"/>
              </a:rPr>
              <a:t>Logistic regression beat the random forest (97.5%), and its word weights show why it flags an email.</a:t>
            </a:r>
          </a:p>
        </p:txBody>
      </p:sp>
      <p:cxnSp>
        <p:nvCxnSpPr>
          <p:cNvPr id="15" name="Connector 14"/>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author's analysis; test set = 20% of emails held out before training.</a:t>
            </a:r>
          </a:p>
        </p:txBody>
      </p:sp>
      <p:sp>
        <p:nvSpPr>
          <p:cNvPr id="17" name="TextBox 16"/>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RESULTS · DANGEROUS PATTERNS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The most suspicious words and phrases the AI learned</a:t>
            </a:r>
          </a:p>
        </p:txBody>
      </p:sp>
      <p:pic>
        <p:nvPicPr>
          <p:cNvPr id="5" name="Picture 4" descr="image.png"/>
          <p:cNvPicPr>
            <a:picLocks noChangeAspect="1"/>
          </p:cNvPicPr>
          <p:nvPr/>
        </p:nvPicPr>
        <p:blipFill>
          <a:blip r:embed="rId2"/>
          <a:stretch>
            <a:fillRect/>
          </a:stretch>
        </p:blipFill>
        <p:spPr>
          <a:xfrm>
            <a:off x="548640" y="1691640"/>
            <a:ext cx="6949440" cy="2843220"/>
          </a:xfrm>
          <a:prstGeom prst="rect">
            <a:avLst/>
          </a:prstGeom>
        </p:spPr>
      </p:pic>
      <p:sp>
        <p:nvSpPr>
          <p:cNvPr id="6" name="TextBox 5"/>
          <p:cNvSpPr txBox="1"/>
          <p:nvPr/>
        </p:nvSpPr>
        <p:spPr>
          <a:xfrm>
            <a:off x="7726679" y="1691640"/>
            <a:ext cx="393192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WHAT THE MODEL TREATS AS DANGEROUS</a:t>
            </a:r>
          </a:p>
        </p:txBody>
      </p:sp>
      <p:sp>
        <p:nvSpPr>
          <p:cNvPr id="7" name="TextBox 6"/>
          <p:cNvSpPr txBox="1"/>
          <p:nvPr/>
        </p:nvSpPr>
        <p:spPr>
          <a:xfrm>
            <a:off x="7726679" y="2057400"/>
            <a:ext cx="3931920" cy="4023360"/>
          </a:xfrm>
          <a:prstGeom prst="rect">
            <a:avLst/>
          </a:prstGeom>
          <a:noFill/>
        </p:spPr>
        <p:txBody>
          <a:bodyPr wrap="square" lIns="0" rIns="0" tIns="0" bIns="0">
            <a:spAutoFit/>
          </a:bodyPr>
          <a:lstStyle/>
          <a:p>
            <a:pPr marL="256032" indent="-256032">
              <a:lnSpc>
                <a:spcPct val="110000"/>
              </a:lnSpc>
              <a:spcAft>
                <a:spcPts val="1200"/>
              </a:spcAft>
              <a:buClr>
                <a:srgbClr val="C0392B"/>
              </a:buClr>
              <a:buFont typeface="Arial"/>
              <a:buChar char="■"/>
            </a:pPr>
            <a:r>
              <a:rPr sz="1500" b="1" i="0">
                <a:solidFill>
                  <a:srgbClr val="1F2937"/>
                </a:solidFill>
                <a:latin typeface="Calibri"/>
              </a:rPr>
              <a:t>Top phishing words:</a:t>
            </a:r>
            <a:r>
              <a:rPr sz="1500" b="0" i="0">
                <a:solidFill>
                  <a:srgbClr val="1F2937"/>
                </a:solidFill>
                <a:latin typeface="Calibri"/>
              </a:rPr>
              <a:t> </a:t>
            </a:r>
            <a:r>
              <a:rPr sz="1500" b="0" i="1">
                <a:solidFill>
                  <a:srgbClr val="1F2937"/>
                </a:solidFill>
                <a:latin typeface="Calibri"/>
              </a:rPr>
              <a:t>remove</a:t>
            </a:r>
            <a:r>
              <a:rPr sz="1500" b="0" i="0">
                <a:solidFill>
                  <a:srgbClr val="1F2937"/>
                </a:solidFill>
                <a:latin typeface="Calibri"/>
              </a:rPr>
              <a:t>, </a:t>
            </a:r>
            <a:r>
              <a:rPr sz="1500" b="0" i="1">
                <a:solidFill>
                  <a:srgbClr val="1F2937"/>
                </a:solidFill>
                <a:latin typeface="Calibri"/>
              </a:rPr>
              <a:t>click</a:t>
            </a:r>
            <a:r>
              <a:rPr sz="1500" b="0" i="0">
                <a:solidFill>
                  <a:srgbClr val="1F2937"/>
                </a:solidFill>
                <a:latin typeface="Calibri"/>
              </a:rPr>
              <a:t>, </a:t>
            </a:r>
            <a:r>
              <a:rPr sz="1500" b="0" i="1">
                <a:solidFill>
                  <a:srgbClr val="1F2937"/>
                </a:solidFill>
                <a:latin typeface="Calibri"/>
              </a:rPr>
              <a:t>http</a:t>
            </a:r>
            <a:r>
              <a:rPr sz="1500" b="0" i="0">
                <a:solidFill>
                  <a:srgbClr val="1F2937"/>
                </a:solidFill>
                <a:latin typeface="Calibri"/>
              </a:rPr>
              <a:t>, </a:t>
            </a:r>
            <a:r>
              <a:rPr sz="1500" b="0" i="1">
                <a:solidFill>
                  <a:srgbClr val="1F2937"/>
                </a:solidFill>
                <a:latin typeface="Calibri"/>
              </a:rPr>
              <a:t>site</a:t>
            </a:r>
            <a:r>
              <a:rPr sz="1500" b="0" i="0">
                <a:solidFill>
                  <a:srgbClr val="1F2937"/>
                </a:solidFill>
                <a:latin typeface="Calibri"/>
              </a:rPr>
              <a:t>: links and calls to act.</a:t>
            </a:r>
          </a:p>
          <a:p>
            <a:pPr marL="256032" indent="-256032">
              <a:lnSpc>
                <a:spcPct val="110000"/>
              </a:lnSpc>
              <a:spcAft>
                <a:spcPts val="1200"/>
              </a:spcAft>
              <a:buClr>
                <a:srgbClr val="C0392B"/>
              </a:buClr>
              <a:buFont typeface="Arial"/>
              <a:buChar char="■"/>
            </a:pPr>
            <a:r>
              <a:rPr sz="1500" b="1" i="0">
                <a:solidFill>
                  <a:srgbClr val="1F2937"/>
                </a:solidFill>
                <a:latin typeface="Calibri"/>
              </a:rPr>
              <a:t>Exclamation marks</a:t>
            </a:r>
            <a:r>
              <a:rPr sz="1500" b="0" i="0">
                <a:solidFill>
                  <a:srgbClr val="1F2937"/>
                </a:solidFill>
                <a:latin typeface="Calibri"/>
              </a:rPr>
              <a:t> and </a:t>
            </a:r>
            <a:r>
              <a:rPr sz="1500" b="1" i="0">
                <a:solidFill>
                  <a:srgbClr val="1F2937"/>
                </a:solidFill>
                <a:latin typeface="Calibri"/>
              </a:rPr>
              <a:t>money terms</a:t>
            </a:r>
            <a:r>
              <a:rPr sz="1500" b="0" i="0">
                <a:solidFill>
                  <a:srgbClr val="1F2937"/>
                </a:solidFill>
                <a:latin typeface="Calibri"/>
              </a:rPr>
              <a:t> also push toward phishing.</a:t>
            </a:r>
          </a:p>
          <a:p>
            <a:pPr marL="256032" indent="-256032">
              <a:lnSpc>
                <a:spcPct val="110000"/>
              </a:lnSpc>
              <a:spcAft>
                <a:spcPts val="1200"/>
              </a:spcAft>
              <a:buClr>
                <a:srgbClr val="C0392B"/>
              </a:buClr>
              <a:buFont typeface="Arial"/>
              <a:buChar char="■"/>
            </a:pPr>
            <a:r>
              <a:rPr sz="1500" b="1" i="0">
                <a:solidFill>
                  <a:srgbClr val="1F2937"/>
                </a:solidFill>
                <a:latin typeface="Calibri"/>
              </a:rPr>
              <a:t>Caveat:</a:t>
            </a:r>
            <a:r>
              <a:rPr sz="1500" b="0" i="0">
                <a:solidFill>
                  <a:srgbClr val="1F2937"/>
                </a:solidFill>
                <a:latin typeface="Calibri"/>
              </a:rPr>
              <a:t> names and places (</a:t>
            </a:r>
            <a:r>
              <a:rPr sz="1500" b="0" i="1">
                <a:solidFill>
                  <a:srgbClr val="1F2937"/>
                </a:solidFill>
                <a:latin typeface="Calibri"/>
              </a:rPr>
              <a:t>vince</a:t>
            </a:r>
            <a:r>
              <a:rPr sz="1500" b="0" i="0">
                <a:solidFill>
                  <a:srgbClr val="1F2937"/>
                </a:solidFill>
                <a:latin typeface="Calibri"/>
              </a:rPr>
              <a:t>, </a:t>
            </a:r>
            <a:r>
              <a:rPr sz="1500" b="0" i="1">
                <a:solidFill>
                  <a:srgbClr val="1F2937"/>
                </a:solidFill>
                <a:latin typeface="Calibri"/>
              </a:rPr>
              <a:t>houston</a:t>
            </a:r>
            <a:r>
              <a:rPr sz="1500" b="0" i="0">
                <a:solidFill>
                  <a:srgbClr val="1F2937"/>
                </a:solidFill>
                <a:latin typeface="Calibri"/>
              </a:rPr>
              <a:t>) mark the safe archive, so accuracy holds for this dataset only.</a:t>
            </a:r>
          </a:p>
        </p:txBody>
      </p:sp>
      <p:cxnSp>
        <p:nvCxnSpPr>
          <p:cNvPr id="8" name="Connector 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author's analysis; weights from the logistic regression.</a:t>
            </a:r>
          </a:p>
        </p:txBody>
      </p:sp>
      <p:sp>
        <p:nvSpPr>
          <p:cNvPr id="10" name="TextBox 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SECURITY DEMO</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Demo: email safety scores for five emails I wrote</a:t>
            </a:r>
          </a:p>
        </p:txBody>
      </p:sp>
      <p:pic>
        <p:nvPicPr>
          <p:cNvPr id="5" name="Picture 4" descr="image.png"/>
          <p:cNvPicPr>
            <a:picLocks noChangeAspect="1"/>
          </p:cNvPicPr>
          <p:nvPr/>
        </p:nvPicPr>
        <p:blipFill>
          <a:blip r:embed="rId2"/>
          <a:stretch>
            <a:fillRect/>
          </a:stretch>
        </p:blipFill>
        <p:spPr>
          <a:xfrm>
            <a:off x="548640" y="1554480"/>
            <a:ext cx="7315200" cy="2549912"/>
          </a:xfrm>
          <a:prstGeom prst="rect">
            <a:avLst/>
          </a:prstGeom>
        </p:spPr>
      </p:pic>
      <p:sp>
        <p:nvSpPr>
          <p:cNvPr id="6" name="TextBox 5"/>
          <p:cNvSpPr txBox="1"/>
          <p:nvPr/>
        </p:nvSpPr>
        <p:spPr>
          <a:xfrm>
            <a:off x="8183879" y="1691640"/>
            <a:ext cx="347472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SCORE = 100 × P(SAFE)</a:t>
            </a:r>
          </a:p>
        </p:txBody>
      </p:sp>
      <p:sp>
        <p:nvSpPr>
          <p:cNvPr id="7" name="TextBox 6"/>
          <p:cNvSpPr txBox="1"/>
          <p:nvPr/>
        </p:nvSpPr>
        <p:spPr>
          <a:xfrm>
            <a:off x="8183879" y="2057400"/>
            <a:ext cx="3474720" cy="1828800"/>
          </a:xfrm>
          <a:prstGeom prst="rect">
            <a:avLst/>
          </a:prstGeom>
          <a:noFill/>
        </p:spPr>
        <p:txBody>
          <a:bodyPr wrap="square" lIns="0" rIns="0" tIns="0" bIns="0">
            <a:spAutoFit/>
          </a:bodyPr>
          <a:lstStyle/>
          <a:p>
            <a:pPr marL="256032" indent="-256032">
              <a:lnSpc>
                <a:spcPct val="110000"/>
              </a:lnSpc>
              <a:spcAft>
                <a:spcPts val="600"/>
              </a:spcAft>
              <a:buClr>
                <a:srgbClr val="1F5FAD"/>
              </a:buClr>
              <a:buFont typeface="Arial"/>
              <a:buChar char="■"/>
            </a:pPr>
            <a:r>
              <a:rPr sz="1500" b="1" i="0">
                <a:solidFill>
                  <a:srgbClr val="1F2937"/>
                </a:solidFill>
                <a:latin typeface="Calibri"/>
              </a:rPr>
              <a:t>70–100</a:t>
            </a:r>
            <a:r>
              <a:rPr sz="1500" b="0" i="0">
                <a:solidFill>
                  <a:srgbClr val="1F2937"/>
                </a:solidFill>
                <a:latin typeface="Calibri"/>
              </a:rPr>
              <a:t> safe</a:t>
            </a:r>
          </a:p>
          <a:p>
            <a:pPr marL="256032" indent="-256032">
              <a:lnSpc>
                <a:spcPct val="110000"/>
              </a:lnSpc>
              <a:spcAft>
                <a:spcPts val="600"/>
              </a:spcAft>
              <a:buClr>
                <a:srgbClr val="1F5FAD"/>
              </a:buClr>
              <a:buFont typeface="Arial"/>
              <a:buChar char="■"/>
            </a:pPr>
            <a:r>
              <a:rPr sz="1500" b="1" i="0">
                <a:solidFill>
                  <a:srgbClr val="1F2937"/>
                </a:solidFill>
                <a:latin typeface="Calibri"/>
              </a:rPr>
              <a:t>40–69</a:t>
            </a:r>
            <a:r>
              <a:rPr sz="1500" b="0" i="0">
                <a:solidFill>
                  <a:srgbClr val="1F2937"/>
                </a:solidFill>
                <a:latin typeface="Calibri"/>
              </a:rPr>
              <a:t> be careful</a:t>
            </a:r>
          </a:p>
          <a:p>
            <a:pPr marL="256032" indent="-256032">
              <a:lnSpc>
                <a:spcPct val="110000"/>
              </a:lnSpc>
              <a:spcAft>
                <a:spcPts val="600"/>
              </a:spcAft>
              <a:buClr>
                <a:srgbClr val="1F5FAD"/>
              </a:buClr>
              <a:buFont typeface="Arial"/>
              <a:buChar char="■"/>
            </a:pPr>
            <a:r>
              <a:rPr sz="1500" b="1" i="0">
                <a:solidFill>
                  <a:srgbClr val="1F2937"/>
                </a:solidFill>
                <a:latin typeface="Calibri"/>
              </a:rPr>
              <a:t>0–39</a:t>
            </a:r>
            <a:r>
              <a:rPr sz="1500" b="0" i="0">
                <a:solidFill>
                  <a:srgbClr val="1F2937"/>
                </a:solidFill>
                <a:latin typeface="Calibri"/>
              </a:rPr>
              <a:t> likely phishing</a:t>
            </a:r>
          </a:p>
        </p:txBody>
      </p:sp>
      <p:sp>
        <p:nvSpPr>
          <p:cNvPr id="8" name="TextBox 7"/>
          <p:cNvSpPr txBox="1"/>
          <p:nvPr/>
        </p:nvSpPr>
        <p:spPr>
          <a:xfrm>
            <a:off x="8183879" y="3520440"/>
            <a:ext cx="3474720" cy="2560320"/>
          </a:xfrm>
          <a:prstGeom prst="rect">
            <a:avLst/>
          </a:prstGeom>
          <a:noFill/>
        </p:spPr>
        <p:txBody>
          <a:bodyPr wrap="square" lIns="0" rIns="0" tIns="0" bIns="0" anchor="t">
            <a:spAutoFit/>
          </a:bodyPr>
          <a:lstStyle/>
          <a:p>
            <a:pPr algn="l">
              <a:lnSpc>
                <a:spcPct val="110000"/>
              </a:lnSpc>
              <a:spcAft>
                <a:spcPts val="600"/>
              </a:spcAft>
            </a:pPr>
            <a:r>
              <a:rPr sz="1400" b="0" i="0">
                <a:solidFill>
                  <a:srgbClr val="1F2937"/>
                </a:solidFill>
                <a:latin typeface="Calibri"/>
              </a:rPr>
              <a:t>All 5 verdicts matched my own label. The CEO-style </a:t>
            </a:r>
            <a:r>
              <a:rPr sz="1400" b="0" i="1">
                <a:solidFill>
                  <a:srgbClr val="1F2937"/>
                </a:solidFill>
                <a:latin typeface="Calibri"/>
              </a:rPr>
              <a:t>Quick favour</a:t>
            </a:r>
            <a:r>
              <a:rPr sz="1400" b="0" i="0">
                <a:solidFill>
                  <a:srgbClr val="1F2937"/>
                </a:solidFill>
                <a:latin typeface="Calibri"/>
              </a:rPr>
              <a:t> email has no link, yet scored </a:t>
            </a:r>
            <a:r>
              <a:rPr sz="1400" b="1" i="0">
                <a:solidFill>
                  <a:srgbClr val="1F2937"/>
                </a:solidFill>
                <a:latin typeface="Calibri"/>
              </a:rPr>
              <a:t>21</a:t>
            </a:r>
            <a:r>
              <a:rPr sz="1400" b="0" i="0">
                <a:solidFill>
                  <a:srgbClr val="1F2937"/>
                </a:solidFill>
                <a:latin typeface="Calibri"/>
              </a:rPr>
              <a:t>; top signals: length, account, bank, hi.</a:t>
            </a:r>
          </a:p>
        </p:txBody>
      </p:sp>
      <p:cxnSp>
        <p:nvCxnSpPr>
          <p:cNvPr id="9" name="Connector 8"/>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author's analysis; demo emails written for this test, not taken from the dataset.</a:t>
            </a:r>
          </a:p>
        </p:txBody>
      </p:sp>
      <p:sp>
        <p:nvSpPr>
          <p:cNvPr id="11" name="TextBox 10"/>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CURRENT TREND · MITIGATION</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Trend: AI-written phishing, and how to defend against it</a:t>
            </a:r>
          </a:p>
        </p:txBody>
      </p:sp>
      <p:sp>
        <p:nvSpPr>
          <p:cNvPr id="5" name="Rounded Rectangle 4"/>
          <p:cNvSpPr/>
          <p:nvPr/>
        </p:nvSpPr>
        <p:spPr>
          <a:xfrm>
            <a:off x="548640" y="1691640"/>
            <a:ext cx="5486400" cy="32918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74519"/>
            <a:ext cx="493776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TREND: GENERATIVE AI IN PHISHING</a:t>
            </a:r>
          </a:p>
        </p:txBody>
      </p:sp>
      <p:sp>
        <p:nvSpPr>
          <p:cNvPr id="7" name="TextBox 6"/>
          <p:cNvSpPr txBox="1"/>
          <p:nvPr/>
        </p:nvSpPr>
        <p:spPr>
          <a:xfrm>
            <a:off x="822959" y="2240280"/>
            <a:ext cx="4937760" cy="3566160"/>
          </a:xfrm>
          <a:prstGeom prst="rect">
            <a:avLst/>
          </a:prstGeom>
          <a:noFill/>
        </p:spPr>
        <p:txBody>
          <a:bodyPr wrap="square" lIns="0" rIns="0" tIns="0" bIns="0" anchor="t">
            <a:spAutoFit/>
          </a:bodyPr>
          <a:lstStyle/>
          <a:p>
            <a:pPr algn="l">
              <a:lnSpc>
                <a:spcPct val="110000"/>
              </a:lnSpc>
              <a:spcAft>
                <a:spcPts val="1200"/>
              </a:spcAft>
            </a:pPr>
            <a:r>
              <a:rPr sz="1550" b="0" i="0">
                <a:solidFill>
                  <a:srgbClr val="1F2937"/>
                </a:solidFill>
                <a:latin typeface="Calibri"/>
              </a:rPr>
              <a:t>In 2025, </a:t>
            </a:r>
            <a:r>
              <a:rPr sz="1550" b="1" i="0">
                <a:solidFill>
                  <a:srgbClr val="1F2937"/>
                </a:solidFill>
                <a:latin typeface="Calibri"/>
              </a:rPr>
              <a:t>22,364</a:t>
            </a:r>
            <a:r>
              <a:rPr sz="1550" b="0" i="0">
                <a:solidFill>
                  <a:srgbClr val="1F2937"/>
                </a:solidFill>
                <a:latin typeface="Calibri"/>
              </a:rPr>
              <a:t> complaints to the FBI mentioned AI, with </a:t>
            </a:r>
            <a:r>
              <a:rPr sz="1550" b="1" i="0">
                <a:solidFill>
                  <a:srgbClr val="1F2937"/>
                </a:solidFill>
                <a:latin typeface="Calibri"/>
              </a:rPr>
              <a:t>$893 million</a:t>
            </a:r>
            <a:r>
              <a:rPr sz="1550" b="0" i="0">
                <a:solidFill>
                  <a:srgbClr val="1F2937"/>
                </a:solidFill>
                <a:latin typeface="Calibri"/>
              </a:rPr>
              <a:t> in losses.</a:t>
            </a:r>
          </a:p>
          <a:p>
            <a:pPr algn="l">
              <a:lnSpc>
                <a:spcPct val="110000"/>
              </a:lnSpc>
              <a:spcAft>
                <a:spcPts val="1200"/>
              </a:spcAft>
            </a:pPr>
            <a:r>
              <a:rPr sz="1550" b="0" i="0">
                <a:solidFill>
                  <a:srgbClr val="1F2937"/>
                </a:solidFill>
                <a:latin typeface="Calibri"/>
              </a:rPr>
              <a:t>Chat generators “can quickly create official-sounding emails mimicking a company’s CEO” (FBI, 2026, p. 39); BEC scams involving AI cost businesses </a:t>
            </a:r>
            <a:r>
              <a:rPr sz="1550" b="1" i="0">
                <a:solidFill>
                  <a:srgbClr val="1F2937"/>
                </a:solidFill>
                <a:latin typeface="Calibri"/>
              </a:rPr>
              <a:t>over $30 million</a:t>
            </a:r>
            <a:r>
              <a:rPr sz="1550" b="0" i="0">
                <a:solidFill>
                  <a:srgbClr val="1F2937"/>
                </a:solidFill>
                <a:latin typeface="Calibri"/>
              </a:rPr>
              <a:t>.</a:t>
            </a:r>
          </a:p>
          <a:p>
            <a:pPr algn="l">
              <a:lnSpc>
                <a:spcPct val="110000"/>
              </a:lnSpc>
              <a:spcAft>
                <a:spcPts val="1200"/>
              </a:spcAft>
            </a:pPr>
            <a:r>
              <a:rPr sz="1550" b="0" i="0">
                <a:solidFill>
                  <a:srgbClr val="1F2937"/>
                </a:solidFill>
                <a:latin typeface="Calibri"/>
              </a:rPr>
              <a:t>The tell-tale spelling mistakes disappear.</a:t>
            </a:r>
          </a:p>
        </p:txBody>
      </p:sp>
      <p:sp>
        <p:nvSpPr>
          <p:cNvPr id="8" name="TextBox 7"/>
          <p:cNvSpPr txBox="1"/>
          <p:nvPr/>
        </p:nvSpPr>
        <p:spPr>
          <a:xfrm>
            <a:off x="6400800" y="1737360"/>
            <a:ext cx="52578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HOW TO MITIGATE IT</a:t>
            </a:r>
          </a:p>
        </p:txBody>
      </p:sp>
      <p:sp>
        <p:nvSpPr>
          <p:cNvPr id="9" name="TextBox 8"/>
          <p:cNvSpPr txBox="1"/>
          <p:nvPr/>
        </p:nvSpPr>
        <p:spPr>
          <a:xfrm>
            <a:off x="6400800" y="2103120"/>
            <a:ext cx="5257800" cy="3840480"/>
          </a:xfrm>
          <a:prstGeom prst="rect">
            <a:avLst/>
          </a:prstGeom>
          <a:noFill/>
        </p:spPr>
        <p:txBody>
          <a:bodyPr wrap="square" lIns="0" rIns="0" tIns="0" bIns="0">
            <a:spAutoFit/>
          </a:bodyPr>
          <a:lstStyle/>
          <a:p>
            <a:pPr marL="256032" indent="-256032">
              <a:lnSpc>
                <a:spcPct val="110000"/>
              </a:lnSpc>
              <a:spcAft>
                <a:spcPts val="1100"/>
              </a:spcAft>
              <a:buClr>
                <a:srgbClr val="1E846F"/>
              </a:buClr>
              <a:buFont typeface="Arial"/>
              <a:buChar char="■"/>
            </a:pPr>
            <a:r>
              <a:rPr sz="1500" b="1" i="0">
                <a:solidFill>
                  <a:srgbClr val="1F2937"/>
                </a:solidFill>
                <a:latin typeface="Calibri"/>
              </a:rPr>
              <a:t>Score wording, not spelling:</a:t>
            </a:r>
            <a:r>
              <a:rPr sz="1500" b="0" i="0">
                <a:solidFill>
                  <a:srgbClr val="1F2937"/>
                </a:solidFill>
                <a:latin typeface="Calibri"/>
              </a:rPr>
              <a:t> the link-free </a:t>
            </a:r>
            <a:r>
              <a:rPr sz="1500" b="0" i="1">
                <a:solidFill>
                  <a:srgbClr val="1F2937"/>
                </a:solidFill>
                <a:latin typeface="Calibri"/>
              </a:rPr>
              <a:t>Quick favour</a:t>
            </a:r>
            <a:r>
              <a:rPr sz="1500" b="0" i="0">
                <a:solidFill>
                  <a:srgbClr val="1F2937"/>
                </a:solidFill>
                <a:latin typeface="Calibri"/>
              </a:rPr>
              <a:t> scam still scored 21 from words such as </a:t>
            </a:r>
            <a:r>
              <a:rPr sz="1500" b="0" i="1">
                <a:solidFill>
                  <a:srgbClr val="1F2937"/>
                </a:solidFill>
                <a:latin typeface="Calibri"/>
              </a:rPr>
              <a:t>account</a:t>
            </a:r>
            <a:r>
              <a:rPr sz="1500" b="0" i="0">
                <a:solidFill>
                  <a:srgbClr val="1F2937"/>
                </a:solidFill>
                <a:latin typeface="Calibri"/>
              </a:rPr>
              <a:t> and </a:t>
            </a:r>
            <a:r>
              <a:rPr sz="1500" b="0" i="1">
                <a:solidFill>
                  <a:srgbClr val="1F2937"/>
                </a:solidFill>
                <a:latin typeface="Calibri"/>
              </a:rPr>
              <a:t>bank</a:t>
            </a:r>
            <a:r>
              <a:rPr sz="1500" b="0" i="0">
                <a:solidFill>
                  <a:srgbClr val="1F2937"/>
                </a:solidFill>
                <a:latin typeface="Calibri"/>
              </a:rPr>
              <a:t>.</a:t>
            </a:r>
          </a:p>
          <a:p>
            <a:pPr marL="256032" indent="-256032">
              <a:lnSpc>
                <a:spcPct val="110000"/>
              </a:lnSpc>
              <a:spcAft>
                <a:spcPts val="1100"/>
              </a:spcAft>
              <a:buClr>
                <a:srgbClr val="1E846F"/>
              </a:buClr>
              <a:buFont typeface="Arial"/>
              <a:buChar char="■"/>
            </a:pPr>
            <a:r>
              <a:rPr sz="1500" b="1" i="0">
                <a:solidFill>
                  <a:srgbClr val="1F2937"/>
                </a:solidFill>
                <a:latin typeface="Calibri"/>
              </a:rPr>
              <a:t>Add anomaly detection</a:t>
            </a:r>
            <a:r>
              <a:rPr sz="1500" b="0" i="0">
                <a:solidFill>
                  <a:srgbClr val="1F2937"/>
                </a:solidFill>
                <a:latin typeface="Calibri"/>
              </a:rPr>
              <a:t> (Chapter 5): hold first-time senders who ask for payment.</a:t>
            </a:r>
          </a:p>
          <a:p>
            <a:pPr marL="256032" indent="-256032">
              <a:lnSpc>
                <a:spcPct val="110000"/>
              </a:lnSpc>
              <a:spcAft>
                <a:spcPts val="1100"/>
              </a:spcAft>
              <a:buClr>
                <a:srgbClr val="1E846F"/>
              </a:buClr>
              <a:buFont typeface="Arial"/>
              <a:buChar char="■"/>
            </a:pPr>
            <a:r>
              <a:rPr sz="1500" b="1" i="0">
                <a:solidFill>
                  <a:srgbClr val="1F2937"/>
                </a:solidFill>
                <a:latin typeface="Calibri"/>
              </a:rPr>
              <a:t>Verify out of band:</a:t>
            </a:r>
            <a:r>
              <a:rPr sz="1500" b="0" i="0">
                <a:solidFill>
                  <a:srgbClr val="1F2937"/>
                </a:solidFill>
                <a:latin typeface="Calibri"/>
              </a:rPr>
              <a:t> confirm any money request by phone.</a:t>
            </a:r>
          </a:p>
          <a:p>
            <a:pPr marL="256032" indent="-256032">
              <a:lnSpc>
                <a:spcPct val="110000"/>
              </a:lnSpc>
              <a:spcAft>
                <a:spcPts val="1100"/>
              </a:spcAft>
              <a:buClr>
                <a:srgbClr val="1E846F"/>
              </a:buClr>
              <a:buFont typeface="Arial"/>
              <a:buChar char="■"/>
            </a:pPr>
            <a:r>
              <a:rPr sz="1500" b="1" i="0">
                <a:solidFill>
                  <a:srgbClr val="1F2937"/>
                </a:solidFill>
                <a:latin typeface="Calibri"/>
              </a:rPr>
              <a:t>Retrain regularly</a:t>
            </a:r>
            <a:r>
              <a:rPr sz="1500" b="0" i="0">
                <a:solidFill>
                  <a:srgbClr val="1F2937"/>
                </a:solidFill>
                <a:latin typeface="Calibri"/>
              </a:rPr>
              <a:t> on recent, AI-written phishing.</a:t>
            </a:r>
          </a:p>
        </p:txBody>
      </p:sp>
      <p:cxnSp>
        <p:nvCxnSpPr>
          <p:cNvPr id="10" name="Connector 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FBI (2026); Parisi (2019, Ch. 5).</a:t>
            </a:r>
          </a:p>
        </p:txBody>
      </p:sp>
      <p:sp>
        <p:nvSpPr>
          <p:cNvPr id="12" name="TextBox 1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REPORT · WHAT I LEARNED</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Security report and reflection</a:t>
            </a:r>
          </a:p>
        </p:txBody>
      </p:sp>
      <p:sp>
        <p:nvSpPr>
          <p:cNvPr id="5" name="TextBox 4"/>
          <p:cNvSpPr txBox="1"/>
          <p:nvPr/>
        </p:nvSpPr>
        <p:spPr>
          <a:xfrm>
            <a:off x="548640" y="1691640"/>
            <a:ext cx="3108960" cy="822960"/>
          </a:xfrm>
          <a:prstGeom prst="rect">
            <a:avLst/>
          </a:prstGeom>
          <a:noFill/>
        </p:spPr>
        <p:txBody>
          <a:bodyPr wrap="square" lIns="0" rIns="0" tIns="0" bIns="0" anchor="t">
            <a:spAutoFit/>
          </a:bodyPr>
          <a:lstStyle/>
          <a:p>
            <a:pPr algn="l">
              <a:lnSpc>
                <a:spcPct val="110000"/>
              </a:lnSpc>
              <a:spcAft>
                <a:spcPts val="0"/>
              </a:spcAft>
            </a:pPr>
            <a:r>
              <a:rPr sz="1500" b="1" i="0">
                <a:solidFill>
                  <a:srgbClr val="1F5FAD"/>
                </a:solidFill>
                <a:latin typeface="Calibri"/>
              </a:rPr>
              <a:t>How accurate is it?</a:t>
            </a:r>
          </a:p>
        </p:txBody>
      </p:sp>
      <p:sp>
        <p:nvSpPr>
          <p:cNvPr id="6" name="TextBox 5"/>
          <p:cNvSpPr txBox="1"/>
          <p:nvPr/>
        </p:nvSpPr>
        <p:spPr>
          <a:xfrm>
            <a:off x="3749039" y="1691640"/>
            <a:ext cx="7863840" cy="822960"/>
          </a:xfrm>
          <a:prstGeom prst="rect">
            <a:avLst/>
          </a:prstGeom>
          <a:noFill/>
        </p:spPr>
        <p:txBody>
          <a:bodyPr wrap="square" lIns="0" rIns="0" tIns="0" bIns="0" anchor="t">
            <a:spAutoFit/>
          </a:bodyPr>
          <a:lstStyle/>
          <a:p>
            <a:pPr algn="l">
              <a:lnSpc>
                <a:spcPct val="110000"/>
              </a:lnSpc>
              <a:spcAft>
                <a:spcPts val="0"/>
              </a:spcAft>
            </a:pPr>
            <a:r>
              <a:rPr sz="1500" b="0" i="0">
                <a:solidFill>
                  <a:srgbClr val="1F2937"/>
                </a:solidFill>
                <a:latin typeface="Calibri"/>
              </a:rPr>
              <a:t>98.8% on unseen emails from this dataset: 98.1% of phishing caught, 17 false alarms in 2,195 safe emails.</a:t>
            </a:r>
          </a:p>
        </p:txBody>
      </p:sp>
      <p:cxnSp>
        <p:nvCxnSpPr>
          <p:cNvPr id="7" name="Connector 6"/>
          <p:cNvCxnSpPr/>
          <p:nvPr/>
        </p:nvCxnSpPr>
        <p:spPr>
          <a:xfrm>
            <a:off x="548640" y="2532888"/>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2651760"/>
            <a:ext cx="3108960" cy="822960"/>
          </a:xfrm>
          <a:prstGeom prst="rect">
            <a:avLst/>
          </a:prstGeom>
          <a:noFill/>
        </p:spPr>
        <p:txBody>
          <a:bodyPr wrap="square" lIns="0" rIns="0" tIns="0" bIns="0" anchor="t">
            <a:spAutoFit/>
          </a:bodyPr>
          <a:lstStyle/>
          <a:p>
            <a:pPr algn="l">
              <a:lnSpc>
                <a:spcPct val="110000"/>
              </a:lnSpc>
              <a:spcAft>
                <a:spcPts val="0"/>
              </a:spcAft>
            </a:pPr>
            <a:r>
              <a:rPr sz="1500" b="1" i="0">
                <a:solidFill>
                  <a:srgbClr val="1F5FAD"/>
                </a:solidFill>
                <a:latin typeface="Calibri"/>
              </a:rPr>
              <a:t>What looks most dangerous?</a:t>
            </a:r>
          </a:p>
        </p:txBody>
      </p:sp>
      <p:sp>
        <p:nvSpPr>
          <p:cNvPr id="9" name="TextBox 8"/>
          <p:cNvSpPr txBox="1"/>
          <p:nvPr/>
        </p:nvSpPr>
        <p:spPr>
          <a:xfrm>
            <a:off x="3749039" y="2651760"/>
            <a:ext cx="7863840" cy="822960"/>
          </a:xfrm>
          <a:prstGeom prst="rect">
            <a:avLst/>
          </a:prstGeom>
          <a:noFill/>
        </p:spPr>
        <p:txBody>
          <a:bodyPr wrap="square" lIns="0" rIns="0" tIns="0" bIns="0" anchor="t">
            <a:spAutoFit/>
          </a:bodyPr>
          <a:lstStyle/>
          <a:p>
            <a:pPr algn="l">
              <a:lnSpc>
                <a:spcPct val="110000"/>
              </a:lnSpc>
              <a:spcAft>
                <a:spcPts val="0"/>
              </a:spcAft>
            </a:pPr>
            <a:r>
              <a:rPr sz="1500" b="0" i="0">
                <a:solidFill>
                  <a:srgbClr val="1F2937"/>
                </a:solidFill>
                <a:latin typeface="Calibri"/>
              </a:rPr>
              <a:t>Words such as remove, click, http and money, plus exclamation marks; phishing also asked for passwords or card numbers 2.0× as often.</a:t>
            </a:r>
          </a:p>
        </p:txBody>
      </p:sp>
      <p:cxnSp>
        <p:nvCxnSpPr>
          <p:cNvPr id="10" name="Connector 9"/>
          <p:cNvCxnSpPr/>
          <p:nvPr/>
        </p:nvCxnSpPr>
        <p:spPr>
          <a:xfrm>
            <a:off x="548640" y="3493008"/>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611880"/>
            <a:ext cx="3108960" cy="822960"/>
          </a:xfrm>
          <a:prstGeom prst="rect">
            <a:avLst/>
          </a:prstGeom>
          <a:noFill/>
        </p:spPr>
        <p:txBody>
          <a:bodyPr wrap="square" lIns="0" rIns="0" tIns="0" bIns="0" anchor="t">
            <a:spAutoFit/>
          </a:bodyPr>
          <a:lstStyle/>
          <a:p>
            <a:pPr algn="l">
              <a:lnSpc>
                <a:spcPct val="110000"/>
              </a:lnSpc>
              <a:spcAft>
                <a:spcPts val="0"/>
              </a:spcAft>
            </a:pPr>
            <a:r>
              <a:rPr sz="1500" b="1" i="0">
                <a:solidFill>
                  <a:srgbClr val="1F5FAD"/>
                </a:solidFill>
                <a:latin typeface="Calibri"/>
              </a:rPr>
              <a:t>How could it protect my family?</a:t>
            </a:r>
          </a:p>
        </p:txBody>
      </p:sp>
      <p:sp>
        <p:nvSpPr>
          <p:cNvPr id="12" name="TextBox 11"/>
          <p:cNvSpPr txBox="1"/>
          <p:nvPr/>
        </p:nvSpPr>
        <p:spPr>
          <a:xfrm>
            <a:off x="3749039" y="3611880"/>
            <a:ext cx="7863840" cy="822960"/>
          </a:xfrm>
          <a:prstGeom prst="rect">
            <a:avLst/>
          </a:prstGeom>
          <a:noFill/>
        </p:spPr>
        <p:txBody>
          <a:bodyPr wrap="square" lIns="0" rIns="0" tIns="0" bIns="0" anchor="t">
            <a:spAutoFit/>
          </a:bodyPr>
          <a:lstStyle/>
          <a:p>
            <a:pPr algn="l">
              <a:lnSpc>
                <a:spcPct val="110000"/>
              </a:lnSpc>
              <a:spcAft>
                <a:spcPts val="0"/>
              </a:spcAft>
            </a:pPr>
            <a:r>
              <a:rPr sz="1500" b="0" i="0">
                <a:solidFill>
                  <a:srgbClr val="1F2937"/>
                </a:solidFill>
                <a:latin typeface="Calibri"/>
              </a:rPr>
              <a:t>Score every email in the inbox and warn before anyone clicks or pays, especially on account-suspension and gift-card scams.</a:t>
            </a:r>
          </a:p>
        </p:txBody>
      </p:sp>
      <p:cxnSp>
        <p:nvCxnSpPr>
          <p:cNvPr id="13" name="Connector 12"/>
          <p:cNvCxnSpPr/>
          <p:nvPr/>
        </p:nvCxnSpPr>
        <p:spPr>
          <a:xfrm>
            <a:off x="548640" y="4453128"/>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4663440"/>
            <a:ext cx="11109960" cy="146304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4800600"/>
            <a:ext cx="10607040" cy="1280160"/>
          </a:xfrm>
          <a:prstGeom prst="rect">
            <a:avLst/>
          </a:prstGeom>
          <a:noFill/>
        </p:spPr>
        <p:txBody>
          <a:bodyPr wrap="square" lIns="0" rIns="0" tIns="0" bIns="0" anchor="t">
            <a:spAutoFit/>
          </a:bodyPr>
          <a:lstStyle/>
          <a:p>
            <a:pPr algn="l">
              <a:lnSpc>
                <a:spcPct val="110000"/>
              </a:lnSpc>
              <a:spcAft>
                <a:spcPts val="600"/>
              </a:spcAft>
            </a:pPr>
            <a:r>
              <a:rPr sz="1500" b="1" i="0">
                <a:solidFill>
                  <a:srgbClr val="1F2937"/>
                </a:solidFill>
                <a:latin typeface="Calibri"/>
              </a:rPr>
              <a:t>Reflection.</a:t>
            </a:r>
            <a:r>
              <a:rPr sz="1500" b="0" i="0">
                <a:solidFill>
                  <a:srgbClr val="1F2937"/>
                </a:solidFill>
                <a:latin typeface="Calibri"/>
              </a:rPr>
              <a:t> Modules 3 and 4 applied AI to traffic and transactions; here the same workflow worked on language. I want to build email defences that pair models like this with anomaly detection and plain warnings my family can act on.</a:t>
            </a:r>
          </a:p>
        </p:txBody>
      </p:sp>
      <p:cxnSp>
        <p:nvCxnSpPr>
          <p:cNvPr id="16" name="Connector 15"/>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Full security report (100–150 words) in the notebook's Security report section.</a:t>
            </a:r>
          </a:p>
        </p:txBody>
      </p:sp>
      <p:sp>
        <p:nvSpPr>
          <p:cNvPr id="18" name="TextBox 17"/>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APA 7TH EDITION</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References</a:t>
            </a:r>
          </a:p>
        </p:txBody>
      </p:sp>
      <p:sp>
        <p:nvSpPr>
          <p:cNvPr id="5" name="TextBox 4"/>
          <p:cNvSpPr txBox="1"/>
          <p:nvPr/>
        </p:nvSpPr>
        <p:spPr>
          <a:xfrm>
            <a:off x="548640" y="1645920"/>
            <a:ext cx="11094415" cy="3200400"/>
          </a:xfrm>
          <a:prstGeom prst="rect">
            <a:avLst/>
          </a:prstGeom>
          <a:noFill/>
        </p:spPr>
        <p:txBody>
          <a:bodyPr wrap="square" lIns="0" rIns="0" tIns="0" bIns="0" anchor="t">
            <a:spAutoFit/>
          </a:bodyPr>
          <a:lstStyle/>
          <a:p>
            <a:pPr algn="l" marL="411480" indent="-411480">
              <a:lnSpc>
                <a:spcPct val="105000"/>
              </a:lnSpc>
              <a:spcAft>
                <a:spcPts val="1200"/>
              </a:spcAft>
            </a:pPr>
            <a:r>
              <a:rPr sz="1400" b="0" i="0">
                <a:solidFill>
                  <a:srgbClr val="1F2937"/>
                </a:solidFill>
                <a:latin typeface="Calibri"/>
              </a:rPr>
              <a:t>Cyber Cop. (2023). </a:t>
            </a:r>
            <a:r>
              <a:rPr sz="1400" b="0" i="1">
                <a:solidFill>
                  <a:srgbClr val="1F2937"/>
                </a:solidFill>
                <a:latin typeface="Calibri"/>
              </a:rPr>
              <a:t>Phishing email detection</a:t>
            </a:r>
            <a:r>
              <a:rPr sz="1400" b="0" i="0">
                <a:solidFill>
                  <a:srgbClr val="1F2937"/>
                </a:solidFill>
                <a:latin typeface="Calibri"/>
              </a:rPr>
              <a:t> [Data set]. Kaggle. https://www.kaggle.com/datasets/subhajournal/phishingemails</a:t>
            </a:r>
          </a:p>
          <a:p>
            <a:pPr algn="l" marL="411480" indent="-411480">
              <a:lnSpc>
                <a:spcPct val="105000"/>
              </a:lnSpc>
              <a:spcAft>
                <a:spcPts val="1200"/>
              </a:spcAft>
            </a:pPr>
            <a:r>
              <a:rPr sz="1400" b="0" i="0">
                <a:solidFill>
                  <a:srgbClr val="1F2937"/>
                </a:solidFill>
                <a:latin typeface="Calibri"/>
              </a:rPr>
              <a:t>Federal Bureau of Investigation. (2026). </a:t>
            </a:r>
            <a:r>
              <a:rPr sz="1400" b="0" i="1">
                <a:solidFill>
                  <a:srgbClr val="1F2937"/>
                </a:solidFill>
                <a:latin typeface="Calibri"/>
              </a:rPr>
              <a:t>2025 IC3 annual report</a:t>
            </a:r>
            <a:r>
              <a:rPr sz="1400" b="0" i="0">
                <a:solidFill>
                  <a:srgbClr val="1F2937"/>
                </a:solidFill>
                <a:latin typeface="Calibri"/>
              </a:rPr>
              <a:t>. Internet Crime Complaint Center. https://www.ic3.gov/AnnualReport/Reports/2025_IC3Report.pdf</a:t>
            </a:r>
          </a:p>
          <a:p>
            <a:pPr algn="l" marL="411480" indent="-411480">
              <a:lnSpc>
                <a:spcPct val="105000"/>
              </a:lnSpc>
              <a:spcAft>
                <a:spcPts val="1200"/>
              </a:spcAft>
            </a:pPr>
            <a:r>
              <a:rPr sz="1400" b="0" i="0">
                <a:solidFill>
                  <a:srgbClr val="1F2937"/>
                </a:solidFill>
                <a:latin typeface="Calibri"/>
              </a:rPr>
              <a:t>Parisi, A. (2019). </a:t>
            </a:r>
            <a:r>
              <a:rPr sz="1400" b="0" i="1">
                <a:solidFill>
                  <a:srgbClr val="1F2937"/>
                </a:solidFill>
                <a:latin typeface="Calibri"/>
              </a:rPr>
              <a:t>Hands-on artificial intelligence for cybersecurity: Implement smart AI systems for preventing cyber attacks and detecting threats and network anomalies</a:t>
            </a:r>
            <a:r>
              <a:rPr sz="1400" b="0" i="0">
                <a:solidFill>
                  <a:srgbClr val="1F2937"/>
                </a:solidFill>
                <a:latin typeface="Calibri"/>
              </a:rPr>
              <a:t>. Packt Publishing.</a:t>
            </a:r>
          </a:p>
        </p:txBody>
      </p:sp>
      <p:sp>
        <p:nvSpPr>
          <p:cNvPr id="6" name="TextBox 5"/>
          <p:cNvSpPr txBox="1"/>
          <p:nvPr/>
        </p:nvSpPr>
        <p:spPr>
          <a:xfrm>
            <a:off x="548640" y="4754880"/>
            <a:ext cx="11094415" cy="822960"/>
          </a:xfrm>
          <a:prstGeom prst="rect">
            <a:avLst/>
          </a:prstGeom>
          <a:noFill/>
        </p:spPr>
        <p:txBody>
          <a:bodyPr wrap="square" lIns="0" rIns="0" tIns="0" bIns="0" anchor="t">
            <a:spAutoFit/>
          </a:bodyPr>
          <a:lstStyle/>
          <a:p>
            <a:pPr algn="l">
              <a:lnSpc>
                <a:spcPct val="110000"/>
              </a:lnSpc>
              <a:spcAft>
                <a:spcPts val="600"/>
              </a:spcAft>
            </a:pPr>
            <a:r>
              <a:rPr sz="1300" b="1" i="0">
                <a:solidFill>
                  <a:srgbClr val="5B6472"/>
                </a:solidFill>
                <a:latin typeface="Calibri"/>
              </a:rPr>
              <a:t>Notebook:</a:t>
            </a:r>
            <a:r>
              <a:rPr sz="1300" b="0" i="0">
                <a:solidFill>
                  <a:srgbClr val="5B6472"/>
                </a:solidFill>
                <a:latin typeface="Calibri"/>
              </a:rPr>
              <a:t> Ruthvik_Nath_Bandari_Phishing_Detective.ipynb (Google Colab) · https://colab.research.google.com/drive/1kLUIs3FJafw0vvu0TI55hswcTkTR9-u4?usp=sharing</a:t>
            </a:r>
          </a:p>
        </p:txBody>
      </p:sp>
      <p:cxnSp>
        <p:nvCxnSpPr>
          <p:cNvPr id="7" name="Connector 6"/>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Chapter citations: Parisi (2019), Chapter 3 “Ham or Spam?” and Chapter 5 “Network Anomaly Detection with AI.”</a:t>
            </a:r>
          </a:p>
        </p:txBody>
      </p:sp>
      <p:sp>
        <p:nvSpPr>
          <p:cNvPr id="9" name="TextBox 8"/>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