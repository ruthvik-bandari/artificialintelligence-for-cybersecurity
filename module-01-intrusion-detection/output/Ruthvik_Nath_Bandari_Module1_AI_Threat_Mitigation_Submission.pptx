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2025 DBIR shows why earlier detection matters: ransomware is common, costly, and still rising. This presentation asks whether network anomaly detection can reveal suspicious behavior before encryption begins. Sources: Verizon (2025) and IBM (2025).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especially severe for smaller organizations. The defensive opportunity appears before encryption, when command-and-control traffic and lateral movement may depart from a network's normal baseline. Sources: Verizon (2025), IBM (2025), and CISA et al. (2023).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CIC-IDS-2017 lab reproduced the Chapter 5 concept with a benign-only Gaussian Mixture Model. It detected loud, structural attacks almost perfectly, but attacks resembling ordinary sessions remained hard to separate. That limitation is why the model should support, not replace, other controls. Source: Parisi (2019) and module1_lab_ids_cicids2017.ipynb.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Thresholds translate model scores into operational consequences. A lower false-positive budget reduced alert burden and increased precision, but missed more than half of attack flows. Governance must document this tradeoff, monitor performance, and keep a person accountable for consequential actions. Sources: IBM (2025) and NIST (2023).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 changed how I think about security models. A strong aggregate score does not prove broad protection. In my future security engineering work, I want to pair measurable operating limits with human review so automation remains useful, explainable, and accountable.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03120"/>
            <a:ext cx="10911535" cy="1463040"/>
          </a:xfrm>
          <a:prstGeom prst="rect">
            <a:avLst/>
          </a:prstGeom>
          <a:noFill/>
        </p:spPr>
        <p:txBody>
          <a:bodyPr wrap="square" anchor="t" lIns="0" rIns="0" tIns="0" bIns="0">
            <a:spAutoFit/>
          </a:bodyPr>
          <a:lstStyle/>
          <a:p>
            <a:r>
              <a:rPr sz="4000" b="1">
                <a:solidFill>
                  <a:srgbClr val="FFFFFF"/>
                </a:solidFill>
                <a:latin typeface="Calibri"/>
              </a:rPr>
              <a:t>Detecting Ransomware Before Encryption: AI-Based Network Anomaly Detection</a:t>
            </a:r>
          </a:p>
        </p:txBody>
      </p:sp>
      <p:sp>
        <p:nvSpPr>
          <p:cNvPr id="4" name="Rectangle 3"/>
          <p:cNvSpPr/>
          <p:nvPr/>
        </p:nvSpPr>
        <p:spPr>
          <a:xfrm>
            <a:off x="640080" y="3611880"/>
            <a:ext cx="219456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794760"/>
            <a:ext cx="10911535" cy="731520"/>
          </a:xfrm>
          <a:prstGeom prst="rect">
            <a:avLst/>
          </a:prstGeom>
          <a:noFill/>
        </p:spPr>
        <p:txBody>
          <a:bodyPr wrap="square" anchor="t" lIns="0" rIns="0" tIns="0" bIns="0">
            <a:spAutoFit/>
          </a:bodyPr>
          <a:lstStyle/>
          <a:p>
            <a:r>
              <a:rPr sz="2000">
                <a:solidFill>
                  <a:srgbClr val="C9D6E6"/>
                </a:solidFill>
                <a:latin typeface="Calibri"/>
              </a:rPr>
              <a:t>Balancing Automated Detection with AI Governance</a:t>
            </a:r>
          </a:p>
        </p:txBody>
      </p:sp>
      <p:sp>
        <p:nvSpPr>
          <p:cNvPr id="6" name="TextBox 5"/>
          <p:cNvSpPr txBox="1"/>
          <p:nvPr/>
        </p:nvSpPr>
        <p:spPr>
          <a:xfrm>
            <a:off x="640080" y="5852160"/>
            <a:ext cx="10911535" cy="822960"/>
          </a:xfrm>
          <a:prstGeom prst="rect">
            <a:avLst/>
          </a:prstGeom>
          <a:noFill/>
        </p:spPr>
        <p:txBody>
          <a:bodyPr wrap="square" anchor="b" lIns="0" rIns="0" tIns="0" bIns="0">
            <a:spAutoFit/>
          </a:bodyPr>
          <a:lstStyle/>
          <a:p>
            <a:r>
              <a:rPr sz="1400">
                <a:solidFill>
                  <a:srgbClr val="9FB3C8"/>
                </a:solidFill>
                <a:latin typeface="Calibri"/>
              </a:rPr>
              <a:t>Ruthvik Nath Bandari</a:t>
            </a:r>
          </a:p>
          <a:p>
            <a:r>
              <a:rPr sz="1400">
                <a:solidFill>
                  <a:srgbClr val="9FB3C8"/>
                </a:solidFill>
                <a:latin typeface="Calibri"/>
              </a:rPr>
              <a:t>AI for Cybersecurity, Module 1 Assignment</a:t>
            </a:r>
          </a:p>
          <a:p>
            <a:r>
              <a:rPr sz="1400">
                <a:solidFill>
                  <a:srgbClr val="9FB3C8"/>
                </a:solidFill>
                <a:latin typeface="Calibri"/>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911535" cy="557022"/>
          </a:xfrm>
          <a:prstGeom prst="rect">
            <a:avLst/>
          </a:prstGeom>
          <a:noFill/>
        </p:spPr>
        <p:txBody>
          <a:bodyPr wrap="square" anchor="t" lIns="0" rIns="0" tIns="0" bIns="0">
            <a:spAutoFit/>
          </a:bodyPr>
          <a:lstStyle/>
          <a:p>
            <a:pPr>
              <a:lnSpc>
                <a:spcPct val="100000"/>
              </a:lnSpc>
              <a:spcAft>
                <a:spcPts val="0"/>
              </a:spcAft>
            </a:pPr>
            <a:r>
              <a:rPr sz="2800" b="1">
                <a:solidFill>
                  <a:srgbClr val="0B0B0B"/>
                </a:solidFill>
                <a:latin typeface="Calibri"/>
              </a:rPr>
              <a:t>Introduction: Why Ransomware Needs Earlier Detection</a:t>
            </a:r>
          </a:p>
        </p:txBody>
      </p:sp>
      <p:sp>
        <p:nvSpPr>
          <p:cNvPr id="3" name="Rectangle 2"/>
          <p:cNvSpPr/>
          <p:nvPr/>
        </p:nvSpPr>
        <p:spPr>
          <a:xfrm>
            <a:off x="640080" y="1059942"/>
            <a:ext cx="1091153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2362"/>
            <a:ext cx="10911535" cy="4936998"/>
          </a:xfrm>
          <a:prstGeom prst="rect">
            <a:avLst/>
          </a:prstGeom>
          <a:noFill/>
        </p:spPr>
        <p:txBody>
          <a:bodyPr wrap="square" anchor="t" lIns="0" rIns="0" tIns="0" bIns="0">
            <a:spAutoFit/>
          </a:bodyPr>
          <a:lstStyle/>
          <a:p>
            <a:pPr>
              <a:lnSpc>
                <a:spcPct val="118000"/>
              </a:lnSpc>
              <a:spcAft>
                <a:spcPts val="1200"/>
              </a:spcAft>
            </a:pPr>
            <a:r>
              <a:rPr sz="2100">
                <a:solidFill>
                  <a:srgbClr val="0B0B0B"/>
                </a:solidFill>
                <a:latin typeface="Calibri"/>
              </a:rPr>
              <a:t>—  Ransomware appeared in 44% of data breaches in the 2025 DBIR, up 37% year over year (Verizon, 2025).</a:t>
            </a:r>
          </a:p>
          <a:p>
            <a:pPr>
              <a:lnSpc>
                <a:spcPct val="118000"/>
              </a:lnSpc>
              <a:spcAft>
                <a:spcPts val="1200"/>
              </a:spcAft>
            </a:pPr>
            <a:r>
              <a:rPr sz="2100">
                <a:solidFill>
                  <a:srgbClr val="0B0B0B"/>
                </a:solidFill>
                <a:latin typeface="Calibri"/>
              </a:rPr>
              <a:t>—  The median ransom payment was US$115,000, while 64% of victims refused to pay (Verizon, 2025).</a:t>
            </a:r>
          </a:p>
          <a:p>
            <a:pPr>
              <a:lnSpc>
                <a:spcPct val="118000"/>
              </a:lnSpc>
              <a:spcAft>
                <a:spcPts val="1200"/>
              </a:spcAft>
            </a:pPr>
            <a:r>
              <a:rPr sz="2100">
                <a:solidFill>
                  <a:srgbClr val="0B0B0B"/>
                </a:solidFill>
                <a:latin typeface="Calibri"/>
              </a:rPr>
              <a:t>—  When attackers disclosed the incident, the average extortion or ransomware breach cost reached $5.08 million (IBM, 2025).</a:t>
            </a:r>
          </a:p>
          <a:p>
            <a:pPr>
              <a:lnSpc>
                <a:spcPct val="118000"/>
              </a:lnSpc>
              <a:spcAft>
                <a:spcPts val="1200"/>
              </a:spcAft>
            </a:pPr>
            <a:r>
              <a:rPr sz="2100">
                <a:solidFill>
                  <a:srgbClr val="0B0B0B"/>
                </a:solidFill>
                <a:latin typeface="Calibri"/>
              </a:rPr>
              <a:t>—  Question: can AI flag suspicious network behavior before encryption starts?</a:t>
            </a:r>
          </a:p>
        </p:txBody>
      </p:sp>
      <p:sp>
        <p:nvSpPr>
          <p:cNvPr id="5" name="TextBox 4"/>
          <p:cNvSpPr txBox="1"/>
          <p:nvPr/>
        </p:nvSpPr>
        <p:spPr>
          <a:xfrm>
            <a:off x="10637215" y="6446520"/>
            <a:ext cx="914400" cy="274320"/>
          </a:xfrm>
          <a:prstGeom prst="rect">
            <a:avLst/>
          </a:prstGeom>
          <a:noFill/>
        </p:spPr>
        <p:txBody>
          <a:bodyPr wrap="square" anchor="t" lIns="0" rIns="0" tIns="0" bIns="0">
            <a:spAutoFit/>
          </a:bodyPr>
          <a:lstStyle/>
          <a:p>
            <a:pPr algn="r"/>
            <a:r>
              <a:rPr sz="1100">
                <a:solidFill>
                  <a:srgbClr val="52514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911535" cy="557022"/>
          </a:xfrm>
          <a:prstGeom prst="rect">
            <a:avLst/>
          </a:prstGeom>
          <a:noFill/>
        </p:spPr>
        <p:txBody>
          <a:bodyPr wrap="square" anchor="t" lIns="0" rIns="0" tIns="0" bIns="0">
            <a:spAutoFit/>
          </a:bodyPr>
          <a:lstStyle/>
          <a:p>
            <a:pPr>
              <a:lnSpc>
                <a:spcPct val="100000"/>
              </a:lnSpc>
              <a:spcAft>
                <a:spcPts val="0"/>
              </a:spcAft>
            </a:pPr>
            <a:r>
              <a:rPr sz="2800" b="1">
                <a:solidFill>
                  <a:srgbClr val="0B0B0B"/>
                </a:solidFill>
                <a:latin typeface="Calibri"/>
              </a:rPr>
              <a:t>Threat Overview: Impact and Pre-Encryption Signals</a:t>
            </a:r>
          </a:p>
        </p:txBody>
      </p:sp>
      <p:sp>
        <p:nvSpPr>
          <p:cNvPr id="3" name="Rectangle 2"/>
          <p:cNvSpPr/>
          <p:nvPr/>
        </p:nvSpPr>
        <p:spPr>
          <a:xfrm>
            <a:off x="640080" y="1059942"/>
            <a:ext cx="1091153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10000"/>
            <a:ext cx="4490000" cy="4720000"/>
          </a:xfrm>
          <a:prstGeom prst="rect">
            <a:avLst/>
          </a:prstGeom>
          <a:noFill/>
        </p:spPr>
        <p:txBody>
          <a:bodyPr wrap="square" anchor="t" lIns="0" rIns="0" tIns="0" bIns="0">
            <a:spAutoFit/>
          </a:bodyPr>
          <a:lstStyle/>
          <a:p>
            <a:pPr>
              <a:lnSpc>
                <a:spcPct val="116000"/>
              </a:lnSpc>
              <a:spcAft>
                <a:spcPts val="1200"/>
              </a:spcAft>
            </a:pPr>
            <a:r>
              <a:rPr sz="1700">
                <a:solidFill>
                  <a:srgbClr val="0B0B0B"/>
                </a:solidFill>
                <a:latin typeface="Calibri"/>
              </a:rPr>
              <a:t>—  Ransomware appeared in 44% of breaches overall and 88% of SMB breaches; attacks rose 37% year over year (Verizon, 2025).</a:t>
            </a:r>
          </a:p>
          <a:p>
            <a:pPr>
              <a:lnSpc>
                <a:spcPct val="116000"/>
              </a:lnSpc>
              <a:spcAft>
                <a:spcPts val="1200"/>
              </a:spcAft>
            </a:pPr>
            <a:r>
              <a:rPr sz="1700">
                <a:solidFill>
                  <a:srgbClr val="0B0B0B"/>
                </a:solidFill>
                <a:latin typeface="Calibri"/>
              </a:rPr>
              <a:t>—  The median payment was US$115,000. An extortion or ransomware breach disclosed by the attacker averaged $5.08 million (Verizon, 2025; IBM, 2025).</a:t>
            </a:r>
          </a:p>
          <a:p>
            <a:pPr>
              <a:lnSpc>
                <a:spcPct val="116000"/>
              </a:lnSpc>
              <a:spcAft>
                <a:spcPts val="1200"/>
              </a:spcAft>
            </a:pPr>
            <a:r>
              <a:rPr sz="1700">
                <a:solidFill>
                  <a:srgbClr val="0B0B0B"/>
                </a:solidFill>
                <a:latin typeface="Calibri"/>
              </a:rPr>
              <a:t>—  Ransomware deployment is often preceded by command-and-control activity and lateral movement, creating a window for network detection (CISA et al., 2023).</a:t>
            </a:r>
          </a:p>
        </p:txBody>
      </p:sp>
      <p:pic>
        <p:nvPicPr>
          <p:cNvPr id="5" name="Picture 4" descr="fig1_threat_impact.png"/>
          <p:cNvPicPr>
            <a:picLocks noChangeAspect="1"/>
          </p:cNvPicPr>
          <p:nvPr/>
        </p:nvPicPr>
        <p:blipFill>
          <a:blip r:embed="rId2"/>
          <a:stretch>
            <a:fillRect/>
          </a:stretch>
        </p:blipFill>
        <p:spPr>
          <a:xfrm>
            <a:off x="5310000" y="1850000"/>
            <a:ext cx="6260000" cy="3425000"/>
          </a:xfrm>
          <a:prstGeom prst="rect">
            <a:avLst/>
          </a:prstGeom>
        </p:spPr>
      </p:pic>
      <p:sp>
        <p:nvSpPr>
          <p:cNvPr id="6" name="TextBox 5"/>
          <p:cNvSpPr txBox="1"/>
          <p:nvPr/>
        </p:nvSpPr>
        <p:spPr>
          <a:xfrm>
            <a:off x="10637215" y="6446520"/>
            <a:ext cx="914400" cy="274320"/>
          </a:xfrm>
          <a:prstGeom prst="rect">
            <a:avLst/>
          </a:prstGeom>
          <a:noFill/>
        </p:spPr>
        <p:txBody>
          <a:bodyPr wrap="square" anchor="t" lIns="0" rIns="0" tIns="0" bIns="0">
            <a:spAutoFit/>
          </a:bodyPr>
          <a:lstStyle/>
          <a:p>
            <a:pPr algn="r"/>
            <a:r>
              <a:rPr sz="1100">
                <a:solidFill>
                  <a:srgbClr val="52514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911535" cy="995172"/>
          </a:xfrm>
          <a:prstGeom prst="rect">
            <a:avLst/>
          </a:prstGeom>
          <a:noFill/>
        </p:spPr>
        <p:txBody>
          <a:bodyPr wrap="square" anchor="t" lIns="0" rIns="0" tIns="0" bIns="0">
            <a:spAutoFit/>
          </a:bodyPr>
          <a:lstStyle/>
          <a:p>
            <a:pPr>
              <a:lnSpc>
                <a:spcPct val="100000"/>
              </a:lnSpc>
              <a:spcAft>
                <a:spcPts val="0"/>
              </a:spcAft>
            </a:pPr>
            <a:r>
              <a:rPr sz="3000" b="1">
                <a:solidFill>
                  <a:srgbClr val="0B0B0B"/>
                </a:solidFill>
                <a:latin typeface="Calibri"/>
              </a:rPr>
              <a:t>AI Solution: Network Anomaly Detection</a:t>
            </a:r>
          </a:p>
        </p:txBody>
      </p:sp>
      <p:sp>
        <p:nvSpPr>
          <p:cNvPr id="3" name="Rectangle 2"/>
          <p:cNvSpPr/>
          <p:nvPr/>
        </p:nvSpPr>
        <p:spPr>
          <a:xfrm>
            <a:off x="640080" y="1498092"/>
            <a:ext cx="1091153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10000"/>
            <a:ext cx="4380000" cy="4550000"/>
          </a:xfrm>
          <a:prstGeom prst="rect">
            <a:avLst/>
          </a:prstGeom>
          <a:noFill/>
        </p:spPr>
        <p:txBody>
          <a:bodyPr wrap="square" anchor="t" lIns="0" rIns="0" tIns="0" bIns="0">
            <a:spAutoFit/>
          </a:bodyPr>
          <a:lstStyle/>
          <a:p>
            <a:pPr>
              <a:lnSpc>
                <a:spcPct val="114000"/>
              </a:lnSpc>
              <a:spcAft>
                <a:spcPts val="1000"/>
              </a:spcAft>
            </a:pPr>
            <a:r>
              <a:rPr sz="1650">
                <a:solidFill>
                  <a:srgbClr val="0B0B0B"/>
                </a:solidFill>
                <a:latin typeface="Calibri"/>
              </a:rPr>
              <a:t>—  Chapter 5 models normal network traffic with Gaussian density and flags low-probability flows as anomalies (Parisi, 2019).</a:t>
            </a:r>
          </a:p>
          <a:p>
            <a:pPr>
              <a:lnSpc>
                <a:spcPct val="114000"/>
              </a:lnSpc>
              <a:spcAft>
                <a:spcPts val="1000"/>
              </a:spcAft>
            </a:pPr>
            <a:r>
              <a:rPr sz="1650">
                <a:solidFill>
                  <a:srgbClr val="0B0B0B"/>
                </a:solidFill>
                <a:latin typeface="Calibri"/>
              </a:rPr>
              <a:t>—  A benign-only Gaussian Mixture Model (k = 10) reached ROC-AUC 0.9655 on 627,314 held-out flows.</a:t>
            </a:r>
          </a:p>
          <a:p>
            <a:pPr>
              <a:lnSpc>
                <a:spcPct val="114000"/>
              </a:lnSpc>
              <a:spcAft>
                <a:spcPts val="1000"/>
              </a:spcAft>
            </a:pPr>
            <a:r>
              <a:rPr sz="1650">
                <a:solidFill>
                  <a:srgbClr val="0B0B0B"/>
                </a:solidFill>
                <a:latin typeface="Calibri"/>
              </a:rPr>
              <a:t>—  Recall reached 99.75% for DDoS and 99.60% for PortScan, but only 26.59% for Bot and 9.20% for SSH-Patator.</a:t>
            </a:r>
          </a:p>
          <a:p>
            <a:pPr>
              <a:lnSpc>
                <a:spcPct val="114000"/>
              </a:lnSpc>
              <a:spcAft>
                <a:spcPts val="1000"/>
              </a:spcAft>
            </a:pPr>
            <a:r>
              <a:rPr sz="1650">
                <a:solidFill>
                  <a:srgbClr val="0B0B0B"/>
                </a:solidFill>
                <a:latin typeface="Calibri"/>
              </a:rPr>
              <a:t>—  The evidence supports an early-warning layer, not a stand-alone ransomware control.</a:t>
            </a:r>
          </a:p>
        </p:txBody>
      </p:sp>
      <p:pic>
        <p:nvPicPr>
          <p:cNvPr id="5" name="Picture 4" descr="fig2_detection_by_family.png"/>
          <p:cNvPicPr>
            <a:picLocks noChangeAspect="1"/>
          </p:cNvPicPr>
          <p:nvPr/>
        </p:nvPicPr>
        <p:blipFill>
          <a:blip r:embed="rId2"/>
          <a:stretch>
            <a:fillRect/>
          </a:stretch>
        </p:blipFill>
        <p:spPr>
          <a:xfrm>
            <a:off x="5230000" y="1980000"/>
            <a:ext cx="6350000" cy="3556000"/>
          </a:xfrm>
          <a:prstGeom prst="rect">
            <a:avLst/>
          </a:prstGeom>
        </p:spPr>
      </p:pic>
      <p:sp>
        <p:nvSpPr>
          <p:cNvPr id="6" name="TextBox 5"/>
          <p:cNvSpPr txBox="1"/>
          <p:nvPr/>
        </p:nvSpPr>
        <p:spPr>
          <a:xfrm>
            <a:off x="10637215" y="6446520"/>
            <a:ext cx="914400" cy="274320"/>
          </a:xfrm>
          <a:prstGeom prst="rect">
            <a:avLst/>
          </a:prstGeom>
          <a:noFill/>
        </p:spPr>
        <p:txBody>
          <a:bodyPr wrap="square" anchor="t" lIns="0" rIns="0" tIns="0" bIns="0">
            <a:spAutoFit/>
          </a:bodyPr>
          <a:lstStyle/>
          <a:p>
            <a:pPr algn="r"/>
            <a:r>
              <a:rPr sz="1100">
                <a:solidFill>
                  <a:srgbClr val="52514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911535" cy="995172"/>
          </a:xfrm>
          <a:prstGeom prst="rect">
            <a:avLst/>
          </a:prstGeom>
          <a:noFill/>
        </p:spPr>
        <p:txBody>
          <a:bodyPr wrap="square" anchor="t" lIns="0" rIns="0" tIns="0" bIns="0">
            <a:spAutoFit/>
          </a:bodyPr>
          <a:lstStyle/>
          <a:p>
            <a:pPr>
              <a:lnSpc>
                <a:spcPct val="100000"/>
              </a:lnSpc>
              <a:spcAft>
                <a:spcPts val="0"/>
              </a:spcAft>
            </a:pPr>
            <a:r>
              <a:rPr sz="2800" b="1">
                <a:solidFill>
                  <a:srgbClr val="0B0B0B"/>
                </a:solidFill>
                <a:latin typeface="Calibri"/>
              </a:rPr>
              <a:t>Current Trend: AI Governance for Automated Response</a:t>
            </a:r>
          </a:p>
        </p:txBody>
      </p:sp>
      <p:sp>
        <p:nvSpPr>
          <p:cNvPr id="3" name="Rectangle 2"/>
          <p:cNvSpPr/>
          <p:nvPr/>
        </p:nvSpPr>
        <p:spPr>
          <a:xfrm>
            <a:off x="640080" y="1498092"/>
            <a:ext cx="1091153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10000"/>
            <a:ext cx="4510000" cy="4550000"/>
          </a:xfrm>
          <a:prstGeom prst="rect">
            <a:avLst/>
          </a:prstGeom>
          <a:noFill/>
        </p:spPr>
        <p:txBody>
          <a:bodyPr wrap="square" anchor="t" lIns="0" rIns="0" tIns="0" bIns="0">
            <a:spAutoFit/>
          </a:bodyPr>
          <a:lstStyle/>
          <a:p>
            <a:pPr>
              <a:lnSpc>
                <a:spcPct val="114000"/>
              </a:lnSpc>
              <a:spcAft>
                <a:spcPts val="1000"/>
              </a:spcAft>
            </a:pPr>
            <a:r>
              <a:rPr sz="1650">
                <a:solidFill>
                  <a:srgbClr val="0B0B0B"/>
                </a:solidFill>
                <a:latin typeface="Calibri"/>
              </a:rPr>
              <a:t>—  Threshold choice determines how many threats the system misses and how many benign flows it blocks.</a:t>
            </a:r>
          </a:p>
          <a:p>
            <a:pPr>
              <a:lnSpc>
                <a:spcPct val="114000"/>
              </a:lnSpc>
              <a:spcAft>
                <a:spcPts val="1000"/>
              </a:spcAft>
            </a:pPr>
            <a:r>
              <a:rPr sz="1650">
                <a:solidFill>
                  <a:srgbClr val="0B0B0B"/>
                </a:solidFill>
                <a:latin typeface="Calibri"/>
              </a:rPr>
              <a:t>—  At a 1% false-positive budget, my GMM delivered 95.8% precision but only 43.6% recall.</a:t>
            </a:r>
          </a:p>
          <a:p>
            <a:pPr>
              <a:lnSpc>
                <a:spcPct val="114000"/>
              </a:lnSpc>
              <a:spcAft>
                <a:spcPts val="1000"/>
              </a:spcAft>
            </a:pPr>
            <a:r>
              <a:rPr sz="1650">
                <a:solidFill>
                  <a:srgbClr val="0B0B0B"/>
                </a:solidFill>
                <a:latin typeface="Calibri"/>
              </a:rPr>
              <a:t>—  63% of breached organizations lacked an AI governance policy or were still developing one; one in five reported a shadow-AI breach (IBM, 2025).</a:t>
            </a:r>
          </a:p>
          <a:p>
            <a:pPr>
              <a:lnSpc>
                <a:spcPct val="114000"/>
              </a:lnSpc>
              <a:spcAft>
                <a:spcPts val="1000"/>
              </a:spcAft>
            </a:pPr>
            <a:r>
              <a:rPr sz="1650">
                <a:solidFill>
                  <a:srgbClr val="0B0B0B"/>
                </a:solidFill>
                <a:latin typeface="Calibri"/>
              </a:rPr>
              <a:t>—  NIST AI RMF provides a structure for documenting risk, monitoring performance, and assigning human oversight (NIST, 2023).</a:t>
            </a:r>
          </a:p>
        </p:txBody>
      </p:sp>
      <p:pic>
        <p:nvPicPr>
          <p:cNvPr id="5" name="Picture 4" descr="fig3_governance_tradeoff.png"/>
          <p:cNvPicPr>
            <a:picLocks noChangeAspect="1"/>
          </p:cNvPicPr>
          <p:nvPr/>
        </p:nvPicPr>
        <p:blipFill>
          <a:blip r:embed="rId2"/>
          <a:stretch>
            <a:fillRect/>
          </a:stretch>
        </p:blipFill>
        <p:spPr>
          <a:xfrm>
            <a:off x="5430000" y="2190000"/>
            <a:ext cx="6160000" cy="3370000"/>
          </a:xfrm>
          <a:prstGeom prst="rect">
            <a:avLst/>
          </a:prstGeom>
        </p:spPr>
      </p:pic>
      <p:sp>
        <p:nvSpPr>
          <p:cNvPr id="6" name="TextBox 5"/>
          <p:cNvSpPr txBox="1"/>
          <p:nvPr/>
        </p:nvSpPr>
        <p:spPr>
          <a:xfrm>
            <a:off x="10637215" y="6446520"/>
            <a:ext cx="914400" cy="274320"/>
          </a:xfrm>
          <a:prstGeom prst="rect">
            <a:avLst/>
          </a:prstGeom>
          <a:noFill/>
        </p:spPr>
        <p:txBody>
          <a:bodyPr wrap="square" anchor="t" lIns="0" rIns="0" tIns="0" bIns="0">
            <a:spAutoFit/>
          </a:bodyPr>
          <a:lstStyle/>
          <a:p>
            <a:pPr algn="r"/>
            <a:r>
              <a:rPr sz="1100">
                <a:solidFill>
                  <a:srgbClr val="52514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911535" cy="995172"/>
          </a:xfrm>
          <a:prstGeom prst="rect">
            <a:avLst/>
          </a:prstGeom>
          <a:noFill/>
        </p:spPr>
        <p:txBody>
          <a:bodyPr wrap="square" anchor="t" lIns="0" rIns="0" tIns="0" bIns="0">
            <a:spAutoFit/>
          </a:bodyPr>
          <a:lstStyle/>
          <a:p>
            <a:pPr>
              <a:lnSpc>
                <a:spcPct val="100000"/>
              </a:lnSpc>
              <a:spcAft>
                <a:spcPts val="0"/>
              </a:spcAft>
            </a:pPr>
            <a:r>
              <a:rPr sz="3000" b="1">
                <a:solidFill>
                  <a:srgbClr val="0B0B0B"/>
                </a:solidFill>
                <a:latin typeface="Calibri"/>
              </a:rPr>
              <a:t>Conclusion: Early Warning with Human Oversight</a:t>
            </a:r>
          </a:p>
        </p:txBody>
      </p:sp>
      <p:sp>
        <p:nvSpPr>
          <p:cNvPr id="3" name="Rectangle 2"/>
          <p:cNvSpPr/>
          <p:nvPr/>
        </p:nvSpPr>
        <p:spPr>
          <a:xfrm>
            <a:off x="640080" y="1498092"/>
            <a:ext cx="1091153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10512"/>
            <a:ext cx="10911535" cy="4498848"/>
          </a:xfrm>
          <a:prstGeom prst="rect">
            <a:avLst/>
          </a:prstGeom>
          <a:noFill/>
        </p:spPr>
        <p:txBody>
          <a:bodyPr wrap="square" anchor="t" lIns="0" rIns="0" tIns="0" bIns="0">
            <a:spAutoFit/>
          </a:bodyPr>
          <a:lstStyle/>
          <a:p>
            <a:pPr>
              <a:lnSpc>
                <a:spcPct val="122000"/>
              </a:lnSpc>
              <a:spcAft>
                <a:spcPts val="1800"/>
              </a:spcAft>
            </a:pPr>
            <a:r>
              <a:rPr sz="2200">
                <a:solidFill>
                  <a:srgbClr val="0B0B0B"/>
                </a:solidFill>
                <a:latin typeface="Calibri"/>
              </a:rPr>
              <a:t>—  Anomaly detection can expose network behavior that precedes ransomware encryption, but coverage varies sharply by attack family.</a:t>
            </a:r>
          </a:p>
          <a:p>
            <a:pPr>
              <a:lnSpc>
                <a:spcPct val="122000"/>
              </a:lnSpc>
              <a:spcAft>
                <a:spcPts val="1800"/>
              </a:spcAft>
            </a:pPr>
            <a:r>
              <a:rPr sz="2200">
                <a:solidFill>
                  <a:srgbClr val="0B0B0B"/>
                </a:solidFill>
                <a:latin typeface="Calibri"/>
              </a:rPr>
              <a:t>—  My lab showed that model choice and threshold selection are security decisions, not just technical tuning.</a:t>
            </a:r>
          </a:p>
          <a:p>
            <a:pPr>
              <a:lnSpc>
                <a:spcPct val="122000"/>
              </a:lnSpc>
              <a:spcAft>
                <a:spcPts val="1800"/>
              </a:spcAft>
            </a:pPr>
            <a:r>
              <a:rPr sz="2200">
                <a:solidFill>
                  <a:srgbClr val="0B0B0B"/>
                </a:solidFill>
                <a:latin typeface="Calibri"/>
              </a:rPr>
              <a:t>—  In practice, I would document the threshold, retain an audit trail, and require a named analyst to authorize high-impact actions.</a:t>
            </a:r>
          </a:p>
        </p:txBody>
      </p:sp>
      <p:sp>
        <p:nvSpPr>
          <p:cNvPr id="5" name="TextBox 4"/>
          <p:cNvSpPr txBox="1"/>
          <p:nvPr/>
        </p:nvSpPr>
        <p:spPr>
          <a:xfrm>
            <a:off x="10637215" y="6446520"/>
            <a:ext cx="914400" cy="274320"/>
          </a:xfrm>
          <a:prstGeom prst="rect">
            <a:avLst/>
          </a:prstGeom>
          <a:noFill/>
        </p:spPr>
        <p:txBody>
          <a:bodyPr wrap="square" anchor="t" lIns="0" rIns="0" tIns="0" bIns="0">
            <a:spAutoFit/>
          </a:bodyPr>
          <a:lstStyle/>
          <a:p>
            <a:pPr algn="r"/>
            <a:r>
              <a:rPr sz="1100">
                <a:solidFill>
                  <a:srgbClr val="52514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911535" cy="557022"/>
          </a:xfrm>
          <a:prstGeom prst="rect">
            <a:avLst/>
          </a:prstGeom>
          <a:noFill/>
        </p:spPr>
        <p:txBody>
          <a:bodyPr wrap="square" anchor="t" lIns="0" rIns="0" tIns="0" bIns="0">
            <a:spAutoFit/>
          </a:bodyPr>
          <a:lstStyle/>
          <a:p>
            <a:r>
              <a:rPr sz="3000" b="1">
                <a:solidFill>
                  <a:srgbClr val="0B0B0B"/>
                </a:solidFill>
                <a:latin typeface="Calibri"/>
              </a:rPr>
              <a:t>References</a:t>
            </a:r>
          </a:p>
        </p:txBody>
      </p:sp>
      <p:sp>
        <p:nvSpPr>
          <p:cNvPr id="3" name="Rectangle 2"/>
          <p:cNvSpPr/>
          <p:nvPr/>
        </p:nvSpPr>
        <p:spPr>
          <a:xfrm>
            <a:off x="640080" y="1059942"/>
            <a:ext cx="1091153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2362"/>
            <a:ext cx="10911535" cy="4936998"/>
          </a:xfrm>
          <a:prstGeom prst="rect">
            <a:avLst/>
          </a:prstGeom>
          <a:noFill/>
        </p:spPr>
        <p:txBody>
          <a:bodyPr wrap="square" anchor="t" lIns="0" rIns="0" tIns="0" bIns="0">
            <a:spAutoFit/>
          </a:bodyPr>
          <a:lstStyle/>
          <a:p>
            <a:pPr marL="457200" indent="-457200">
              <a:spcAft>
                <a:spcPts val="700"/>
              </a:spcAft>
            </a:pPr>
            <a:r>
              <a:rPr sz="1200">
                <a:solidFill>
                  <a:srgbClr val="0B0B0B"/>
                </a:solidFill>
                <a:latin typeface="Calibri"/>
              </a:rPr>
              <a:t>Cybersecurity and Infrastructure Security Agency, National Security Agency, Federal Bureau of Investigation, &amp; Multi-State Information Sharing and Analysis Center. (2023). </a:t>
            </a:r>
            <a:r>
              <a:rPr i="1" sz="1200">
                <a:solidFill>
                  <a:srgbClr val="0B0B0B"/>
                </a:solidFill>
                <a:latin typeface="Calibri"/>
              </a:rPr>
              <a:t>#StopRansomware guide</a:t>
            </a:r>
            <a:r>
              <a:rPr sz="1200">
                <a:solidFill>
                  <a:srgbClr val="0B0B0B"/>
                </a:solidFill>
                <a:latin typeface="Calibri"/>
              </a:rPr>
              <a:t> (Version 3.0). Cybersecurity and Infrastructure Security Agency. https://www.cisa.gov/sites/default/files/2025-03/StopRansomware-Guide%20508.pdf</a:t>
            </a:r>
          </a:p>
          <a:p>
            <a:pPr marL="457200" indent="-457200">
              <a:spcAft>
                <a:spcPts val="700"/>
              </a:spcAft>
            </a:pPr>
            <a:r>
              <a:rPr sz="1200">
                <a:solidFill>
                  <a:srgbClr val="0B0B0B"/>
                </a:solidFill>
                <a:latin typeface="Calibri"/>
              </a:rPr>
              <a:t>IBM. (2025, July 30). </a:t>
            </a:r>
            <a:r>
              <a:rPr i="1" sz="1200">
                <a:solidFill>
                  <a:srgbClr val="0B0B0B"/>
                </a:solidFill>
                <a:latin typeface="Calibri"/>
              </a:rPr>
              <a:t>IBM report: 13% of organizations reported breaches of AI models or applications, 97% of which reported lacking proper AI access controls</a:t>
            </a:r>
            <a:r>
              <a:rPr sz="1200">
                <a:solidFill>
                  <a:srgbClr val="0B0B0B"/>
                </a:solidFill>
                <a:latin typeface="Calibri"/>
              </a:rPr>
              <a:t> [Press release]. https://newsroom.ibm.com/2025-07-30-ibm-report-13-of-organizations-reported-breaches-of-ai-models-or-applications,-97-of-which-reported-lacking-proper-ai-access-controls</a:t>
            </a:r>
          </a:p>
          <a:p>
            <a:pPr marL="457200" indent="-457200">
              <a:spcAft>
                <a:spcPts val="700"/>
              </a:spcAft>
            </a:pPr>
            <a:r>
              <a:rPr sz="1200">
                <a:solidFill>
                  <a:srgbClr val="0B0B0B"/>
                </a:solidFill>
                <a:latin typeface="Calibri"/>
              </a:rPr>
              <a:t>Parisi, A. (2019). </a:t>
            </a:r>
            <a:r>
              <a:rPr i="1" sz="1200">
                <a:solidFill>
                  <a:srgbClr val="0B0B0B"/>
                </a:solidFill>
                <a:latin typeface="Calibri"/>
              </a:rPr>
              <a:t>Hands-on artificial intelligence for cybersecurity</a:t>
            </a:r>
            <a:r>
              <a:rPr sz="1200">
                <a:solidFill>
                  <a:srgbClr val="0B0B0B"/>
                </a:solidFill>
                <a:latin typeface="Calibri"/>
              </a:rPr>
              <a:t>. Packt Publishing.</a:t>
            </a:r>
          </a:p>
          <a:p>
            <a:pPr marL="457200" indent="-457200">
              <a:spcAft>
                <a:spcPts val="700"/>
              </a:spcAft>
            </a:pPr>
            <a:r>
              <a:rPr sz="1200">
                <a:solidFill>
                  <a:srgbClr val="0B0B0B"/>
                </a:solidFill>
                <a:latin typeface="Calibri"/>
              </a:rPr>
              <a:t>Sophos. (2025). </a:t>
            </a:r>
            <a:r>
              <a:rPr i="1" sz="1200">
                <a:solidFill>
                  <a:srgbClr val="0B0B0B"/>
                </a:solidFill>
                <a:latin typeface="Calibri"/>
              </a:rPr>
              <a:t>The state of ransomware 2025</a:t>
            </a:r>
            <a:r>
              <a:rPr sz="1200">
                <a:solidFill>
                  <a:srgbClr val="0B0B0B"/>
                </a:solidFill>
                <a:latin typeface="Calibri"/>
              </a:rPr>
              <a:t>. https://www.sophos.com/en-us/content/state-of-ransomware</a:t>
            </a:r>
          </a:p>
          <a:p>
            <a:pPr marL="457200" indent="-457200">
              <a:spcAft>
                <a:spcPts val="700"/>
              </a:spcAft>
            </a:pPr>
            <a:r>
              <a:rPr sz="1200">
                <a:solidFill>
                  <a:srgbClr val="0B0B0B"/>
                </a:solidFill>
                <a:latin typeface="Calibri"/>
              </a:rPr>
              <a:t>Tabassi, E. (2023). </a:t>
            </a:r>
            <a:r>
              <a:rPr i="1" sz="1200">
                <a:solidFill>
                  <a:srgbClr val="0B0B0B"/>
                </a:solidFill>
                <a:latin typeface="Calibri"/>
              </a:rPr>
              <a:t>Artificial intelligence risk management framework (AI RMF 1.0)</a:t>
            </a:r>
            <a:r>
              <a:rPr sz="1200">
                <a:solidFill>
                  <a:srgbClr val="0B0B0B"/>
                </a:solidFill>
                <a:latin typeface="Calibri"/>
              </a:rPr>
              <a:t>. (NIST AI 100-1). National Institute of Standards and Technology. https://doi.org/10.6028/NIST.AI.100-1</a:t>
            </a:r>
          </a:p>
          <a:p>
            <a:pPr marL="457200" indent="-457200">
              <a:spcAft>
                <a:spcPts val="700"/>
              </a:spcAft>
            </a:pPr>
            <a:r>
              <a:rPr sz="1200">
                <a:solidFill>
                  <a:srgbClr val="0B0B0B"/>
                </a:solidFill>
                <a:latin typeface="Calibri"/>
              </a:rPr>
              <a:t>Verizon. (2025). </a:t>
            </a:r>
            <a:r>
              <a:rPr i="1" sz="1200">
                <a:solidFill>
                  <a:srgbClr val="0B0B0B"/>
                </a:solidFill>
                <a:latin typeface="Calibri"/>
              </a:rPr>
              <a:t>2025 data breach investigations report</a:t>
            </a:r>
            <a:r>
              <a:rPr sz="1200">
                <a:solidFill>
                  <a:srgbClr val="0B0B0B"/>
                </a:solidFill>
                <a:latin typeface="Calibri"/>
              </a:rPr>
              <a:t>. https://www.verizon.com/business/resources/reports/2025-dbir-data-breach-investigations-report.pdf</a:t>
            </a:r>
          </a:p>
        </p:txBody>
      </p:sp>
      <p:sp>
        <p:nvSpPr>
          <p:cNvPr id="5" name="TextBox 4"/>
          <p:cNvSpPr txBox="1"/>
          <p:nvPr/>
        </p:nvSpPr>
        <p:spPr>
          <a:xfrm>
            <a:off x="10637215" y="6446520"/>
            <a:ext cx="914400" cy="274320"/>
          </a:xfrm>
          <a:prstGeom prst="rect">
            <a:avLst/>
          </a:prstGeom>
          <a:noFill/>
        </p:spPr>
        <p:txBody>
          <a:bodyPr wrap="square" anchor="t" lIns="0" rIns="0" tIns="0" bIns="0">
            <a:spAutoFit/>
          </a:bodyPr>
          <a:lstStyle/>
          <a:p>
            <a:pPr algn="r"/>
            <a:r>
              <a:rPr sz="1100">
                <a:solidFill>
                  <a:srgbClr val="52514E"/>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Ransomware Before Encryption</dc:title>
  <dc:subject/>
  <dc:creator>Ruthvik Nath Bandari</dc:creator>
  <cp:keywords/>
  <dc:description>Reviewed Module 1 AI Threat Mitigation presentation</dc:description>
  <cp:lastModifiedBy>Ruthvik Nath Bandari</cp:lastModifiedBy>
  <cp:revision>2</cp:revision>
  <dcterms:created xsi:type="dcterms:W3CDTF">2013-01-27T09:14:16Z</dcterms:created>
  <dcterms:modified xsi:type="dcterms:W3CDTF">2026-09-21T04:15:00Z</dcterms:modified>
  <cp:category/>
</cp:coreProperties>
</file>