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1B2D"/>
                </a:solidFill>
                <a:latin typeface="Calibri"/>
              </a:rPr>
              <a:t>Breach cost (USD millions)</a:t>
            </a:r>
          </a:p>
        </c:rich>
      </c:tx>
      <c:layout/>
      <c:overlay val="0"/>
    </c:title>
    <c:autoTitleDeleted val="0"/>
    <c:plotArea>
      <c:barChart>
        <c:barDir val="col"/>
        <c:grouping val="clustered"/>
        <c:ser>
          <c:idx val="0"/>
          <c:order val="0"/>
          <c:tx>
            <c:strRef>
              <c:f>Sheet1!$B$1</c:f>
              <c:strCache>
                <c:ptCount val="1"/>
                <c:pt idx="0">
                  <c:v>Breach cost (USD millions)</c:v>
                </c:pt>
              </c:strCache>
            </c:strRef>
          </c:tx>
          <c:dPt>
            <c:idx val="0"/>
            <c:spPr>
              <a:solidFill>
                <a:srgbClr val="9AA3AF"/>
              </a:solidFill>
            </c:spPr>
          </c:dPt>
          <c:dPt>
            <c:idx val="1"/>
            <c:spPr>
              <a:solidFill>
                <a:srgbClr val="1F5FAD"/>
              </a:solidFill>
            </c:spPr>
          </c:dPt>
          <c:cat>
            <c:strRef>
              <c:f>Sheet1!$A$2:$A$3</c:f>
              <c:strCache>
                <c:ptCount val="2"/>
                <c:pt idx="0">
                  <c:v>No security AI</c:v>
                </c:pt>
                <c:pt idx="1">
                  <c:v>Extensive AI</c:v>
                </c:pt>
              </c:strCache>
            </c:strRef>
          </c:cat>
          <c:val>
            <c:numRef>
              <c:f>Sheet1!$B$2:$B$3</c:f>
              <c:numCache>
                <c:formatCode>General</c:formatCode>
                <c:ptCount val="2"/>
                <c:pt idx="0">
                  <c:v>5.52</c:v>
                </c:pt>
                <c:pt idx="1">
                  <c:v>3.62</c:v>
                </c:pt>
              </c:numCache>
            </c:numRef>
          </c:val>
        </c:ser>
        <c:dLbls>
          <c:numFmt formatCode="&quot;$&quot;0.00" sourceLinked="0"/>
          <c:txPr>
            <a:bodyPr/>
            <a:lstStyle/>
            <a:p>
              <a:pPr>
                <a:defRPr sz="1600" b="1">
                  <a:solidFill>
                    <a:srgbClr val="1F2937"/>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5DAE1"/>
            </a:solidFill>
          </a:ln>
        </c:spPr>
        <c:txPr>
          <a:bodyPr/>
          <a:lstStyle/>
          <a:p>
            <a:pPr>
              <a:defRPr sz="1200">
                <a:solidFill>
                  <a:srgbClr val="1F2937"/>
                </a:solidFill>
                <a:latin typeface="Calibri"/>
              </a:defRPr>
            </a:pPr>
          </a:p>
        </c:txPr>
        <c:crossAx val="-2113994440"/>
        <c:crosses val="autoZero"/>
        <c:auto val="1"/>
        <c:lblAlgn val="ctr"/>
        <c:lblOffset val="100"/>
        <c:noMultiLvlLbl val="0"/>
      </c:catAx>
      <c:valAx>
        <c:axId val="-2113994440"/>
        <c:scaling>
          <c:max val="6.6"/>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1B2D"/>
                </a:solidFill>
                <a:latin typeface="Calibri"/>
              </a:rPr>
              <a:t>Days to identify and contain</a:t>
            </a:r>
          </a:p>
        </c:rich>
      </c:tx>
      <c:layout/>
      <c:overlay val="0"/>
    </c:title>
    <c:autoTitleDeleted val="0"/>
    <c:plotArea>
      <c:barChart>
        <c:barDir val="col"/>
        <c:grouping val="clustered"/>
        <c:ser>
          <c:idx val="0"/>
          <c:order val="0"/>
          <c:tx>
            <c:strRef>
              <c:f>Sheet1!$B$1</c:f>
              <c:strCache>
                <c:ptCount val="1"/>
                <c:pt idx="0">
                  <c:v>Days to identify and contain</c:v>
                </c:pt>
              </c:strCache>
            </c:strRef>
          </c:tx>
          <c:dPt>
            <c:idx val="0"/>
            <c:spPr>
              <a:solidFill>
                <a:srgbClr val="9AA3AF"/>
              </a:solidFill>
            </c:spPr>
          </c:dPt>
          <c:dPt>
            <c:idx val="1"/>
            <c:spPr>
              <a:solidFill>
                <a:srgbClr val="1F5FAD"/>
              </a:solidFill>
            </c:spPr>
          </c:dPt>
          <c:cat>
            <c:strRef>
              <c:f>Sheet1!$A$2:$A$3</c:f>
              <c:strCache>
                <c:ptCount val="2"/>
                <c:pt idx="0">
                  <c:v>No security AI</c:v>
                </c:pt>
                <c:pt idx="1">
                  <c:v>Extensive AI</c:v>
                </c:pt>
              </c:strCache>
            </c:strRef>
          </c:cat>
          <c:val>
            <c:numRef>
              <c:f>Sheet1!$B$2:$B$3</c:f>
              <c:numCache>
                <c:formatCode>General</c:formatCode>
                <c:ptCount val="2"/>
                <c:pt idx="0">
                  <c:v>284</c:v>
                </c:pt>
                <c:pt idx="1">
                  <c:v>204</c:v>
                </c:pt>
              </c:numCache>
            </c:numRef>
          </c:val>
        </c:ser>
        <c:dLbls>
          <c:numFmt formatCode="0" sourceLinked="0"/>
          <c:txPr>
            <a:bodyPr/>
            <a:lstStyle/>
            <a:p>
              <a:pPr>
                <a:defRPr sz="1600" b="1">
                  <a:solidFill>
                    <a:srgbClr val="1F2937"/>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5DAE1"/>
            </a:solidFill>
          </a:ln>
        </c:spPr>
        <c:txPr>
          <a:bodyPr/>
          <a:lstStyle/>
          <a:p>
            <a:pPr>
              <a:defRPr sz="1200">
                <a:solidFill>
                  <a:srgbClr val="1F2937"/>
                </a:solidFill>
                <a:latin typeface="Calibri"/>
              </a:defRPr>
            </a:pPr>
          </a:p>
        </c:txPr>
        <c:crossAx val="-2113994440"/>
        <c:crosses val="autoZero"/>
        <c:auto val="1"/>
        <c:lblAlgn val="ctr"/>
        <c:lblOffset val="100"/>
        <c:noMultiLvlLbl val="0"/>
      </c:catAx>
      <c:valAx>
        <c:axId val="-2113994440"/>
        <c:scaling>
          <c:max val="34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briefing answers one question for leadership: how is AI changing security operations at leading organizations, and should we follow? I look at two areas: AI for threat detection, and AI for real-time threat intelligence, and close with a recommendation and what this research means for 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findings. First, attacks increasingly involve no malware: CrowdStrike reports that 82% of its 2025 detections were malware-free, which leaves signature tools nothing to match. Second, the return is measurable: IBM's 2025 Cost of a Data Breach study found that organizations using security AI and automation extensively had breaches that cost 1.9 million dollars less and lasted 80 fewer days than organizations using none. IBM presents this as a correlation, and its 2026 edition reports a similar 1.93 million dollar gap. Third, threat intelligence is becoming predictive: Google says that by combining its threat intelligence with its Big Sleep AI agent, it predicted a SQLite vulnerability was about to be exploited and cut it off first. Fourth, attackers adopt AI as fast as defenders, as Brian Krebs reported. My recommendation is phased adoption, with analysts approving high-impact actions and governance aligned with NIST CSF 2.0 and the NIST AI Risk Management Framework.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AI techniques are most effective? I chose three organizations that use different ones. Microsoft applies generative AI to triage. In a randomized controlled trial by Microsoft researchers, analysts using a phishing-triage agent achieved a 77% improvement in verdict accuracy. A separate observational study of live security operations centers linked Security Copilot adoption to a 30% reduction in mean time to resolve incidents, although its authors note it cannot prove causation. Both studies are Microsoft's own. CrowdStrike relies on behavioral machine learning across endpoint, identity, and cloud; in MITRE's 2025 ATT&amp;CK enterprise evaluation, which emulated Scattered Spider and Mustang Panda, CrowdStrike reports 100% detection with no false positives. MITRE runs the test but does not rank vendors, so that headline is CrowdStrike's interpretation. Palo Alto Networks uses inline machine learning and deep learning models that classify files from their structure, covering files no signature exists for yet; its claim of stopping over 99% of unknown malware is marketing data that it pairs with faster signature generation, not an independent audit.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have organizations improved detection with AI? Signature-based detection compares files to known bad patterns, so it fails on anything new. WatchGuard's vendor telemetry for the second half of 2025 found that 23% of detected malware evaded signature-based detection, while new unique malware rose 1,548% from the third to the fourth quarter. The clearest field result I found is a six-month AI SOC pilot at a Fortune 500 manufacturer, presented at RSAC 2026 and reported by Dark Reading: mean time to discovery improved 26 to 36%, mean time to respond improved 22%, and false positives fell 16 points, although the AI also introduced some new false alerts. These are the practitioner's own measurements. The chart shows return on investment. In IBM's 2025 study, run by the Ponemon Institute, breaches at organizations with no security AI cost an average of 5.52 million dollars and took 284 days to identify and contain, against 3.62 million dollars and 204 days with extensive use. The 2026 edition reports a 1.93 million dollar gap. These are cross-organization correlations, not controlled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techniques work best? The evidence points to a combination. Behavioral machine learning and anomaly detection matter most because 82% of CrowdStrike's detections were malware-free. Deep learning on file structure covers new malware that signatures miss. Large language model assistants mainly add speed and consistency to triage. What challenges do organizations face? Cisco's 2025 State of Security survey of 2,058 security leaders found 55% handle too many false positives and only 11% trust AI completely for mission-critical tasks. In ISC2's 2025 workforce study, 59% of respondents reported critical or significant skill needs. AI also becomes a target: IBM found that 97% of organizations reporting breaches of AI models or applications lacked proper AI access controls. My own Module 3 lab showed a related issue: a model can hold the right signal and still miss an attack because of how it scores anomalies, so tuning and validation matter.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explains why threat intelligence has to be automated: CrowdStrike's 2026 Global Threat Report measured average eCrime breakout time at 29 minutes, with the fastest at 27 seconds. Which AI tools are SOC teams using? CrowdStrike's Charlotte AI Detection Triage was trained on millions of real triage decisions by its managed-detection analysts; CrowdStrike reports over 98% triage accuracy and estimates more than 40 hours of manual work saved per week. SentinelOne's Purple AI opened agentic investigation to all customers in June 2026, and in the 2024 MITRE evaluation SentinelOne reports detecting all 16 attack steps with 88% fewer alerts than the median vendor. Splunk, now part of Cisco, brings AI into the SIEM: alongside Enterprise Security 8.2, Cisco announced a Triage Agent that prioritizes and explains alerts, scheduled for 2026, and a Malware Reversal Agent that explains malicious scripts and extracts indicators. Separately, in Cisco's 2025 industry survey, 59% of security leaders said AI improved their efficiency. All product figures are vendor-reported.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is AI changing threat intelligence from reactive to proactive? Traditional intelligence waits for indicators of compromise, such as known hashes and IP addresses, and responds after the damage. Reactive teams are already overwhelmed: a vendor-sponsored survey of 282 security leaders, reported by SecurityWeek, found 40% of alerts are never investigated. AI-driven intelligence uses behavior and context, so it can act earlier, and AI agents from CrowdStrike, SentinelOne and Splunk now triage and explain alerts. Two documented cases show the shift. In July 2025, Google said that combining its threat intelligence with its Big Sleep agent let it predict that a SQLite vulnerability, CVE-2025-6965, was about to be exploited and cut it off first. Darktrace reports that its models flagged suspicious activity in December 2024 that was later traced to exploitation of an Ivanti zero-day, 11 days before Ivanti disclosed it. How effective is AI at predicting attacks overall? Promising but unproven: every figure I found comes from a vendor, and I found no independent study of prediction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ground the recommendation, take the incident Brian Krebs reported in March 2026, citing Amazon AWS: a low-skilled, Russian-speaking actor used commercial generative AI services to compromise more than 600 FortiGate security appliances in at least 55 countries, by finding exposed management ports and weak single-factor credentials. In CIA terms, confidentiality was lost because the actor obtained internal network topology and confirmed credentials; integrity was lost because the security devices themselves were compromised; and availability was at risk, since a compromised firewall can be disabled, which is my inference rather than a reported outcome. AWS noted the actor simply moved on when it met hardened environments. So my recommendation, aligned with NIST CSF 2.0, is to protect first with multi-factor authentication and no internet-exposed management interfaces; then detect and respond with behavioral AI and AI-assisted triage, keeping analysts approving high-impact actions; and govern every AI tool with access controls following the NIST AI Risk Management Framework. Personally, my Module 1 Gaussian mixture detector missed SSH brute force, and my Module 3 autoencoder missed most password guessing because averaging its error hid a clear signal. Both scored well overall. That is why I read vendor claims critically, and why I want to build behavioral detectors whose limits are measured and explained.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APA 7th edition. Vendor figures are labelled where they appear.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APA 7th edition. Vendor figures are labelled where they appear.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1417320"/>
            <a:ext cx="822960" cy="73152"/>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645920"/>
            <a:ext cx="10972800" cy="1554480"/>
          </a:xfrm>
          <a:prstGeom prst="rect">
            <a:avLst/>
          </a:prstGeom>
          <a:noFill/>
        </p:spPr>
        <p:txBody>
          <a:bodyPr wrap="square" lIns="0" rIns="0" tIns="0" bIns="0" anchor="t">
            <a:spAutoFit/>
          </a:bodyPr>
          <a:lstStyle/>
          <a:p>
            <a:pPr algn="l">
              <a:lnSpc>
                <a:spcPct val="100000"/>
              </a:lnSpc>
              <a:spcAft>
                <a:spcPts val="0"/>
              </a:spcAft>
            </a:pPr>
            <a:r>
              <a:rPr sz="4400" b="1" i="0">
                <a:solidFill>
                  <a:srgbClr val="FFFFFF"/>
                </a:solidFill>
                <a:latin typeface="Calibri"/>
              </a:rPr>
              <a:t>From Signatures to Signals:</a:t>
            </a:r>
          </a:p>
          <a:p>
            <a:pPr algn="l">
              <a:lnSpc>
                <a:spcPct val="100000"/>
              </a:lnSpc>
              <a:spcAft>
                <a:spcPts val="0"/>
              </a:spcAft>
            </a:pPr>
            <a:r>
              <a:rPr sz="4400" b="1" i="0">
                <a:solidFill>
                  <a:srgbClr val="FFFFFF"/>
                </a:solidFill>
                <a:latin typeface="Calibri"/>
              </a:rPr>
              <a:t>How AI Is Transforming Cyber Defense</a:t>
            </a:r>
          </a:p>
        </p:txBody>
      </p:sp>
      <p:sp>
        <p:nvSpPr>
          <p:cNvPr id="5" name="TextBox 4"/>
          <p:cNvSpPr txBox="1"/>
          <p:nvPr/>
        </p:nvSpPr>
        <p:spPr>
          <a:xfrm>
            <a:off x="548640" y="3291840"/>
            <a:ext cx="10972800" cy="914400"/>
          </a:xfrm>
          <a:prstGeom prst="rect">
            <a:avLst/>
          </a:prstGeom>
          <a:noFill/>
        </p:spPr>
        <p:txBody>
          <a:bodyPr wrap="square" lIns="0" rIns="0" tIns="0" bIns="0" anchor="t">
            <a:spAutoFit/>
          </a:bodyPr>
          <a:lstStyle/>
          <a:p>
            <a:pPr algn="l">
              <a:lnSpc>
                <a:spcPct val="110000"/>
              </a:lnSpc>
              <a:spcAft>
                <a:spcPts val="600"/>
              </a:spcAft>
            </a:pPr>
            <a:r>
              <a:rPr sz="2200" b="0" i="0">
                <a:solidFill>
                  <a:srgbClr val="C9D3E0"/>
                </a:solidFill>
                <a:latin typeface="Calibri"/>
              </a:rPr>
              <a:t>A strategic briefing for leadership on AI-driven threat detection and threat intelligence</a:t>
            </a:r>
          </a:p>
        </p:txBody>
      </p:sp>
      <p:sp>
        <p:nvSpPr>
          <p:cNvPr id="6" name="TextBox 5"/>
          <p:cNvSpPr txBox="1"/>
          <p:nvPr/>
        </p:nvSpPr>
        <p:spPr>
          <a:xfrm>
            <a:off x="548640" y="4800600"/>
            <a:ext cx="10972800" cy="1280160"/>
          </a:xfrm>
          <a:prstGeom prst="rect">
            <a:avLst/>
          </a:prstGeom>
          <a:noFill/>
        </p:spPr>
        <p:txBody>
          <a:bodyPr wrap="square" lIns="0" rIns="0" tIns="0" bIns="0" anchor="t">
            <a:spAutoFit/>
          </a:bodyPr>
          <a:lstStyle/>
          <a:p>
            <a:pPr algn="l">
              <a:lnSpc>
                <a:spcPct val="110000"/>
              </a:lnSpc>
              <a:spcAft>
                <a:spcPts val="400"/>
              </a:spcAft>
            </a:pPr>
            <a:r>
              <a:rPr sz="1600" b="0" i="0">
                <a:solidFill>
                  <a:srgbClr val="C9D3E0"/>
                </a:solidFill>
                <a:latin typeface="Calibri"/>
              </a:rPr>
              <a:t>Ruthvik Nath Bandari</a:t>
            </a:r>
          </a:p>
          <a:p>
            <a:pPr algn="l">
              <a:lnSpc>
                <a:spcPct val="110000"/>
              </a:lnSpc>
              <a:spcAft>
                <a:spcPts val="400"/>
              </a:spcAft>
            </a:pPr>
            <a:r>
              <a:rPr sz="1600" b="0" i="0">
                <a:solidFill>
                  <a:srgbClr val="C9D3E0"/>
                </a:solidFill>
                <a:latin typeface="Calibri"/>
              </a:rPr>
              <a:t>AAI6680: AI for Cybersecurity · Northeastern University · Mimoza Dimodugno, PhD</a:t>
            </a:r>
          </a:p>
          <a:p>
            <a:pPr algn="l">
              <a:lnSpc>
                <a:spcPct val="110000"/>
              </a:lnSpc>
              <a:spcAft>
                <a:spcPts val="400"/>
              </a:spcAft>
            </a:pPr>
            <a:r>
              <a:rPr sz="1600" b="0" i="0">
                <a:solidFill>
                  <a:srgbClr val="C9D3E0"/>
                </a:solidFill>
                <a:latin typeface="Calibri"/>
              </a:rPr>
              <a:t>October 3,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EXECUTIVE SUMMARY</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AI is now essential to cyber defense, but it needs oversight</a:t>
            </a:r>
          </a:p>
        </p:txBody>
      </p:sp>
      <p:sp>
        <p:nvSpPr>
          <p:cNvPr id="5" name="TextBox 4"/>
          <p:cNvSpPr txBox="1"/>
          <p:nvPr/>
        </p:nvSpPr>
        <p:spPr>
          <a:xfrm>
            <a:off x="548640" y="1691640"/>
            <a:ext cx="6675120" cy="4206240"/>
          </a:xfrm>
          <a:prstGeom prst="rect">
            <a:avLst/>
          </a:prstGeom>
          <a:noFill/>
        </p:spPr>
        <p:txBody>
          <a:bodyPr wrap="square" lIns="0" rIns="0" tIns="0" bIns="0">
            <a:spAutoFit/>
          </a:bodyPr>
          <a:lstStyle/>
          <a:p>
            <a:pPr marL="256032" indent="-256032">
              <a:lnSpc>
                <a:spcPct val="110000"/>
              </a:lnSpc>
              <a:spcAft>
                <a:spcPts val="1600"/>
              </a:spcAft>
              <a:buClr>
                <a:srgbClr val="1F5FAD"/>
              </a:buClr>
              <a:buFont typeface="Arial"/>
              <a:buChar char="■"/>
            </a:pPr>
            <a:r>
              <a:rPr sz="1800" b="1" i="0">
                <a:solidFill>
                  <a:srgbClr val="1F2937"/>
                </a:solidFill>
                <a:latin typeface="Calibri"/>
              </a:rPr>
              <a:t>Threats outpace signatures:</a:t>
            </a:r>
            <a:r>
              <a:rPr sz="1800" b="0" i="0">
                <a:solidFill>
                  <a:srgbClr val="1F2937"/>
                </a:solidFill>
                <a:latin typeface="Calibri"/>
              </a:rPr>
              <a:t> 82% of CrowdStrike's 2025 detections were malware-free.</a:t>
            </a:r>
          </a:p>
          <a:p>
            <a:pPr marL="256032" indent="-256032">
              <a:lnSpc>
                <a:spcPct val="110000"/>
              </a:lnSpc>
              <a:spcAft>
                <a:spcPts val="1600"/>
              </a:spcAft>
              <a:buClr>
                <a:srgbClr val="1F5FAD"/>
              </a:buClr>
              <a:buFont typeface="Arial"/>
              <a:buChar char="■"/>
            </a:pPr>
            <a:r>
              <a:rPr sz="1800" b="1" i="0">
                <a:solidFill>
                  <a:srgbClr val="1F2937"/>
                </a:solidFill>
                <a:latin typeface="Calibri"/>
              </a:rPr>
              <a:t>AI pays off:</a:t>
            </a:r>
            <a:r>
              <a:rPr sz="1800" b="0" i="0">
                <a:solidFill>
                  <a:srgbClr val="1F2937"/>
                </a:solidFill>
                <a:latin typeface="Calibri"/>
              </a:rPr>
              <a:t> extensive security AI was linked to </a:t>
            </a:r>
            <a:r>
              <a:rPr sz="1800" b="1" i="0">
                <a:solidFill>
                  <a:srgbClr val="1F2937"/>
                </a:solidFill>
                <a:latin typeface="Calibri"/>
              </a:rPr>
              <a:t>$1.9M</a:t>
            </a:r>
            <a:r>
              <a:rPr sz="1800" b="0" i="0">
                <a:solidFill>
                  <a:srgbClr val="1F2937"/>
                </a:solidFill>
                <a:latin typeface="Calibri"/>
              </a:rPr>
              <a:t> lower breach costs and </a:t>
            </a:r>
            <a:r>
              <a:rPr sz="1800" b="1" i="0">
                <a:solidFill>
                  <a:srgbClr val="1F2937"/>
                </a:solidFill>
                <a:latin typeface="Calibri"/>
              </a:rPr>
              <a:t>80</a:t>
            </a:r>
            <a:r>
              <a:rPr sz="1800" b="0" i="0">
                <a:solidFill>
                  <a:srgbClr val="1F2937"/>
                </a:solidFill>
                <a:latin typeface="Calibri"/>
              </a:rPr>
              <a:t> fewer days.</a:t>
            </a:r>
          </a:p>
          <a:p>
            <a:pPr marL="256032" indent="-256032">
              <a:lnSpc>
                <a:spcPct val="110000"/>
              </a:lnSpc>
              <a:spcAft>
                <a:spcPts val="1600"/>
              </a:spcAft>
              <a:buClr>
                <a:srgbClr val="1F5FAD"/>
              </a:buClr>
              <a:buFont typeface="Arial"/>
              <a:buChar char="■"/>
            </a:pPr>
            <a:r>
              <a:rPr sz="1800" b="1" i="0">
                <a:solidFill>
                  <a:srgbClr val="1F2937"/>
                </a:solidFill>
                <a:latin typeface="Calibri"/>
              </a:rPr>
              <a:t>Intelligence turns proactive:</a:t>
            </a:r>
            <a:r>
              <a:rPr sz="1800" b="0" i="0">
                <a:solidFill>
                  <a:srgbClr val="1F2937"/>
                </a:solidFill>
                <a:latin typeface="Calibri"/>
              </a:rPr>
              <a:t> Google predicted a SQLite exploit and cut it off first.</a:t>
            </a:r>
          </a:p>
          <a:p>
            <a:pPr marL="256032" indent="-256032">
              <a:lnSpc>
                <a:spcPct val="110000"/>
              </a:lnSpc>
              <a:spcAft>
                <a:spcPts val="1600"/>
              </a:spcAft>
              <a:buClr>
                <a:srgbClr val="1F5FAD"/>
              </a:buClr>
              <a:buFont typeface="Arial"/>
              <a:buChar char="■"/>
            </a:pPr>
            <a:r>
              <a:rPr sz="1800" b="1" i="0">
                <a:solidFill>
                  <a:srgbClr val="1F2937"/>
                </a:solidFill>
                <a:latin typeface="Calibri"/>
              </a:rPr>
              <a:t>Attackers use AI too:</a:t>
            </a:r>
            <a:r>
              <a:rPr sz="1800" b="0" i="0">
                <a:solidFill>
                  <a:srgbClr val="1F2937"/>
                </a:solidFill>
                <a:latin typeface="Calibri"/>
              </a:rPr>
              <a:t> one actor compromised 600+ FortiGate devices using commercial AI.</a:t>
            </a:r>
          </a:p>
        </p:txBody>
      </p:sp>
      <p:sp>
        <p:nvSpPr>
          <p:cNvPr id="6" name="Rounded Rectangle 5"/>
          <p:cNvSpPr/>
          <p:nvPr/>
        </p:nvSpPr>
        <p:spPr>
          <a:xfrm>
            <a:off x="7635240" y="1691640"/>
            <a:ext cx="4023360" cy="32918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635240" y="1691640"/>
            <a:ext cx="4023360" cy="82296"/>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909560" y="1965960"/>
            <a:ext cx="347472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RECOMMENDATION</a:t>
            </a:r>
          </a:p>
        </p:txBody>
      </p:sp>
      <p:sp>
        <p:nvSpPr>
          <p:cNvPr id="9" name="TextBox 8"/>
          <p:cNvSpPr txBox="1"/>
          <p:nvPr/>
        </p:nvSpPr>
        <p:spPr>
          <a:xfrm>
            <a:off x="7909560" y="2331720"/>
            <a:ext cx="3474720" cy="3383280"/>
          </a:xfrm>
          <a:prstGeom prst="rect">
            <a:avLst/>
          </a:prstGeom>
          <a:noFill/>
        </p:spPr>
        <p:txBody>
          <a:bodyPr wrap="square" lIns="0" rIns="0" tIns="0" bIns="0" anchor="t">
            <a:spAutoFit/>
          </a:bodyPr>
          <a:lstStyle/>
          <a:p>
            <a:pPr algn="l">
              <a:lnSpc>
                <a:spcPct val="110000"/>
              </a:lnSpc>
              <a:spcAft>
                <a:spcPts val="1400"/>
              </a:spcAft>
            </a:pPr>
            <a:r>
              <a:rPr sz="1800" b="0" i="0">
                <a:solidFill>
                  <a:srgbClr val="1F2937"/>
                </a:solidFill>
                <a:latin typeface="Calibri"/>
              </a:rPr>
              <a:t>Adopt AI detection and triage in phases.</a:t>
            </a:r>
          </a:p>
          <a:p>
            <a:pPr algn="l">
              <a:lnSpc>
                <a:spcPct val="110000"/>
              </a:lnSpc>
              <a:spcAft>
                <a:spcPts val="1400"/>
              </a:spcAft>
            </a:pPr>
            <a:r>
              <a:rPr sz="1800" b="0" i="0">
                <a:solidFill>
                  <a:srgbClr val="1F2937"/>
                </a:solidFill>
                <a:latin typeface="Calibri"/>
              </a:rPr>
              <a:t>Keep analysts approving high-impact actions.</a:t>
            </a:r>
          </a:p>
          <a:p>
            <a:pPr algn="l">
              <a:lnSpc>
                <a:spcPct val="110000"/>
              </a:lnSpc>
              <a:spcAft>
                <a:spcPts val="1400"/>
              </a:spcAft>
            </a:pPr>
            <a:r>
              <a:rPr sz="1800" b="0" i="0">
                <a:solidFill>
                  <a:srgbClr val="1F2937"/>
                </a:solidFill>
                <a:latin typeface="Calibri"/>
              </a:rPr>
              <a:t>Govern every AI tool (NIST CSF 2.0, AI RMF).</a:t>
            </a:r>
          </a:p>
        </p:txBody>
      </p:sp>
      <p:cxnSp>
        <p:nvCxnSpPr>
          <p:cNvPr id="10" name="Connector 9"/>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CrowdStrike (2026b); IBM (2025); Walker (2025); Krebs (2026); National Institute of Standards and Technology [NIST] (2023, 2024).</a:t>
            </a:r>
          </a:p>
        </p:txBody>
      </p:sp>
      <p:sp>
        <p:nvSpPr>
          <p:cNvPr id="12" name="TextBox 11"/>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STEP 1 · AI-DRIVEN THREAT DETECTION · Q1</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Three leaders, three AI techniques</a:t>
            </a:r>
          </a:p>
        </p:txBody>
      </p:sp>
      <p:sp>
        <p:nvSpPr>
          <p:cNvPr id="5" name="Rounded Rectangle 4"/>
          <p:cNvSpPr/>
          <p:nvPr/>
        </p:nvSpPr>
        <p:spPr>
          <a:xfrm>
            <a:off x="548640" y="1737360"/>
            <a:ext cx="3566160" cy="3749039"/>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37360"/>
            <a:ext cx="3566160" cy="82296"/>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965960"/>
            <a:ext cx="3108960" cy="365760"/>
          </a:xfrm>
          <a:prstGeom prst="rect">
            <a:avLst/>
          </a:prstGeom>
          <a:noFill/>
        </p:spPr>
        <p:txBody>
          <a:bodyPr wrap="square" lIns="0" rIns="0" tIns="0" bIns="0" anchor="t">
            <a:spAutoFit/>
          </a:bodyPr>
          <a:lstStyle/>
          <a:p>
            <a:pPr algn="l">
              <a:lnSpc>
                <a:spcPct val="110000"/>
              </a:lnSpc>
              <a:spcAft>
                <a:spcPts val="0"/>
              </a:spcAft>
            </a:pPr>
            <a:r>
              <a:rPr sz="2000" b="1" i="0">
                <a:solidFill>
                  <a:srgbClr val="0F1B2D"/>
                </a:solidFill>
                <a:latin typeface="Calibri"/>
              </a:rPr>
              <a:t>Microsoft</a:t>
            </a:r>
          </a:p>
        </p:txBody>
      </p:sp>
      <p:sp>
        <p:nvSpPr>
          <p:cNvPr id="8" name="TextBox 7"/>
          <p:cNvSpPr txBox="1"/>
          <p:nvPr/>
        </p:nvSpPr>
        <p:spPr>
          <a:xfrm>
            <a:off x="777240" y="2359152"/>
            <a:ext cx="3108960" cy="32004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GENERATIVE AI (LLM) TRIAGE</a:t>
            </a:r>
          </a:p>
        </p:txBody>
      </p:sp>
      <p:sp>
        <p:nvSpPr>
          <p:cNvPr id="9" name="TextBox 8"/>
          <p:cNvSpPr txBox="1"/>
          <p:nvPr/>
        </p:nvSpPr>
        <p:spPr>
          <a:xfrm>
            <a:off x="777240" y="2743200"/>
            <a:ext cx="3108960" cy="2606039"/>
          </a:xfrm>
          <a:prstGeom prst="rect">
            <a:avLst/>
          </a:prstGeom>
          <a:noFill/>
        </p:spPr>
        <p:txBody>
          <a:bodyPr wrap="square" lIns="0" rIns="0" tIns="0" bIns="0" anchor="t">
            <a:spAutoFit/>
          </a:bodyPr>
          <a:lstStyle/>
          <a:p>
            <a:pPr algn="l">
              <a:lnSpc>
                <a:spcPct val="110000"/>
              </a:lnSpc>
              <a:spcAft>
                <a:spcPts val="200"/>
              </a:spcAft>
            </a:pPr>
            <a:r>
              <a:rPr sz="1600" b="1" i="0">
                <a:solidFill>
                  <a:srgbClr val="1F2937"/>
                </a:solidFill>
                <a:latin typeface="Calibri"/>
              </a:rPr>
              <a:t>Use</a:t>
            </a:r>
          </a:p>
          <a:p>
            <a:pPr algn="l">
              <a:lnSpc>
                <a:spcPct val="110000"/>
              </a:lnSpc>
              <a:spcAft>
                <a:spcPts val="200"/>
              </a:spcAft>
            </a:pPr>
            <a:r>
              <a:rPr sz="1600" b="0" i="0">
                <a:solidFill>
                  <a:srgbClr val="1F2937"/>
                </a:solidFill>
                <a:latin typeface="Calibri"/>
              </a:rPr>
              <a:t>LLM agents help analysts triage phishing and incidents.</a:t>
            </a:r>
          </a:p>
          <a:p>
            <a:pPr algn="l">
              <a:lnSpc>
                <a:spcPct val="110000"/>
              </a:lnSpc>
              <a:spcBef>
                <a:spcPts val="800"/>
              </a:spcBef>
              <a:spcAft>
                <a:spcPts val="200"/>
              </a:spcAft>
            </a:pPr>
            <a:r>
              <a:rPr sz="1600" b="1" i="0">
                <a:solidFill>
                  <a:srgbClr val="1F2937"/>
                </a:solidFill>
                <a:latin typeface="Calibri"/>
              </a:rPr>
              <a:t>Result</a:t>
            </a:r>
          </a:p>
          <a:p>
            <a:pPr algn="l">
              <a:lnSpc>
                <a:spcPct val="110000"/>
              </a:lnSpc>
              <a:spcAft>
                <a:spcPts val="200"/>
              </a:spcAft>
            </a:pPr>
            <a:r>
              <a:rPr sz="1600" b="0" i="0">
                <a:solidFill>
                  <a:srgbClr val="1F2937"/>
                </a:solidFill>
                <a:latin typeface="Calibri"/>
              </a:rPr>
              <a:t>Trial: </a:t>
            </a:r>
            <a:r>
              <a:rPr sz="1600" b="1" i="0">
                <a:solidFill>
                  <a:srgbClr val="1F2937"/>
                </a:solidFill>
                <a:latin typeface="Calibri"/>
              </a:rPr>
              <a:t>77% better</a:t>
            </a:r>
            <a:r>
              <a:rPr sz="1600" b="0" i="0">
                <a:solidFill>
                  <a:srgbClr val="1F2937"/>
                </a:solidFill>
                <a:latin typeface="Calibri"/>
              </a:rPr>
              <a:t> verdict accuracy. Live SOCs: 30% shorter resolution time. Both are Microsoft studies.</a:t>
            </a:r>
          </a:p>
        </p:txBody>
      </p:sp>
      <p:sp>
        <p:nvSpPr>
          <p:cNvPr id="10" name="Rounded Rectangle 9"/>
          <p:cNvSpPr/>
          <p:nvPr/>
        </p:nvSpPr>
        <p:spPr>
          <a:xfrm>
            <a:off x="4407408" y="1737360"/>
            <a:ext cx="3566160" cy="3749039"/>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407408" y="1737360"/>
            <a:ext cx="3566160" cy="82296"/>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36008" y="1965960"/>
            <a:ext cx="3108960" cy="365760"/>
          </a:xfrm>
          <a:prstGeom prst="rect">
            <a:avLst/>
          </a:prstGeom>
          <a:noFill/>
        </p:spPr>
        <p:txBody>
          <a:bodyPr wrap="square" lIns="0" rIns="0" tIns="0" bIns="0" anchor="t">
            <a:spAutoFit/>
          </a:bodyPr>
          <a:lstStyle/>
          <a:p>
            <a:pPr algn="l">
              <a:lnSpc>
                <a:spcPct val="110000"/>
              </a:lnSpc>
              <a:spcAft>
                <a:spcPts val="0"/>
              </a:spcAft>
            </a:pPr>
            <a:r>
              <a:rPr sz="2000" b="1" i="0">
                <a:solidFill>
                  <a:srgbClr val="0F1B2D"/>
                </a:solidFill>
                <a:latin typeface="Calibri"/>
              </a:rPr>
              <a:t>CrowdStrike</a:t>
            </a:r>
          </a:p>
        </p:txBody>
      </p:sp>
      <p:sp>
        <p:nvSpPr>
          <p:cNvPr id="13" name="TextBox 12"/>
          <p:cNvSpPr txBox="1"/>
          <p:nvPr/>
        </p:nvSpPr>
        <p:spPr>
          <a:xfrm>
            <a:off x="4636008" y="2359152"/>
            <a:ext cx="3108960" cy="32004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BEHAVIORAL MACHINE LEARNING</a:t>
            </a:r>
          </a:p>
        </p:txBody>
      </p:sp>
      <p:sp>
        <p:nvSpPr>
          <p:cNvPr id="14" name="TextBox 13"/>
          <p:cNvSpPr txBox="1"/>
          <p:nvPr/>
        </p:nvSpPr>
        <p:spPr>
          <a:xfrm>
            <a:off x="4636008" y="2743200"/>
            <a:ext cx="3108960" cy="2606039"/>
          </a:xfrm>
          <a:prstGeom prst="rect">
            <a:avLst/>
          </a:prstGeom>
          <a:noFill/>
        </p:spPr>
        <p:txBody>
          <a:bodyPr wrap="square" lIns="0" rIns="0" tIns="0" bIns="0" anchor="t">
            <a:spAutoFit/>
          </a:bodyPr>
          <a:lstStyle/>
          <a:p>
            <a:pPr algn="l">
              <a:lnSpc>
                <a:spcPct val="110000"/>
              </a:lnSpc>
              <a:spcAft>
                <a:spcPts val="200"/>
              </a:spcAft>
            </a:pPr>
            <a:r>
              <a:rPr sz="1600" b="1" i="0">
                <a:solidFill>
                  <a:srgbClr val="1F2937"/>
                </a:solidFill>
                <a:latin typeface="Calibri"/>
              </a:rPr>
              <a:t>Use</a:t>
            </a:r>
          </a:p>
          <a:p>
            <a:pPr algn="l">
              <a:lnSpc>
                <a:spcPct val="110000"/>
              </a:lnSpc>
              <a:spcAft>
                <a:spcPts val="200"/>
              </a:spcAft>
            </a:pPr>
            <a:r>
              <a:rPr sz="1600" b="0" i="0">
                <a:solidFill>
                  <a:srgbClr val="1F2937"/>
                </a:solidFill>
                <a:latin typeface="Calibri"/>
              </a:rPr>
              <a:t>Models attacker behavior across endpoint, identity and cloud.</a:t>
            </a:r>
          </a:p>
          <a:p>
            <a:pPr algn="l">
              <a:lnSpc>
                <a:spcPct val="110000"/>
              </a:lnSpc>
              <a:spcBef>
                <a:spcPts val="800"/>
              </a:spcBef>
              <a:spcAft>
                <a:spcPts val="200"/>
              </a:spcAft>
            </a:pPr>
            <a:r>
              <a:rPr sz="1600" b="1" i="0">
                <a:solidFill>
                  <a:srgbClr val="1F2937"/>
                </a:solidFill>
                <a:latin typeface="Calibri"/>
              </a:rPr>
              <a:t>Result</a:t>
            </a:r>
          </a:p>
          <a:p>
            <a:pPr algn="l">
              <a:lnSpc>
                <a:spcPct val="110000"/>
              </a:lnSpc>
              <a:spcAft>
                <a:spcPts val="200"/>
              </a:spcAft>
            </a:pPr>
            <a:r>
              <a:rPr sz="1600" b="0" i="0">
                <a:solidFill>
                  <a:srgbClr val="1F2937"/>
                </a:solidFill>
                <a:latin typeface="Calibri"/>
              </a:rPr>
              <a:t>MITRE 2025: </a:t>
            </a:r>
            <a:r>
              <a:rPr sz="1600" b="1" i="0">
                <a:solidFill>
                  <a:srgbClr val="1F2937"/>
                </a:solidFill>
                <a:latin typeface="Calibri"/>
              </a:rPr>
              <a:t>100% detection, zero false positives</a:t>
            </a:r>
            <a:r>
              <a:rPr sz="1600" b="0" i="0">
                <a:solidFill>
                  <a:srgbClr val="1F2937"/>
                </a:solidFill>
                <a:latin typeface="Calibri"/>
              </a:rPr>
              <a:t> (vendor's reading of an independent test).</a:t>
            </a:r>
          </a:p>
        </p:txBody>
      </p:sp>
      <p:sp>
        <p:nvSpPr>
          <p:cNvPr id="15" name="Rounded Rectangle 14"/>
          <p:cNvSpPr/>
          <p:nvPr/>
        </p:nvSpPr>
        <p:spPr>
          <a:xfrm>
            <a:off x="8266175" y="1737360"/>
            <a:ext cx="3566160" cy="3749039"/>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266175" y="1737360"/>
            <a:ext cx="356616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94776" y="1965960"/>
            <a:ext cx="3108960" cy="365760"/>
          </a:xfrm>
          <a:prstGeom prst="rect">
            <a:avLst/>
          </a:prstGeom>
          <a:noFill/>
        </p:spPr>
        <p:txBody>
          <a:bodyPr wrap="square" lIns="0" rIns="0" tIns="0" bIns="0" anchor="t">
            <a:spAutoFit/>
          </a:bodyPr>
          <a:lstStyle/>
          <a:p>
            <a:pPr algn="l">
              <a:lnSpc>
                <a:spcPct val="110000"/>
              </a:lnSpc>
              <a:spcAft>
                <a:spcPts val="0"/>
              </a:spcAft>
            </a:pPr>
            <a:r>
              <a:rPr sz="2000" b="1" i="0">
                <a:solidFill>
                  <a:srgbClr val="0F1B2D"/>
                </a:solidFill>
                <a:latin typeface="Calibri"/>
              </a:rPr>
              <a:t>Palo Alto Networks</a:t>
            </a:r>
          </a:p>
        </p:txBody>
      </p:sp>
      <p:sp>
        <p:nvSpPr>
          <p:cNvPr id="18" name="TextBox 17"/>
          <p:cNvSpPr txBox="1"/>
          <p:nvPr/>
        </p:nvSpPr>
        <p:spPr>
          <a:xfrm>
            <a:off x="8494776" y="2359152"/>
            <a:ext cx="3108960" cy="32004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INLINE DEEP LEARNING ON FILES</a:t>
            </a:r>
          </a:p>
        </p:txBody>
      </p:sp>
      <p:sp>
        <p:nvSpPr>
          <p:cNvPr id="19" name="TextBox 18"/>
          <p:cNvSpPr txBox="1"/>
          <p:nvPr/>
        </p:nvSpPr>
        <p:spPr>
          <a:xfrm>
            <a:off x="8494776" y="2743200"/>
            <a:ext cx="3108960" cy="2606039"/>
          </a:xfrm>
          <a:prstGeom prst="rect">
            <a:avLst/>
          </a:prstGeom>
          <a:noFill/>
        </p:spPr>
        <p:txBody>
          <a:bodyPr wrap="square" lIns="0" rIns="0" tIns="0" bIns="0" anchor="t">
            <a:spAutoFit/>
          </a:bodyPr>
          <a:lstStyle/>
          <a:p>
            <a:pPr algn="l">
              <a:lnSpc>
                <a:spcPct val="110000"/>
              </a:lnSpc>
              <a:spcAft>
                <a:spcPts val="200"/>
              </a:spcAft>
            </a:pPr>
            <a:r>
              <a:rPr sz="1600" b="1" i="0">
                <a:solidFill>
                  <a:srgbClr val="1F2937"/>
                </a:solidFill>
                <a:latin typeface="Calibri"/>
              </a:rPr>
              <a:t>Use</a:t>
            </a:r>
          </a:p>
          <a:p>
            <a:pPr algn="l">
              <a:lnSpc>
                <a:spcPct val="110000"/>
              </a:lnSpc>
              <a:spcAft>
                <a:spcPts val="200"/>
              </a:spcAft>
            </a:pPr>
            <a:r>
              <a:rPr sz="1600" b="0" i="0">
                <a:solidFill>
                  <a:srgbClr val="1F2937"/>
                </a:solidFill>
                <a:latin typeface="Calibri"/>
              </a:rPr>
              <a:t>Classifies files in real time, including files no signature covers yet.</a:t>
            </a:r>
          </a:p>
          <a:p>
            <a:pPr algn="l">
              <a:lnSpc>
                <a:spcPct val="110000"/>
              </a:lnSpc>
              <a:spcBef>
                <a:spcPts val="800"/>
              </a:spcBef>
              <a:spcAft>
                <a:spcPts val="200"/>
              </a:spcAft>
            </a:pPr>
            <a:r>
              <a:rPr sz="1600" b="1" i="0">
                <a:solidFill>
                  <a:srgbClr val="1F2937"/>
                </a:solidFill>
                <a:latin typeface="Calibri"/>
              </a:rPr>
              <a:t>Result</a:t>
            </a:r>
          </a:p>
          <a:p>
            <a:pPr algn="l">
              <a:lnSpc>
                <a:spcPct val="110000"/>
              </a:lnSpc>
              <a:spcAft>
                <a:spcPts val="200"/>
              </a:spcAft>
            </a:pPr>
            <a:r>
              <a:rPr sz="1600" b="0" i="0">
                <a:solidFill>
                  <a:srgbClr val="1F2937"/>
                </a:solidFill>
                <a:latin typeface="Calibri"/>
              </a:rPr>
              <a:t>Stops </a:t>
            </a:r>
            <a:r>
              <a:rPr sz="1600" b="1" i="0">
                <a:solidFill>
                  <a:srgbClr val="1F2937"/>
                </a:solidFill>
                <a:latin typeface="Calibri"/>
              </a:rPr>
              <a:t>99%+ of unknown malware</a:t>
            </a:r>
            <a:r>
              <a:rPr sz="1600" b="0" i="0">
                <a:solidFill>
                  <a:srgbClr val="1F2937"/>
                </a:solidFill>
                <a:latin typeface="Calibri"/>
              </a:rPr>
              <a:t> (vendor-reported).</a:t>
            </a:r>
          </a:p>
        </p:txBody>
      </p:sp>
      <p:cxnSp>
        <p:nvCxnSpPr>
          <p:cNvPr id="20" name="Connector 19"/>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Bono (2025); Bono et al. (2024); CrowdStrike (2025b); Palo Alto Networks (n.d.).</a:t>
            </a:r>
          </a:p>
        </p:txBody>
      </p:sp>
      <p:sp>
        <p:nvSpPr>
          <p:cNvPr id="22" name="TextBox 21"/>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STEP 1 · EFFECTIVENESS AND ROI · Q2</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AI beats signatures on what is new, and the return is measurable</a:t>
            </a:r>
          </a:p>
        </p:txBody>
      </p:sp>
      <p:sp>
        <p:nvSpPr>
          <p:cNvPr id="5" name="TextBox 4"/>
          <p:cNvSpPr txBox="1"/>
          <p:nvPr/>
        </p:nvSpPr>
        <p:spPr>
          <a:xfrm>
            <a:off x="548640" y="1691640"/>
            <a:ext cx="4206240" cy="4206240"/>
          </a:xfrm>
          <a:prstGeom prst="rect">
            <a:avLst/>
          </a:prstGeom>
          <a:noFill/>
        </p:spPr>
        <p:txBody>
          <a:bodyPr wrap="square" lIns="0" rIns="0" tIns="0" bIns="0">
            <a:spAutoFit/>
          </a:bodyPr>
          <a:lstStyle/>
          <a:p>
            <a:pPr marL="256032" indent="-256032">
              <a:lnSpc>
                <a:spcPct val="110000"/>
              </a:lnSpc>
              <a:spcAft>
                <a:spcPts val="1600"/>
              </a:spcAft>
              <a:buClr>
                <a:srgbClr val="1F5FAD"/>
              </a:buClr>
              <a:buFont typeface="Arial"/>
              <a:buChar char="■"/>
            </a:pPr>
            <a:r>
              <a:rPr sz="1600" b="1" i="0">
                <a:solidFill>
                  <a:srgbClr val="1F2937"/>
                </a:solidFill>
                <a:latin typeface="Calibri"/>
              </a:rPr>
              <a:t>Signatures miss the new:</a:t>
            </a:r>
            <a:r>
              <a:rPr sz="1600" b="0" i="0">
                <a:solidFill>
                  <a:srgbClr val="1F2937"/>
                </a:solidFill>
                <a:latin typeface="Calibri"/>
              </a:rPr>
              <a:t> 23% of detected malware evaded them in late 2025 (vendor telemetry).</a:t>
            </a:r>
          </a:p>
          <a:p>
            <a:pPr marL="256032" indent="-256032">
              <a:lnSpc>
                <a:spcPct val="110000"/>
              </a:lnSpc>
              <a:spcAft>
                <a:spcPts val="1600"/>
              </a:spcAft>
              <a:buClr>
                <a:srgbClr val="1F5FAD"/>
              </a:buClr>
              <a:buFont typeface="Arial"/>
              <a:buChar char="■"/>
            </a:pPr>
            <a:r>
              <a:rPr sz="1600" b="1" i="0">
                <a:solidFill>
                  <a:srgbClr val="1F2937"/>
                </a:solidFill>
                <a:latin typeface="Calibri"/>
              </a:rPr>
              <a:t>Detection improved:</a:t>
            </a:r>
            <a:r>
              <a:rPr sz="1600" b="0" i="0">
                <a:solidFill>
                  <a:srgbClr val="1F2937"/>
                </a:solidFill>
                <a:latin typeface="Calibri"/>
              </a:rPr>
              <a:t> a Fortune 500 AI pilot found threats 26–36% faster, with false positives down 16 points.</a:t>
            </a:r>
          </a:p>
          <a:p>
            <a:pPr marL="256032" indent="-256032">
              <a:lnSpc>
                <a:spcPct val="110000"/>
              </a:lnSpc>
              <a:spcAft>
                <a:spcPts val="1600"/>
              </a:spcAft>
              <a:buClr>
                <a:srgbClr val="1F5FAD"/>
              </a:buClr>
              <a:buFont typeface="Arial"/>
              <a:buChar char="■"/>
            </a:pPr>
            <a:r>
              <a:rPr sz="1600" b="1" i="0">
                <a:solidFill>
                  <a:srgbClr val="1F2937"/>
                </a:solidFill>
                <a:latin typeface="Calibri"/>
              </a:rPr>
              <a:t>The savings held in 2026:</a:t>
            </a:r>
            <a:r>
              <a:rPr sz="1600" b="0" i="0">
                <a:solidFill>
                  <a:srgbClr val="1F2937"/>
                </a:solidFill>
                <a:latin typeface="Calibri"/>
              </a:rPr>
              <a:t> $1.93M lower cost per breach.</a:t>
            </a:r>
          </a:p>
        </p:txBody>
      </p:sp>
      <p:graphicFrame>
        <p:nvGraphicFramePr>
          <p:cNvPr id="6" name="Chart 5"/>
          <p:cNvGraphicFramePr>
            <a:graphicFrameLocks noGrp="1"/>
          </p:cNvGraphicFramePr>
          <p:nvPr/>
        </p:nvGraphicFramePr>
        <p:xfrm>
          <a:off x="5074920" y="1600200"/>
          <a:ext cx="3246120" cy="3977639"/>
        </p:xfrm>
        <a:graphic>
          <a:graphicData uri="http://schemas.openxmlformats.org/drawingml/2006/chart">
            <c:chart xmlns:c="http://schemas.openxmlformats.org/drawingml/2006/chart" r:id="rId2"/>
          </a:graphicData>
        </a:graphic>
      </p:graphicFrame>
      <p:graphicFrame>
        <p:nvGraphicFramePr>
          <p:cNvPr id="7" name="Chart 6"/>
          <p:cNvGraphicFramePr>
            <a:graphicFrameLocks noGrp="1"/>
          </p:cNvGraphicFramePr>
          <p:nvPr/>
        </p:nvGraphicFramePr>
        <p:xfrm>
          <a:off x="8412480" y="1600200"/>
          <a:ext cx="3246120" cy="3977639"/>
        </p:xfrm>
        <a:graphic>
          <a:graphicData uri="http://schemas.openxmlformats.org/drawingml/2006/chart">
            <c:chart xmlns:c="http://schemas.openxmlformats.org/drawingml/2006/chart" r:id="rId3"/>
          </a:graphicData>
        </a:graphic>
      </p:graphicFrame>
      <p:sp>
        <p:nvSpPr>
          <p:cNvPr id="8" name="TextBox 7"/>
          <p:cNvSpPr txBox="1"/>
          <p:nvPr/>
        </p:nvSpPr>
        <p:spPr>
          <a:xfrm>
            <a:off x="5074920" y="5623560"/>
            <a:ext cx="6583680" cy="548640"/>
          </a:xfrm>
          <a:prstGeom prst="rect">
            <a:avLst/>
          </a:prstGeom>
          <a:noFill/>
        </p:spPr>
        <p:txBody>
          <a:bodyPr wrap="square" lIns="0" rIns="0" tIns="0" bIns="0" anchor="t">
            <a:spAutoFit/>
          </a:bodyPr>
          <a:lstStyle/>
          <a:p>
            <a:pPr algn="ctr">
              <a:lnSpc>
                <a:spcPct val="110000"/>
              </a:lnSpc>
              <a:spcAft>
                <a:spcPts val="600"/>
              </a:spcAft>
            </a:pPr>
            <a:r>
              <a:rPr sz="1300" b="1" i="0">
                <a:solidFill>
                  <a:srgbClr val="5B6472"/>
                </a:solidFill>
                <a:latin typeface="Calibri"/>
              </a:rPr>
              <a:t>−$1.90M and −80 days</a:t>
            </a:r>
            <a:r>
              <a:rPr sz="1300" b="0" i="0">
                <a:solidFill>
                  <a:srgbClr val="5B6472"/>
                </a:solidFill>
                <a:latin typeface="Calibri"/>
              </a:rPr>
              <a:t> with extensive security AI vs none (IBM, 2025). A correlation, not proof of cause.</a:t>
            </a:r>
          </a:p>
        </p:txBody>
      </p:sp>
      <p:cxnSp>
        <p:nvCxnSpPr>
          <p:cNvPr id="9" name="Connector 8"/>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WatchGuard Technologies (2026); Bracken (2026); IBM (2025, 2026).</a:t>
            </a:r>
          </a:p>
        </p:txBody>
      </p:sp>
      <p:sp>
        <p:nvSpPr>
          <p:cNvPr id="11" name="TextBox 10"/>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STEP 1 · TECHNIQUES AND CHALLENGES · Q1 · Q3</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What works best, and what gets in the way</a:t>
            </a:r>
          </a:p>
        </p:txBody>
      </p:sp>
      <p:sp>
        <p:nvSpPr>
          <p:cNvPr id="5" name="Rounded Rectangle 4"/>
          <p:cNvSpPr/>
          <p:nvPr/>
        </p:nvSpPr>
        <p:spPr>
          <a:xfrm>
            <a:off x="548640" y="1691640"/>
            <a:ext cx="521208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920240"/>
            <a:ext cx="46634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MOST EFFECTIVE TECHNIQUES</a:t>
            </a:r>
          </a:p>
        </p:txBody>
      </p:sp>
      <p:sp>
        <p:nvSpPr>
          <p:cNvPr id="7" name="TextBox 6"/>
          <p:cNvSpPr txBox="1"/>
          <p:nvPr/>
        </p:nvSpPr>
        <p:spPr>
          <a:xfrm>
            <a:off x="822959" y="2331720"/>
            <a:ext cx="4663440" cy="3474720"/>
          </a:xfrm>
          <a:prstGeom prst="rect">
            <a:avLst/>
          </a:prstGeom>
          <a:noFill/>
        </p:spPr>
        <p:txBody>
          <a:bodyPr wrap="square" lIns="0" rIns="0" tIns="0" bIns="0">
            <a:spAutoFit/>
          </a:bodyPr>
          <a:lstStyle/>
          <a:p>
            <a:pPr marL="256032" indent="-256032">
              <a:lnSpc>
                <a:spcPct val="110000"/>
              </a:lnSpc>
              <a:spcAft>
                <a:spcPts val="1400"/>
              </a:spcAft>
              <a:buClr>
                <a:srgbClr val="1E846F"/>
              </a:buClr>
              <a:buFont typeface="Arial"/>
              <a:buChar char="■"/>
            </a:pPr>
            <a:r>
              <a:rPr sz="1800" b="1" i="0">
                <a:solidFill>
                  <a:srgbClr val="1F2937"/>
                </a:solidFill>
                <a:latin typeface="Calibri"/>
              </a:rPr>
              <a:t>Behavioral ML</a:t>
            </a:r>
            <a:r>
              <a:rPr sz="1800" b="0" i="0">
                <a:solidFill>
                  <a:srgbClr val="1F2937"/>
                </a:solidFill>
                <a:latin typeface="Calibri"/>
              </a:rPr>
              <a:t> for malware-free attacks</a:t>
            </a:r>
          </a:p>
          <a:p>
            <a:pPr marL="256032" indent="-256032">
              <a:lnSpc>
                <a:spcPct val="110000"/>
              </a:lnSpc>
              <a:spcAft>
                <a:spcPts val="1400"/>
              </a:spcAft>
              <a:buClr>
                <a:srgbClr val="1E846F"/>
              </a:buClr>
              <a:buFont typeface="Arial"/>
              <a:buChar char="■"/>
            </a:pPr>
            <a:r>
              <a:rPr sz="1800" b="1" i="0">
                <a:solidFill>
                  <a:srgbClr val="1F2937"/>
                </a:solidFill>
                <a:latin typeface="Calibri"/>
              </a:rPr>
              <a:t>Deep learning</a:t>
            </a:r>
            <a:r>
              <a:rPr sz="1800" b="0" i="0">
                <a:solidFill>
                  <a:srgbClr val="1F2937"/>
                </a:solidFill>
                <a:latin typeface="Calibri"/>
              </a:rPr>
              <a:t> for unseen malware files</a:t>
            </a:r>
          </a:p>
          <a:p>
            <a:pPr marL="256032" indent="-256032">
              <a:lnSpc>
                <a:spcPct val="110000"/>
              </a:lnSpc>
              <a:spcAft>
                <a:spcPts val="1400"/>
              </a:spcAft>
              <a:buClr>
                <a:srgbClr val="1E846F"/>
              </a:buClr>
              <a:buFont typeface="Arial"/>
              <a:buChar char="■"/>
            </a:pPr>
            <a:r>
              <a:rPr sz="1800" b="1" i="0">
                <a:solidFill>
                  <a:srgbClr val="1F2937"/>
                </a:solidFill>
                <a:latin typeface="Calibri"/>
              </a:rPr>
              <a:t>LLM assistants</a:t>
            </a:r>
            <a:r>
              <a:rPr sz="1800" b="0" i="0">
                <a:solidFill>
                  <a:srgbClr val="1F2937"/>
                </a:solidFill>
                <a:latin typeface="Calibri"/>
              </a:rPr>
              <a:t> for faster triage</a:t>
            </a:r>
          </a:p>
          <a:p>
            <a:pPr marL="256032" indent="-256032">
              <a:lnSpc>
                <a:spcPct val="110000"/>
              </a:lnSpc>
              <a:spcAft>
                <a:spcPts val="1400"/>
              </a:spcAft>
              <a:buClr>
                <a:srgbClr val="1E846F"/>
              </a:buClr>
              <a:buFont typeface="Arial"/>
              <a:buChar char="■"/>
            </a:pPr>
            <a:r>
              <a:rPr sz="1800" b="0" i="0">
                <a:solidFill>
                  <a:srgbClr val="1F2937"/>
                </a:solidFill>
                <a:latin typeface="Calibri"/>
              </a:rPr>
              <a:t>Best results: all three, plus </a:t>
            </a:r>
            <a:r>
              <a:rPr sz="1800" b="1" i="0">
                <a:solidFill>
                  <a:srgbClr val="1F2937"/>
                </a:solidFill>
                <a:latin typeface="Calibri"/>
              </a:rPr>
              <a:t>human review</a:t>
            </a:r>
          </a:p>
        </p:txBody>
      </p:sp>
      <p:sp>
        <p:nvSpPr>
          <p:cNvPr id="8" name="TextBox 7"/>
          <p:cNvSpPr txBox="1"/>
          <p:nvPr/>
        </p:nvSpPr>
        <p:spPr>
          <a:xfrm>
            <a:off x="6172200" y="1737360"/>
            <a:ext cx="54864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IMPLEMENTATION CHALLENGES</a:t>
            </a:r>
          </a:p>
        </p:txBody>
      </p:sp>
      <p:sp>
        <p:nvSpPr>
          <p:cNvPr id="9" name="TextBox 8"/>
          <p:cNvSpPr txBox="1"/>
          <p:nvPr/>
        </p:nvSpPr>
        <p:spPr>
          <a:xfrm>
            <a:off x="6172200" y="2148840"/>
            <a:ext cx="5486400" cy="3749039"/>
          </a:xfrm>
          <a:prstGeom prst="rect">
            <a:avLst/>
          </a:prstGeom>
          <a:noFill/>
        </p:spPr>
        <p:txBody>
          <a:bodyPr wrap="square" lIns="0" rIns="0" tIns="0" bIns="0">
            <a:spAutoFit/>
          </a:bodyPr>
          <a:lstStyle/>
          <a:p>
            <a:pPr marL="256032" indent="-256032">
              <a:lnSpc>
                <a:spcPct val="110000"/>
              </a:lnSpc>
              <a:spcAft>
                <a:spcPts val="1400"/>
              </a:spcAft>
              <a:buClr>
                <a:srgbClr val="C0392B"/>
              </a:buClr>
              <a:buFont typeface="Arial"/>
              <a:buChar char="■"/>
            </a:pPr>
            <a:r>
              <a:rPr sz="1800" b="1" i="0">
                <a:solidFill>
                  <a:srgbClr val="1F2937"/>
                </a:solidFill>
                <a:latin typeface="Calibri"/>
              </a:rPr>
              <a:t>Noise:</a:t>
            </a:r>
            <a:r>
              <a:rPr sz="1800" b="0" i="0">
                <a:solidFill>
                  <a:srgbClr val="1F2937"/>
                </a:solidFill>
                <a:latin typeface="Calibri"/>
              </a:rPr>
              <a:t> 55% face too many false positives</a:t>
            </a:r>
          </a:p>
          <a:p>
            <a:pPr marL="256032" indent="-256032">
              <a:lnSpc>
                <a:spcPct val="110000"/>
              </a:lnSpc>
              <a:spcAft>
                <a:spcPts val="1400"/>
              </a:spcAft>
              <a:buClr>
                <a:srgbClr val="C0392B"/>
              </a:buClr>
              <a:buFont typeface="Arial"/>
              <a:buChar char="■"/>
            </a:pPr>
            <a:r>
              <a:rPr sz="1800" b="1" i="0">
                <a:solidFill>
                  <a:srgbClr val="1F2937"/>
                </a:solidFill>
                <a:latin typeface="Calibri"/>
              </a:rPr>
              <a:t>Trust:</a:t>
            </a:r>
            <a:r>
              <a:rPr sz="1800" b="0" i="0">
                <a:solidFill>
                  <a:srgbClr val="1F2937"/>
                </a:solidFill>
                <a:latin typeface="Calibri"/>
              </a:rPr>
              <a:t> only 11% fully trust AI for critical tasks</a:t>
            </a:r>
          </a:p>
          <a:p>
            <a:pPr marL="256032" indent="-256032">
              <a:lnSpc>
                <a:spcPct val="110000"/>
              </a:lnSpc>
              <a:spcAft>
                <a:spcPts val="1400"/>
              </a:spcAft>
              <a:buClr>
                <a:srgbClr val="C0392B"/>
              </a:buClr>
              <a:buFont typeface="Arial"/>
              <a:buChar char="■"/>
            </a:pPr>
            <a:r>
              <a:rPr sz="1800" b="1" i="0">
                <a:solidFill>
                  <a:srgbClr val="1F2937"/>
                </a:solidFill>
                <a:latin typeface="Calibri"/>
              </a:rPr>
              <a:t>Skills:</a:t>
            </a:r>
            <a:r>
              <a:rPr sz="1800" b="0" i="0">
                <a:solidFill>
                  <a:srgbClr val="1F2937"/>
                </a:solidFill>
                <a:latin typeface="Calibri"/>
              </a:rPr>
              <a:t> 59% report critical skill needs</a:t>
            </a:r>
          </a:p>
          <a:p>
            <a:pPr marL="256032" indent="-256032">
              <a:lnSpc>
                <a:spcPct val="110000"/>
              </a:lnSpc>
              <a:spcAft>
                <a:spcPts val="1400"/>
              </a:spcAft>
              <a:buClr>
                <a:srgbClr val="C0392B"/>
              </a:buClr>
              <a:buFont typeface="Arial"/>
              <a:buChar char="■"/>
            </a:pPr>
            <a:r>
              <a:rPr sz="1800" b="1" i="0">
                <a:solidFill>
                  <a:srgbClr val="1F2937"/>
                </a:solidFill>
                <a:latin typeface="Calibri"/>
              </a:rPr>
              <a:t>AI as a target:</a:t>
            </a:r>
            <a:r>
              <a:rPr sz="1800" b="0" i="0">
                <a:solidFill>
                  <a:srgbClr val="1F2937"/>
                </a:solidFill>
                <a:latin typeface="Calibri"/>
              </a:rPr>
              <a:t> 97% of firms with AI breaches lacked AI access controls</a:t>
            </a:r>
          </a:p>
        </p:txBody>
      </p:sp>
      <p:cxnSp>
        <p:nvCxnSpPr>
          <p:cNvPr id="10" name="Connector 9"/>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Cisco (2025a); CrowdStrike (2026b); ISC2 (2025); IBM (2025).</a:t>
            </a:r>
          </a:p>
        </p:txBody>
      </p:sp>
      <p:sp>
        <p:nvSpPr>
          <p:cNvPr id="12" name="TextBox 11"/>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STEP 2 · REAL-TIME THREAT INTELLIGENCE · Q5</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AI threat intelligence at machine speed</a:t>
            </a:r>
          </a:p>
        </p:txBody>
      </p:sp>
      <p:sp>
        <p:nvSpPr>
          <p:cNvPr id="5" name="TextBox 4"/>
          <p:cNvSpPr txBox="1"/>
          <p:nvPr/>
        </p:nvSpPr>
        <p:spPr>
          <a:xfrm>
            <a:off x="548640" y="1508760"/>
            <a:ext cx="11094415" cy="365760"/>
          </a:xfrm>
          <a:prstGeom prst="rect">
            <a:avLst/>
          </a:prstGeom>
          <a:noFill/>
        </p:spPr>
        <p:txBody>
          <a:bodyPr wrap="square" lIns="0" rIns="0" tIns="0" bIns="0" anchor="t">
            <a:spAutoFit/>
          </a:bodyPr>
          <a:lstStyle/>
          <a:p>
            <a:pPr algn="l">
              <a:lnSpc>
                <a:spcPct val="110000"/>
              </a:lnSpc>
              <a:spcAft>
                <a:spcPts val="600"/>
              </a:spcAft>
            </a:pPr>
            <a:r>
              <a:rPr sz="1600" b="0" i="0">
                <a:solidFill>
                  <a:srgbClr val="1F2937"/>
                </a:solidFill>
                <a:latin typeface="Calibri"/>
              </a:rPr>
              <a:t>Why speed matters: in 2025, average eCrime breakout time fell to </a:t>
            </a:r>
            <a:r>
              <a:rPr sz="1600" b="1" i="0">
                <a:solidFill>
                  <a:srgbClr val="1F2937"/>
                </a:solidFill>
                <a:latin typeface="Calibri"/>
              </a:rPr>
              <a:t>29 minutes</a:t>
            </a:r>
            <a:r>
              <a:rPr sz="1600" b="0" i="0">
                <a:solidFill>
                  <a:srgbClr val="1F2937"/>
                </a:solidFill>
                <a:latin typeface="Calibri"/>
              </a:rPr>
              <a:t>.</a:t>
            </a:r>
          </a:p>
        </p:txBody>
      </p:sp>
      <p:sp>
        <p:nvSpPr>
          <p:cNvPr id="6" name="Rounded Rectangle 5"/>
          <p:cNvSpPr/>
          <p:nvPr/>
        </p:nvSpPr>
        <p:spPr>
          <a:xfrm>
            <a:off x="548640" y="2148840"/>
            <a:ext cx="3566160" cy="36118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2148840"/>
            <a:ext cx="3566160" cy="82296"/>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377440"/>
            <a:ext cx="3108960" cy="365760"/>
          </a:xfrm>
          <a:prstGeom prst="rect">
            <a:avLst/>
          </a:prstGeom>
          <a:noFill/>
        </p:spPr>
        <p:txBody>
          <a:bodyPr wrap="square" lIns="0" rIns="0" tIns="0" bIns="0" anchor="t">
            <a:spAutoFit/>
          </a:bodyPr>
          <a:lstStyle/>
          <a:p>
            <a:pPr algn="l">
              <a:lnSpc>
                <a:spcPct val="110000"/>
              </a:lnSpc>
              <a:spcAft>
                <a:spcPts val="0"/>
              </a:spcAft>
            </a:pPr>
            <a:r>
              <a:rPr sz="2000" b="1" i="0">
                <a:solidFill>
                  <a:srgbClr val="0F1B2D"/>
                </a:solidFill>
                <a:latin typeface="Calibri"/>
              </a:rPr>
              <a:t>CrowdStrike</a:t>
            </a:r>
          </a:p>
        </p:txBody>
      </p:sp>
      <p:sp>
        <p:nvSpPr>
          <p:cNvPr id="9" name="TextBox 8"/>
          <p:cNvSpPr txBox="1"/>
          <p:nvPr/>
        </p:nvSpPr>
        <p:spPr>
          <a:xfrm>
            <a:off x="777240" y="2770632"/>
            <a:ext cx="3108960" cy="32004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CHARLOTTE AI</a:t>
            </a:r>
          </a:p>
        </p:txBody>
      </p:sp>
      <p:sp>
        <p:nvSpPr>
          <p:cNvPr id="10" name="TextBox 9"/>
          <p:cNvSpPr txBox="1"/>
          <p:nvPr/>
        </p:nvSpPr>
        <p:spPr>
          <a:xfrm>
            <a:off x="777240" y="3154680"/>
            <a:ext cx="3108960" cy="2468880"/>
          </a:xfrm>
          <a:prstGeom prst="rect">
            <a:avLst/>
          </a:prstGeom>
          <a:noFill/>
        </p:spPr>
        <p:txBody>
          <a:bodyPr wrap="square" lIns="0" rIns="0" tIns="0" bIns="0" anchor="t">
            <a:spAutoFit/>
          </a:bodyPr>
          <a:lstStyle/>
          <a:p>
            <a:pPr algn="l">
              <a:lnSpc>
                <a:spcPct val="110000"/>
              </a:lnSpc>
              <a:spcAft>
                <a:spcPts val="200"/>
              </a:spcAft>
            </a:pPr>
            <a:r>
              <a:rPr sz="1600" b="1" i="0">
                <a:solidFill>
                  <a:srgbClr val="1F2937"/>
                </a:solidFill>
                <a:latin typeface="Calibri"/>
              </a:rPr>
              <a:t>SOC tool</a:t>
            </a:r>
          </a:p>
          <a:p>
            <a:pPr algn="l">
              <a:lnSpc>
                <a:spcPct val="110000"/>
              </a:lnSpc>
              <a:spcAft>
                <a:spcPts val="200"/>
              </a:spcAft>
            </a:pPr>
            <a:r>
              <a:rPr sz="1600" b="0" i="0">
                <a:solidFill>
                  <a:srgbClr val="1F2937"/>
                </a:solidFill>
                <a:latin typeface="Calibri"/>
              </a:rPr>
              <a:t>Agentic alert triage, trained on millions of analyst decisions.</a:t>
            </a:r>
          </a:p>
          <a:p>
            <a:pPr algn="l">
              <a:lnSpc>
                <a:spcPct val="110000"/>
              </a:lnSpc>
              <a:spcBef>
                <a:spcPts val="800"/>
              </a:spcBef>
              <a:spcAft>
                <a:spcPts val="200"/>
              </a:spcAft>
            </a:pPr>
            <a:r>
              <a:rPr sz="1600" b="1" i="0">
                <a:solidFill>
                  <a:srgbClr val="1F2937"/>
                </a:solidFill>
                <a:latin typeface="Calibri"/>
              </a:rPr>
              <a:t>Result</a:t>
            </a:r>
          </a:p>
          <a:p>
            <a:pPr algn="l">
              <a:lnSpc>
                <a:spcPct val="110000"/>
              </a:lnSpc>
              <a:spcAft>
                <a:spcPts val="200"/>
              </a:spcAft>
            </a:pPr>
            <a:r>
              <a:rPr sz="1600" b="1" i="0">
                <a:solidFill>
                  <a:srgbClr val="1F2937"/>
                </a:solidFill>
                <a:latin typeface="Calibri"/>
              </a:rPr>
              <a:t>98%+ triage accuracy</a:t>
            </a:r>
            <a:r>
              <a:rPr sz="1600" b="0" i="0">
                <a:solidFill>
                  <a:srgbClr val="1F2937"/>
                </a:solidFill>
                <a:latin typeface="Calibri"/>
              </a:rPr>
              <a:t> and about 40 analyst hours saved a week (vendor).</a:t>
            </a:r>
          </a:p>
        </p:txBody>
      </p:sp>
      <p:sp>
        <p:nvSpPr>
          <p:cNvPr id="11" name="Rounded Rectangle 10"/>
          <p:cNvSpPr/>
          <p:nvPr/>
        </p:nvSpPr>
        <p:spPr>
          <a:xfrm>
            <a:off x="4407408" y="2148840"/>
            <a:ext cx="3566160" cy="36118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2148840"/>
            <a:ext cx="3566160" cy="82296"/>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36008" y="2377440"/>
            <a:ext cx="3108960" cy="365760"/>
          </a:xfrm>
          <a:prstGeom prst="rect">
            <a:avLst/>
          </a:prstGeom>
          <a:noFill/>
        </p:spPr>
        <p:txBody>
          <a:bodyPr wrap="square" lIns="0" rIns="0" tIns="0" bIns="0" anchor="t">
            <a:spAutoFit/>
          </a:bodyPr>
          <a:lstStyle/>
          <a:p>
            <a:pPr algn="l">
              <a:lnSpc>
                <a:spcPct val="110000"/>
              </a:lnSpc>
              <a:spcAft>
                <a:spcPts val="0"/>
              </a:spcAft>
            </a:pPr>
            <a:r>
              <a:rPr sz="2000" b="1" i="0">
                <a:solidFill>
                  <a:srgbClr val="0F1B2D"/>
                </a:solidFill>
                <a:latin typeface="Calibri"/>
              </a:rPr>
              <a:t>SentinelOne</a:t>
            </a:r>
          </a:p>
        </p:txBody>
      </p:sp>
      <p:sp>
        <p:nvSpPr>
          <p:cNvPr id="14" name="TextBox 13"/>
          <p:cNvSpPr txBox="1"/>
          <p:nvPr/>
        </p:nvSpPr>
        <p:spPr>
          <a:xfrm>
            <a:off x="4636008" y="2770632"/>
            <a:ext cx="3108960" cy="32004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PURPLE AI</a:t>
            </a:r>
          </a:p>
        </p:txBody>
      </p:sp>
      <p:sp>
        <p:nvSpPr>
          <p:cNvPr id="15" name="TextBox 14"/>
          <p:cNvSpPr txBox="1"/>
          <p:nvPr/>
        </p:nvSpPr>
        <p:spPr>
          <a:xfrm>
            <a:off x="4636008" y="3154680"/>
            <a:ext cx="3108960" cy="2468880"/>
          </a:xfrm>
          <a:prstGeom prst="rect">
            <a:avLst/>
          </a:prstGeom>
          <a:noFill/>
        </p:spPr>
        <p:txBody>
          <a:bodyPr wrap="square" lIns="0" rIns="0" tIns="0" bIns="0" anchor="t">
            <a:spAutoFit/>
          </a:bodyPr>
          <a:lstStyle/>
          <a:p>
            <a:pPr algn="l">
              <a:lnSpc>
                <a:spcPct val="110000"/>
              </a:lnSpc>
              <a:spcAft>
                <a:spcPts val="200"/>
              </a:spcAft>
            </a:pPr>
            <a:r>
              <a:rPr sz="1600" b="1" i="0">
                <a:solidFill>
                  <a:srgbClr val="1F2937"/>
                </a:solidFill>
                <a:latin typeface="Calibri"/>
              </a:rPr>
              <a:t>SOC tool</a:t>
            </a:r>
          </a:p>
          <a:p>
            <a:pPr algn="l">
              <a:lnSpc>
                <a:spcPct val="110000"/>
              </a:lnSpc>
              <a:spcAft>
                <a:spcPts val="200"/>
              </a:spcAft>
            </a:pPr>
            <a:r>
              <a:rPr sz="1600" b="0" i="0">
                <a:solidFill>
                  <a:srgbClr val="1F2937"/>
                </a:solidFill>
                <a:latin typeface="Calibri"/>
              </a:rPr>
              <a:t>Agentic investigation, opened to all customers in 2026.</a:t>
            </a:r>
          </a:p>
          <a:p>
            <a:pPr algn="l">
              <a:lnSpc>
                <a:spcPct val="110000"/>
              </a:lnSpc>
              <a:spcBef>
                <a:spcPts val="800"/>
              </a:spcBef>
              <a:spcAft>
                <a:spcPts val="200"/>
              </a:spcAft>
            </a:pPr>
            <a:r>
              <a:rPr sz="1600" b="1" i="0">
                <a:solidFill>
                  <a:srgbClr val="1F2937"/>
                </a:solidFill>
                <a:latin typeface="Calibri"/>
              </a:rPr>
              <a:t>Result</a:t>
            </a:r>
          </a:p>
          <a:p>
            <a:pPr algn="l">
              <a:lnSpc>
                <a:spcPct val="110000"/>
              </a:lnSpc>
              <a:spcAft>
                <a:spcPts val="200"/>
              </a:spcAft>
            </a:pPr>
            <a:r>
              <a:rPr sz="1600" b="0" i="0">
                <a:solidFill>
                  <a:srgbClr val="1F2937"/>
                </a:solidFill>
                <a:latin typeface="Calibri"/>
              </a:rPr>
              <a:t>MITRE 2024: all 16 attack steps detected, </a:t>
            </a:r>
            <a:r>
              <a:rPr sz="1600" b="1" i="0">
                <a:solidFill>
                  <a:srgbClr val="1F2937"/>
                </a:solidFill>
                <a:latin typeface="Calibri"/>
              </a:rPr>
              <a:t>88% fewer alerts</a:t>
            </a:r>
            <a:r>
              <a:rPr sz="1600" b="0" i="0">
                <a:solidFill>
                  <a:srgbClr val="1F2937"/>
                </a:solidFill>
                <a:latin typeface="Calibri"/>
              </a:rPr>
              <a:t> than the median (vendor).</a:t>
            </a:r>
          </a:p>
        </p:txBody>
      </p:sp>
      <p:sp>
        <p:nvSpPr>
          <p:cNvPr id="16" name="Rounded Rectangle 15"/>
          <p:cNvSpPr/>
          <p:nvPr/>
        </p:nvSpPr>
        <p:spPr>
          <a:xfrm>
            <a:off x="8266175" y="2148840"/>
            <a:ext cx="3566160" cy="36118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66175" y="2148840"/>
            <a:ext cx="356616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94776" y="2377440"/>
            <a:ext cx="3108960" cy="365760"/>
          </a:xfrm>
          <a:prstGeom prst="rect">
            <a:avLst/>
          </a:prstGeom>
          <a:noFill/>
        </p:spPr>
        <p:txBody>
          <a:bodyPr wrap="square" lIns="0" rIns="0" tIns="0" bIns="0" anchor="t">
            <a:spAutoFit/>
          </a:bodyPr>
          <a:lstStyle/>
          <a:p>
            <a:pPr algn="l">
              <a:lnSpc>
                <a:spcPct val="110000"/>
              </a:lnSpc>
              <a:spcAft>
                <a:spcPts val="0"/>
              </a:spcAft>
            </a:pPr>
            <a:r>
              <a:rPr sz="2000" b="1" i="0">
                <a:solidFill>
                  <a:srgbClr val="0F1B2D"/>
                </a:solidFill>
                <a:latin typeface="Calibri"/>
              </a:rPr>
              <a:t>Splunk (Cisco)</a:t>
            </a:r>
          </a:p>
        </p:txBody>
      </p:sp>
      <p:sp>
        <p:nvSpPr>
          <p:cNvPr id="19" name="TextBox 18"/>
          <p:cNvSpPr txBox="1"/>
          <p:nvPr/>
        </p:nvSpPr>
        <p:spPr>
          <a:xfrm>
            <a:off x="8494776" y="2770632"/>
            <a:ext cx="3108960" cy="32004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AI IN THE SIEM</a:t>
            </a:r>
          </a:p>
        </p:txBody>
      </p:sp>
      <p:sp>
        <p:nvSpPr>
          <p:cNvPr id="20" name="TextBox 19"/>
          <p:cNvSpPr txBox="1"/>
          <p:nvPr/>
        </p:nvSpPr>
        <p:spPr>
          <a:xfrm>
            <a:off x="8494776" y="3154680"/>
            <a:ext cx="3108960" cy="2468880"/>
          </a:xfrm>
          <a:prstGeom prst="rect">
            <a:avLst/>
          </a:prstGeom>
          <a:noFill/>
        </p:spPr>
        <p:txBody>
          <a:bodyPr wrap="square" lIns="0" rIns="0" tIns="0" bIns="0" anchor="t">
            <a:spAutoFit/>
          </a:bodyPr>
          <a:lstStyle/>
          <a:p>
            <a:pPr algn="l">
              <a:lnSpc>
                <a:spcPct val="110000"/>
              </a:lnSpc>
              <a:spcAft>
                <a:spcPts val="200"/>
              </a:spcAft>
            </a:pPr>
            <a:r>
              <a:rPr sz="1600" b="1" i="0">
                <a:solidFill>
                  <a:srgbClr val="1F2937"/>
                </a:solidFill>
                <a:latin typeface="Calibri"/>
              </a:rPr>
              <a:t>SOC tool</a:t>
            </a:r>
          </a:p>
          <a:p>
            <a:pPr algn="l">
              <a:lnSpc>
                <a:spcPct val="110000"/>
              </a:lnSpc>
              <a:spcAft>
                <a:spcPts val="200"/>
              </a:spcAft>
            </a:pPr>
            <a:r>
              <a:rPr sz="1600" b="0" i="0">
                <a:solidFill>
                  <a:srgbClr val="1F2937"/>
                </a:solidFill>
                <a:latin typeface="Calibri"/>
              </a:rPr>
              <a:t>Enterprise Security 8.2, with Triage and Malware Reversal agents announced alongside (Triage due 2026).</a:t>
            </a:r>
          </a:p>
          <a:p>
            <a:pPr algn="l">
              <a:lnSpc>
                <a:spcPct val="110000"/>
              </a:lnSpc>
              <a:spcBef>
                <a:spcPts val="800"/>
              </a:spcBef>
              <a:spcAft>
                <a:spcPts val="200"/>
              </a:spcAft>
            </a:pPr>
            <a:r>
              <a:rPr sz="1600" b="1" i="0">
                <a:solidFill>
                  <a:srgbClr val="1F2937"/>
                </a:solidFill>
                <a:latin typeface="Calibri"/>
              </a:rPr>
              <a:t>Industry survey</a:t>
            </a:r>
          </a:p>
          <a:p>
            <a:pPr algn="l">
              <a:lnSpc>
                <a:spcPct val="110000"/>
              </a:lnSpc>
              <a:spcAft>
                <a:spcPts val="200"/>
              </a:spcAft>
            </a:pPr>
            <a:r>
              <a:rPr sz="1600" b="0" i="0">
                <a:solidFill>
                  <a:srgbClr val="1F2937"/>
                </a:solidFill>
                <a:latin typeface="Calibri"/>
              </a:rPr>
              <a:t>59% of security leaders say AI raised their efficiency.</a:t>
            </a:r>
          </a:p>
        </p:txBody>
      </p:sp>
      <p:cxnSp>
        <p:nvCxnSpPr>
          <p:cNvPr id="21" name="Connector 20"/>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CrowdStrike (2025a, 2026a); SentinelOne (2024, 2026); Cisco (2025a, 2025b).</a:t>
            </a:r>
          </a:p>
        </p:txBody>
      </p:sp>
      <p:sp>
        <p:nvSpPr>
          <p:cNvPr id="23" name="TextBox 22"/>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STEP 2 · PREDICTIVE ANALYTICS AND HUNTING · Q4 · Q6</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From reactive to proactive threat intelligence</a:t>
            </a:r>
          </a:p>
        </p:txBody>
      </p:sp>
      <p:sp>
        <p:nvSpPr>
          <p:cNvPr id="5" name="Rectangle 4"/>
          <p:cNvSpPr/>
          <p:nvPr/>
        </p:nvSpPr>
        <p:spPr>
          <a:xfrm>
            <a:off x="1920240" y="1691640"/>
            <a:ext cx="2322576" cy="493776"/>
          </a:xfrm>
          <a:prstGeom prst="rect">
            <a:avLst/>
          </a:prstGeom>
          <a:solidFill>
            <a:srgbClr val="9A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057400" y="1810512"/>
            <a:ext cx="2103120" cy="566928"/>
          </a:xfrm>
          <a:prstGeom prst="rect">
            <a:avLst/>
          </a:prstGeom>
          <a:noFill/>
        </p:spPr>
        <p:txBody>
          <a:bodyPr wrap="square" lIns="0" rIns="0" tIns="0" bIns="0" anchor="t">
            <a:spAutoFit/>
          </a:bodyPr>
          <a:lstStyle/>
          <a:p>
            <a:pPr algn="l">
              <a:lnSpc>
                <a:spcPct val="110000"/>
              </a:lnSpc>
              <a:spcAft>
                <a:spcPts val="600"/>
              </a:spcAft>
            </a:pPr>
            <a:r>
              <a:rPr sz="1500" b="1" i="0">
                <a:solidFill>
                  <a:srgbClr val="FFFFFF"/>
                </a:solidFill>
                <a:latin typeface="Calibri"/>
              </a:rPr>
              <a:t>Reactive (traditional)</a:t>
            </a:r>
          </a:p>
        </p:txBody>
      </p:sp>
      <p:sp>
        <p:nvSpPr>
          <p:cNvPr id="7" name="Rectangle 6"/>
          <p:cNvSpPr/>
          <p:nvPr/>
        </p:nvSpPr>
        <p:spPr>
          <a:xfrm>
            <a:off x="4297680" y="1691640"/>
            <a:ext cx="2871216" cy="493776"/>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34840" y="1810512"/>
            <a:ext cx="2651760" cy="566928"/>
          </a:xfrm>
          <a:prstGeom prst="rect">
            <a:avLst/>
          </a:prstGeom>
          <a:noFill/>
        </p:spPr>
        <p:txBody>
          <a:bodyPr wrap="square" lIns="0" rIns="0" tIns="0" bIns="0" anchor="t">
            <a:spAutoFit/>
          </a:bodyPr>
          <a:lstStyle/>
          <a:p>
            <a:pPr algn="l">
              <a:lnSpc>
                <a:spcPct val="110000"/>
              </a:lnSpc>
              <a:spcAft>
                <a:spcPts val="600"/>
              </a:spcAft>
            </a:pPr>
            <a:r>
              <a:rPr sz="1500" b="1" i="0">
                <a:solidFill>
                  <a:srgbClr val="FFFFFF"/>
                </a:solidFill>
                <a:latin typeface="Calibri"/>
              </a:rPr>
              <a:t>Proactive (AI-driven)</a:t>
            </a:r>
          </a:p>
        </p:txBody>
      </p:sp>
      <p:sp>
        <p:nvSpPr>
          <p:cNvPr id="9" name="TextBox 8"/>
          <p:cNvSpPr txBox="1"/>
          <p:nvPr/>
        </p:nvSpPr>
        <p:spPr>
          <a:xfrm>
            <a:off x="548640" y="2368296"/>
            <a:ext cx="1097280" cy="566928"/>
          </a:xfrm>
          <a:prstGeom prst="rect">
            <a:avLst/>
          </a:prstGeom>
          <a:noFill/>
        </p:spPr>
        <p:txBody>
          <a:bodyPr wrap="square" lIns="0" rIns="0" tIns="0" bIns="0" anchor="t">
            <a:spAutoFit/>
          </a:bodyPr>
          <a:lstStyle/>
          <a:p>
            <a:pPr algn="l">
              <a:lnSpc>
                <a:spcPct val="110000"/>
              </a:lnSpc>
              <a:spcAft>
                <a:spcPts val="600"/>
              </a:spcAft>
            </a:pPr>
            <a:r>
              <a:rPr sz="1500" b="1" i="0">
                <a:solidFill>
                  <a:srgbClr val="5B6472"/>
                </a:solidFill>
                <a:latin typeface="Calibri"/>
              </a:rPr>
              <a:t>Trigger</a:t>
            </a:r>
          </a:p>
        </p:txBody>
      </p:sp>
      <p:sp>
        <p:nvSpPr>
          <p:cNvPr id="10" name="TextBox 9"/>
          <p:cNvSpPr txBox="1"/>
          <p:nvPr/>
        </p:nvSpPr>
        <p:spPr>
          <a:xfrm>
            <a:off x="2057400" y="2368296"/>
            <a:ext cx="2103120" cy="566928"/>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Known IOCs and signatures</a:t>
            </a:r>
          </a:p>
        </p:txBody>
      </p:sp>
      <p:sp>
        <p:nvSpPr>
          <p:cNvPr id="11" name="TextBox 10"/>
          <p:cNvSpPr txBox="1"/>
          <p:nvPr/>
        </p:nvSpPr>
        <p:spPr>
          <a:xfrm>
            <a:off x="4434840" y="2368296"/>
            <a:ext cx="2651760" cy="566928"/>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Behavior and predicted exploits</a:t>
            </a:r>
          </a:p>
        </p:txBody>
      </p:sp>
      <p:cxnSp>
        <p:nvCxnSpPr>
          <p:cNvPr id="12" name="Connector 11"/>
          <p:cNvCxnSpPr/>
          <p:nvPr/>
        </p:nvCxnSpPr>
        <p:spPr>
          <a:xfrm>
            <a:off x="548640" y="2825496"/>
            <a:ext cx="6675120"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2935224"/>
            <a:ext cx="1097280" cy="566928"/>
          </a:xfrm>
          <a:prstGeom prst="rect">
            <a:avLst/>
          </a:prstGeom>
          <a:noFill/>
        </p:spPr>
        <p:txBody>
          <a:bodyPr wrap="square" lIns="0" rIns="0" tIns="0" bIns="0" anchor="t">
            <a:spAutoFit/>
          </a:bodyPr>
          <a:lstStyle/>
          <a:p>
            <a:pPr algn="l">
              <a:lnSpc>
                <a:spcPct val="110000"/>
              </a:lnSpc>
              <a:spcAft>
                <a:spcPts val="600"/>
              </a:spcAft>
            </a:pPr>
            <a:r>
              <a:rPr sz="1500" b="1" i="0">
                <a:solidFill>
                  <a:srgbClr val="5B6472"/>
                </a:solidFill>
                <a:latin typeface="Calibri"/>
              </a:rPr>
              <a:t>Timing</a:t>
            </a:r>
          </a:p>
        </p:txBody>
      </p:sp>
      <p:sp>
        <p:nvSpPr>
          <p:cNvPr id="14" name="TextBox 13"/>
          <p:cNvSpPr txBox="1"/>
          <p:nvPr/>
        </p:nvSpPr>
        <p:spPr>
          <a:xfrm>
            <a:off x="2057400" y="2935224"/>
            <a:ext cx="2103120" cy="566928"/>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After compromise</a:t>
            </a:r>
          </a:p>
        </p:txBody>
      </p:sp>
      <p:sp>
        <p:nvSpPr>
          <p:cNvPr id="15" name="TextBox 14"/>
          <p:cNvSpPr txBox="1"/>
          <p:nvPr/>
        </p:nvSpPr>
        <p:spPr>
          <a:xfrm>
            <a:off x="4434840" y="2935224"/>
            <a:ext cx="2651760" cy="566928"/>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Before or during breakout</a:t>
            </a:r>
          </a:p>
        </p:txBody>
      </p:sp>
      <p:cxnSp>
        <p:nvCxnSpPr>
          <p:cNvPr id="16" name="Connector 15"/>
          <p:cNvCxnSpPr/>
          <p:nvPr/>
        </p:nvCxnSpPr>
        <p:spPr>
          <a:xfrm>
            <a:off x="548640" y="3392424"/>
            <a:ext cx="6675120"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3502152"/>
            <a:ext cx="1097280" cy="566928"/>
          </a:xfrm>
          <a:prstGeom prst="rect">
            <a:avLst/>
          </a:prstGeom>
          <a:noFill/>
        </p:spPr>
        <p:txBody>
          <a:bodyPr wrap="square" lIns="0" rIns="0" tIns="0" bIns="0" anchor="t">
            <a:spAutoFit/>
          </a:bodyPr>
          <a:lstStyle/>
          <a:p>
            <a:pPr algn="l">
              <a:lnSpc>
                <a:spcPct val="110000"/>
              </a:lnSpc>
              <a:spcAft>
                <a:spcPts val="600"/>
              </a:spcAft>
            </a:pPr>
            <a:r>
              <a:rPr sz="1500" b="1" i="0">
                <a:solidFill>
                  <a:srgbClr val="5B6472"/>
                </a:solidFill>
                <a:latin typeface="Calibri"/>
              </a:rPr>
              <a:t>Hunting</a:t>
            </a:r>
          </a:p>
        </p:txBody>
      </p:sp>
      <p:sp>
        <p:nvSpPr>
          <p:cNvPr id="18" name="TextBox 17"/>
          <p:cNvSpPr txBox="1"/>
          <p:nvPr/>
        </p:nvSpPr>
        <p:spPr>
          <a:xfrm>
            <a:off x="2057400" y="3502152"/>
            <a:ext cx="2103120" cy="566928"/>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Manual expert queries</a:t>
            </a:r>
          </a:p>
        </p:txBody>
      </p:sp>
      <p:sp>
        <p:nvSpPr>
          <p:cNvPr id="19" name="TextBox 18"/>
          <p:cNvSpPr txBox="1"/>
          <p:nvPr/>
        </p:nvSpPr>
        <p:spPr>
          <a:xfrm>
            <a:off x="4434840" y="3502152"/>
            <a:ext cx="2651760" cy="566928"/>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Agentic investigation</a:t>
            </a:r>
          </a:p>
        </p:txBody>
      </p:sp>
      <p:cxnSp>
        <p:nvCxnSpPr>
          <p:cNvPr id="20" name="Connector 19"/>
          <p:cNvCxnSpPr/>
          <p:nvPr/>
        </p:nvCxnSpPr>
        <p:spPr>
          <a:xfrm>
            <a:off x="548640" y="3959352"/>
            <a:ext cx="6675120"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4069080"/>
            <a:ext cx="1097280" cy="566928"/>
          </a:xfrm>
          <a:prstGeom prst="rect">
            <a:avLst/>
          </a:prstGeom>
          <a:noFill/>
        </p:spPr>
        <p:txBody>
          <a:bodyPr wrap="square" lIns="0" rIns="0" tIns="0" bIns="0" anchor="t">
            <a:spAutoFit/>
          </a:bodyPr>
          <a:lstStyle/>
          <a:p>
            <a:pPr algn="l">
              <a:lnSpc>
                <a:spcPct val="110000"/>
              </a:lnSpc>
              <a:spcAft>
                <a:spcPts val="600"/>
              </a:spcAft>
            </a:pPr>
            <a:r>
              <a:rPr sz="1500" b="1" i="0">
                <a:solidFill>
                  <a:srgbClr val="5B6472"/>
                </a:solidFill>
                <a:latin typeface="Calibri"/>
              </a:rPr>
              <a:t>Alerts</a:t>
            </a:r>
          </a:p>
        </p:txBody>
      </p:sp>
      <p:sp>
        <p:nvSpPr>
          <p:cNvPr id="22" name="TextBox 21"/>
          <p:cNvSpPr txBox="1"/>
          <p:nvPr/>
        </p:nvSpPr>
        <p:spPr>
          <a:xfrm>
            <a:off x="2057400" y="4069080"/>
            <a:ext cx="2103120" cy="566928"/>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40% never investigated</a:t>
            </a:r>
          </a:p>
        </p:txBody>
      </p:sp>
      <p:sp>
        <p:nvSpPr>
          <p:cNvPr id="23" name="TextBox 22"/>
          <p:cNvSpPr txBox="1"/>
          <p:nvPr/>
        </p:nvSpPr>
        <p:spPr>
          <a:xfrm>
            <a:off x="4434840" y="4069080"/>
            <a:ext cx="2651760" cy="566928"/>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AI agents triage and explain</a:t>
            </a:r>
          </a:p>
        </p:txBody>
      </p:sp>
      <p:cxnSp>
        <p:nvCxnSpPr>
          <p:cNvPr id="24" name="Connector 23"/>
          <p:cNvCxnSpPr/>
          <p:nvPr/>
        </p:nvCxnSpPr>
        <p:spPr>
          <a:xfrm>
            <a:off x="548640" y="4526280"/>
            <a:ext cx="6675120"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543800" y="1691640"/>
            <a:ext cx="4099255"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EVIDENCE</a:t>
            </a:r>
          </a:p>
        </p:txBody>
      </p:sp>
      <p:sp>
        <p:nvSpPr>
          <p:cNvPr id="26" name="TextBox 25"/>
          <p:cNvSpPr txBox="1"/>
          <p:nvPr/>
        </p:nvSpPr>
        <p:spPr>
          <a:xfrm>
            <a:off x="7543800" y="2057400"/>
            <a:ext cx="4099255" cy="3931920"/>
          </a:xfrm>
          <a:prstGeom prst="rect">
            <a:avLst/>
          </a:prstGeom>
          <a:noFill/>
        </p:spPr>
        <p:txBody>
          <a:bodyPr wrap="square" lIns="0" rIns="0" tIns="0" bIns="0">
            <a:spAutoFit/>
          </a:bodyPr>
          <a:lstStyle/>
          <a:p>
            <a:pPr marL="256032" indent="-256032">
              <a:lnSpc>
                <a:spcPct val="110000"/>
              </a:lnSpc>
              <a:spcAft>
                <a:spcPts val="1200"/>
              </a:spcAft>
              <a:buClr>
                <a:srgbClr val="1F5FAD"/>
              </a:buClr>
              <a:buFont typeface="Arial"/>
              <a:buChar char="■"/>
            </a:pPr>
            <a:r>
              <a:rPr sz="1500" b="1" i="0">
                <a:solidFill>
                  <a:srgbClr val="1F2937"/>
                </a:solidFill>
                <a:latin typeface="Calibri"/>
              </a:rPr>
              <a:t>Zero-day stopped:</a:t>
            </a:r>
            <a:r>
              <a:rPr sz="1500" b="0" i="0">
                <a:solidFill>
                  <a:srgbClr val="1F2937"/>
                </a:solidFill>
                <a:latin typeface="Calibri"/>
              </a:rPr>
              <a:t> Google's threat intelligence plus its Big Sleep AI predicted a SQLite exploit (CVE-2025-6965) and cut it off.</a:t>
            </a:r>
          </a:p>
          <a:p>
            <a:pPr marL="256032" indent="-256032">
              <a:lnSpc>
                <a:spcPct val="110000"/>
              </a:lnSpc>
              <a:spcAft>
                <a:spcPts val="1200"/>
              </a:spcAft>
              <a:buClr>
                <a:srgbClr val="1F5FAD"/>
              </a:buClr>
              <a:buFont typeface="Arial"/>
              <a:buChar char="■"/>
            </a:pPr>
            <a:r>
              <a:rPr sz="1500" b="1" i="0">
                <a:solidFill>
                  <a:srgbClr val="1F2937"/>
                </a:solidFill>
                <a:latin typeface="Calibri"/>
              </a:rPr>
              <a:t>Early warning:</a:t>
            </a:r>
            <a:r>
              <a:rPr sz="1500" b="0" i="0">
                <a:solidFill>
                  <a:srgbClr val="1F2937"/>
                </a:solidFill>
                <a:latin typeface="Calibri"/>
              </a:rPr>
              <a:t> Darktrace flagged activity later traced to an Ivanti zero-day, 11 days before disclosure (vendor).</a:t>
            </a:r>
          </a:p>
          <a:p>
            <a:pPr marL="256032" indent="-256032">
              <a:lnSpc>
                <a:spcPct val="110000"/>
              </a:lnSpc>
              <a:spcAft>
                <a:spcPts val="1200"/>
              </a:spcAft>
              <a:buClr>
                <a:srgbClr val="1F5FAD"/>
              </a:buClr>
              <a:buFont typeface="Arial"/>
              <a:buChar char="■"/>
            </a:pPr>
            <a:r>
              <a:rPr sz="1500" b="1" i="0">
                <a:solidFill>
                  <a:srgbClr val="1F2937"/>
                </a:solidFill>
                <a:latin typeface="Calibri"/>
              </a:rPr>
              <a:t>How well does AI predict?</a:t>
            </a:r>
            <a:r>
              <a:rPr sz="1500" b="0" i="0">
                <a:solidFill>
                  <a:srgbClr val="1F2937"/>
                </a:solidFill>
                <a:latin typeface="Calibri"/>
              </a:rPr>
              <a:t> Promising, but I found no independent study.</a:t>
            </a:r>
          </a:p>
        </p:txBody>
      </p:sp>
      <p:cxnSp>
        <p:nvCxnSpPr>
          <p:cNvPr id="27" name="Connector 26"/>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Townsend (2025); Walker (2025); Turnbull (2025).</a:t>
            </a:r>
          </a:p>
        </p:txBody>
      </p:sp>
      <p:sp>
        <p:nvSpPr>
          <p:cNvPr id="29" name="TextBox 28"/>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CASE, CIA TRIAD AND STRATEGY</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Recommendation and reflection</a:t>
            </a:r>
          </a:p>
        </p:txBody>
      </p:sp>
      <p:sp>
        <p:nvSpPr>
          <p:cNvPr id="5" name="Rounded Rectangle 4"/>
          <p:cNvSpPr/>
          <p:nvPr/>
        </p:nvSpPr>
        <p:spPr>
          <a:xfrm>
            <a:off x="548640" y="1691640"/>
            <a:ext cx="5623560" cy="35204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874519"/>
            <a:ext cx="51206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CASE: AI-ASSISTED FORTIGATE CAMPAIGN (KREBS, 2026)</a:t>
            </a:r>
          </a:p>
        </p:txBody>
      </p:sp>
      <p:sp>
        <p:nvSpPr>
          <p:cNvPr id="7" name="TextBox 6"/>
          <p:cNvSpPr txBox="1"/>
          <p:nvPr/>
        </p:nvSpPr>
        <p:spPr>
          <a:xfrm>
            <a:off x="822959" y="2212848"/>
            <a:ext cx="5120640" cy="1463040"/>
          </a:xfrm>
          <a:prstGeom prst="rect">
            <a:avLst/>
          </a:prstGeom>
          <a:noFill/>
        </p:spPr>
        <p:txBody>
          <a:bodyPr wrap="square" lIns="0" rIns="0" tIns="0" bIns="0" anchor="t">
            <a:spAutoFit/>
          </a:bodyPr>
          <a:lstStyle/>
          <a:p>
            <a:pPr algn="l">
              <a:lnSpc>
                <a:spcPct val="110000"/>
              </a:lnSpc>
              <a:spcAft>
                <a:spcPts val="300"/>
              </a:spcAft>
            </a:pPr>
            <a:r>
              <a:rPr sz="1450" b="1" i="0">
                <a:solidFill>
                  <a:srgbClr val="1F2937"/>
                </a:solidFill>
                <a:latin typeface="Calibri"/>
              </a:rPr>
              <a:t>C:</a:t>
            </a:r>
            <a:r>
              <a:rPr sz="1450" b="0" i="0">
                <a:solidFill>
                  <a:srgbClr val="1F2937"/>
                </a:solidFill>
                <a:latin typeface="Calibri"/>
              </a:rPr>
              <a:t> network maps and credentials exposed</a:t>
            </a:r>
          </a:p>
          <a:p>
            <a:pPr algn="l">
              <a:lnSpc>
                <a:spcPct val="110000"/>
              </a:lnSpc>
              <a:spcAft>
                <a:spcPts val="300"/>
              </a:spcAft>
            </a:pPr>
            <a:r>
              <a:rPr sz="1450" b="1" i="0">
                <a:solidFill>
                  <a:srgbClr val="1F2937"/>
                </a:solidFill>
                <a:latin typeface="Calibri"/>
              </a:rPr>
              <a:t>I:</a:t>
            </a:r>
            <a:r>
              <a:rPr sz="1450" b="0" i="0">
                <a:solidFill>
                  <a:srgbClr val="1F2937"/>
                </a:solidFill>
                <a:latin typeface="Calibri"/>
              </a:rPr>
              <a:t> firewall devices compromised by the attacker</a:t>
            </a:r>
          </a:p>
          <a:p>
            <a:pPr algn="l">
              <a:lnSpc>
                <a:spcPct val="110000"/>
              </a:lnSpc>
              <a:spcAft>
                <a:spcPts val="300"/>
              </a:spcAft>
            </a:pPr>
            <a:r>
              <a:rPr sz="1450" b="1" i="0">
                <a:solidFill>
                  <a:srgbClr val="1F2937"/>
                </a:solidFill>
                <a:latin typeface="Calibri"/>
              </a:rPr>
              <a:t>A:</a:t>
            </a:r>
            <a:r>
              <a:rPr sz="1450" b="0" i="0">
                <a:solidFill>
                  <a:srgbClr val="1F2937"/>
                </a:solidFill>
                <a:latin typeface="Calibri"/>
              </a:rPr>
              <a:t> at risk if those firewalls fail (my inference)</a:t>
            </a:r>
          </a:p>
        </p:txBody>
      </p:sp>
      <p:sp>
        <p:nvSpPr>
          <p:cNvPr id="8" name="TextBox 7"/>
          <p:cNvSpPr txBox="1"/>
          <p:nvPr/>
        </p:nvSpPr>
        <p:spPr>
          <a:xfrm>
            <a:off x="822959" y="3429000"/>
            <a:ext cx="51206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RECOMMENDATION</a:t>
            </a:r>
          </a:p>
        </p:txBody>
      </p:sp>
      <p:sp>
        <p:nvSpPr>
          <p:cNvPr id="9" name="TextBox 8"/>
          <p:cNvSpPr txBox="1"/>
          <p:nvPr/>
        </p:nvSpPr>
        <p:spPr>
          <a:xfrm>
            <a:off x="822959" y="3767328"/>
            <a:ext cx="5120640" cy="2194560"/>
          </a:xfrm>
          <a:prstGeom prst="rect">
            <a:avLst/>
          </a:prstGeom>
          <a:noFill/>
        </p:spPr>
        <p:txBody>
          <a:bodyPr wrap="square" lIns="0" rIns="0" tIns="0" bIns="0">
            <a:spAutoFit/>
          </a:bodyPr>
          <a:lstStyle/>
          <a:p>
            <a:pPr marL="256032" indent="-256032">
              <a:lnSpc>
                <a:spcPct val="110000"/>
              </a:lnSpc>
              <a:spcAft>
                <a:spcPts val="600"/>
              </a:spcAft>
              <a:buClr>
                <a:srgbClr val="1E846F"/>
              </a:buClr>
              <a:buFont typeface="Arial"/>
              <a:buChar char="■"/>
            </a:pPr>
            <a:r>
              <a:rPr sz="1450" b="1" i="0">
                <a:solidFill>
                  <a:srgbClr val="1F2937"/>
                </a:solidFill>
                <a:latin typeface="Calibri"/>
              </a:rPr>
              <a:t>Protect:</a:t>
            </a:r>
            <a:r>
              <a:rPr sz="1450" b="0" i="0">
                <a:solidFill>
                  <a:srgbClr val="1F2937"/>
                </a:solidFill>
                <a:latin typeface="Calibri"/>
              </a:rPr>
              <a:t> MFA and no exposed management ports</a:t>
            </a:r>
          </a:p>
          <a:p>
            <a:pPr marL="256032" indent="-256032">
              <a:lnSpc>
                <a:spcPct val="110000"/>
              </a:lnSpc>
              <a:spcAft>
                <a:spcPts val="600"/>
              </a:spcAft>
              <a:buClr>
                <a:srgbClr val="1E846F"/>
              </a:buClr>
              <a:buFont typeface="Arial"/>
              <a:buChar char="■"/>
            </a:pPr>
            <a:r>
              <a:rPr sz="1450" b="1" i="0">
                <a:solidFill>
                  <a:srgbClr val="1F2937"/>
                </a:solidFill>
                <a:latin typeface="Calibri"/>
              </a:rPr>
              <a:t>Detect and respond:</a:t>
            </a:r>
            <a:r>
              <a:rPr sz="1450" b="0" i="0">
                <a:solidFill>
                  <a:srgbClr val="1F2937"/>
                </a:solidFill>
                <a:latin typeface="Calibri"/>
              </a:rPr>
              <a:t> behavioral AI with analyst approval</a:t>
            </a:r>
          </a:p>
          <a:p>
            <a:pPr marL="256032" indent="-256032">
              <a:lnSpc>
                <a:spcPct val="110000"/>
              </a:lnSpc>
              <a:spcAft>
                <a:spcPts val="600"/>
              </a:spcAft>
              <a:buClr>
                <a:srgbClr val="1E846F"/>
              </a:buClr>
              <a:buFont typeface="Arial"/>
              <a:buChar char="■"/>
            </a:pPr>
            <a:r>
              <a:rPr sz="1450" b="1" i="0">
                <a:solidFill>
                  <a:srgbClr val="1F2937"/>
                </a:solidFill>
                <a:latin typeface="Calibri"/>
              </a:rPr>
              <a:t>Govern:</a:t>
            </a:r>
            <a:r>
              <a:rPr sz="1450" b="0" i="0">
                <a:solidFill>
                  <a:srgbClr val="1F2937"/>
                </a:solidFill>
                <a:latin typeface="Calibri"/>
              </a:rPr>
              <a:t> access controls on every AI tool (AI RMF)</a:t>
            </a:r>
          </a:p>
        </p:txBody>
      </p:sp>
      <p:sp>
        <p:nvSpPr>
          <p:cNvPr id="10" name="TextBox 9"/>
          <p:cNvSpPr txBox="1"/>
          <p:nvPr/>
        </p:nvSpPr>
        <p:spPr>
          <a:xfrm>
            <a:off x="6537960" y="1737360"/>
            <a:ext cx="51206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WHAT THIS MEANS FOR ME</a:t>
            </a:r>
          </a:p>
        </p:txBody>
      </p:sp>
      <p:sp>
        <p:nvSpPr>
          <p:cNvPr id="11" name="TextBox 10"/>
          <p:cNvSpPr txBox="1"/>
          <p:nvPr/>
        </p:nvSpPr>
        <p:spPr>
          <a:xfrm>
            <a:off x="6537960" y="2148840"/>
            <a:ext cx="5120640" cy="3840480"/>
          </a:xfrm>
          <a:prstGeom prst="rect">
            <a:avLst/>
          </a:prstGeom>
          <a:noFill/>
        </p:spPr>
        <p:txBody>
          <a:bodyPr wrap="square" lIns="0" rIns="0" tIns="0" bIns="0" anchor="t">
            <a:spAutoFit/>
          </a:bodyPr>
          <a:lstStyle/>
          <a:p>
            <a:pPr algn="l">
              <a:lnSpc>
                <a:spcPct val="110000"/>
              </a:lnSpc>
              <a:spcAft>
                <a:spcPts val="1600"/>
              </a:spcAft>
            </a:pPr>
            <a:r>
              <a:rPr sz="1600" b="0" i="0">
                <a:solidFill>
                  <a:srgbClr val="1F2937"/>
                </a:solidFill>
                <a:latin typeface="Calibri"/>
              </a:rPr>
              <a:t>My Module 1 and Module 3 detectors scored well, yet both missed attacks the headline numbers hid. I now read vendor claims the same way.</a:t>
            </a:r>
          </a:p>
          <a:p>
            <a:pPr algn="l">
              <a:lnSpc>
                <a:spcPct val="110000"/>
              </a:lnSpc>
              <a:spcAft>
                <a:spcPts val="1600"/>
              </a:spcAft>
            </a:pPr>
            <a:r>
              <a:rPr sz="1600" b="0" i="0">
                <a:solidFill>
                  <a:srgbClr val="1F2937"/>
                </a:solidFill>
                <a:latin typeface="Calibri"/>
              </a:rPr>
              <a:t>As a future security engineer, I want to build behavioral detectors with measured, explained limits, and a named analyst accountable for what they automate.</a:t>
            </a:r>
          </a:p>
        </p:txBody>
      </p:sp>
      <p:cxnSp>
        <p:nvCxnSpPr>
          <p:cNvPr id="12" name="Connector 11"/>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Krebs (2026); NIST (2023, 2024). Reflection draws on my Module 1 and Module 3 labs.</a:t>
            </a:r>
          </a:p>
        </p:txBody>
      </p:sp>
      <p:sp>
        <p:nvSpPr>
          <p:cNvPr id="14" name="TextBox 13"/>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APA 7TH EDITION · 1 OF 2</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References</a:t>
            </a:r>
          </a:p>
        </p:txBody>
      </p:sp>
      <p:sp>
        <p:nvSpPr>
          <p:cNvPr id="5" name="TextBox 4"/>
          <p:cNvSpPr txBox="1"/>
          <p:nvPr/>
        </p:nvSpPr>
        <p:spPr>
          <a:xfrm>
            <a:off x="548640" y="1554480"/>
            <a:ext cx="11094415" cy="4754880"/>
          </a:xfrm>
          <a:prstGeom prst="rect">
            <a:avLst/>
          </a:prstGeom>
          <a:noFill/>
        </p:spPr>
        <p:txBody>
          <a:bodyPr wrap="square" lIns="0" rIns="0" tIns="0" bIns="0" anchor="t">
            <a:spAutoFit/>
          </a:bodyPr>
          <a:lstStyle/>
          <a:p>
            <a:pPr algn="l" marL="411480" indent="-411480">
              <a:lnSpc>
                <a:spcPct val="100000"/>
              </a:lnSpc>
              <a:spcAft>
                <a:spcPts val="400"/>
              </a:spcAft>
            </a:pPr>
            <a:r>
              <a:rPr sz="1050" b="0" i="0">
                <a:solidFill>
                  <a:srgbClr val="1F2937"/>
                </a:solidFill>
                <a:latin typeface="Calibri"/>
              </a:rPr>
              <a:t>Bono, J. (2025). </a:t>
            </a:r>
            <a:r>
              <a:rPr sz="1050" b="0" i="1">
                <a:solidFill>
                  <a:srgbClr val="1F2937"/>
                </a:solidFill>
                <a:latin typeface="Calibri"/>
              </a:rPr>
              <a:t>Randomized controlled trials for phishing triage agent</a:t>
            </a:r>
            <a:r>
              <a:rPr sz="1050" b="0" i="0">
                <a:solidFill>
                  <a:srgbClr val="1F2937"/>
                </a:solidFill>
                <a:latin typeface="Calibri"/>
              </a:rPr>
              <a:t> (arXiv:2511.13860). arXiv. https://doi.org/10.48550/arXiv.2511.13860</a:t>
            </a:r>
          </a:p>
          <a:p>
            <a:pPr algn="l" marL="411480" indent="-411480">
              <a:lnSpc>
                <a:spcPct val="100000"/>
              </a:lnSpc>
              <a:spcAft>
                <a:spcPts val="400"/>
              </a:spcAft>
            </a:pPr>
            <a:r>
              <a:rPr sz="1050" b="0" i="0">
                <a:solidFill>
                  <a:srgbClr val="1F2937"/>
                </a:solidFill>
                <a:latin typeface="Calibri"/>
              </a:rPr>
              <a:t>Bono, J., Grana, J., &amp; Xu, A. (2024). </a:t>
            </a:r>
            <a:r>
              <a:rPr sz="1050" b="0" i="1">
                <a:solidFill>
                  <a:srgbClr val="1F2937"/>
                </a:solidFill>
                <a:latin typeface="Calibri"/>
              </a:rPr>
              <a:t>Generative AI and security operations center productivity: Evidence from live operations</a:t>
            </a:r>
            <a:r>
              <a:rPr sz="1050" b="0" i="0">
                <a:solidFill>
                  <a:srgbClr val="1F2937"/>
                </a:solidFill>
                <a:latin typeface="Calibri"/>
              </a:rPr>
              <a:t> (arXiv:2411.03116). arXiv. https://doi.org/10.48550/arXiv.2411.03116</a:t>
            </a:r>
          </a:p>
          <a:p>
            <a:pPr algn="l" marL="411480" indent="-411480">
              <a:lnSpc>
                <a:spcPct val="100000"/>
              </a:lnSpc>
              <a:spcAft>
                <a:spcPts val="400"/>
              </a:spcAft>
            </a:pPr>
            <a:r>
              <a:rPr sz="1050" b="0" i="0">
                <a:solidFill>
                  <a:srgbClr val="1F2937"/>
                </a:solidFill>
                <a:latin typeface="Calibri"/>
              </a:rPr>
              <a:t>Bracken, B. (2026, March 23). AI in the SOC: What could go wrong? </a:t>
            </a:r>
            <a:r>
              <a:rPr sz="1050" b="0" i="1">
                <a:solidFill>
                  <a:srgbClr val="1F2937"/>
                </a:solidFill>
                <a:latin typeface="Calibri"/>
              </a:rPr>
              <a:t>Dark Reading</a:t>
            </a:r>
            <a:r>
              <a:rPr sz="1050" b="0" i="0">
                <a:solidFill>
                  <a:srgbClr val="1F2937"/>
                </a:solidFill>
                <a:latin typeface="Calibri"/>
              </a:rPr>
              <a:t>. https://www.darkreading.com/cybersecurity-operations/ai-soc-go-wrong</a:t>
            </a:r>
          </a:p>
          <a:p>
            <a:pPr algn="l" marL="411480" indent="-411480">
              <a:lnSpc>
                <a:spcPct val="100000"/>
              </a:lnSpc>
              <a:spcAft>
                <a:spcPts val="400"/>
              </a:spcAft>
            </a:pPr>
            <a:r>
              <a:rPr sz="1050" b="0" i="0">
                <a:solidFill>
                  <a:srgbClr val="1F2937"/>
                </a:solidFill>
                <a:latin typeface="Calibri"/>
              </a:rPr>
              <a:t>Cisco. (2025a, May 20). </a:t>
            </a:r>
            <a:r>
              <a:rPr sz="1050" b="0" i="1">
                <a:solidFill>
                  <a:srgbClr val="1F2937"/>
                </a:solidFill>
                <a:latin typeface="Calibri"/>
              </a:rPr>
              <a:t>Global state of security report reveals critical need for connected security operations</a:t>
            </a:r>
            <a:r>
              <a:rPr sz="1050" b="0" i="0">
                <a:solidFill>
                  <a:srgbClr val="1F2937"/>
                </a:solidFill>
                <a:latin typeface="Calibri"/>
              </a:rPr>
              <a:t> [Press release]. https://investor.cisco.com/news/news-details/2025/Global-State-of-Security-Report-Reveals-Critical-Need-for-Connected-Security-Operations/default.aspx</a:t>
            </a:r>
          </a:p>
          <a:p>
            <a:pPr algn="l" marL="411480" indent="-411480">
              <a:lnSpc>
                <a:spcPct val="100000"/>
              </a:lnSpc>
              <a:spcAft>
                <a:spcPts val="400"/>
              </a:spcAft>
            </a:pPr>
            <a:r>
              <a:rPr sz="1050" b="0" i="0">
                <a:solidFill>
                  <a:srgbClr val="1F2937"/>
                </a:solidFill>
                <a:latin typeface="Calibri"/>
              </a:rPr>
              <a:t>Cisco. (2025b, September 9). </a:t>
            </a:r>
            <a:r>
              <a:rPr sz="1050" b="0" i="1">
                <a:solidFill>
                  <a:srgbClr val="1F2937"/>
                </a:solidFill>
                <a:latin typeface="Calibri"/>
              </a:rPr>
              <a:t>Cisco elevates the SOC with agentic AI for faster threat response and reduced complexity</a:t>
            </a:r>
            <a:r>
              <a:rPr sz="1050" b="0" i="0">
                <a:solidFill>
                  <a:srgbClr val="1F2937"/>
                </a:solidFill>
                <a:latin typeface="Calibri"/>
              </a:rPr>
              <a:t> [Press release]. https://newsroom.cisco.com/c/r/newsroom/en/us/a/y2025/m09/cisco-elevates-the-soc-with-agentic-ai-for-faster-threat-response-and-reduced-complexity.html</a:t>
            </a:r>
          </a:p>
          <a:p>
            <a:pPr algn="l" marL="411480" indent="-411480">
              <a:lnSpc>
                <a:spcPct val="100000"/>
              </a:lnSpc>
              <a:spcAft>
                <a:spcPts val="400"/>
              </a:spcAft>
            </a:pPr>
            <a:r>
              <a:rPr sz="1050" b="0" i="0">
                <a:solidFill>
                  <a:srgbClr val="1F2937"/>
                </a:solidFill>
                <a:latin typeface="Calibri"/>
              </a:rPr>
              <a:t>CrowdStrike. (2025a, February 13). </a:t>
            </a:r>
            <a:r>
              <a:rPr sz="1050" b="0" i="1">
                <a:solidFill>
                  <a:srgbClr val="1F2937"/>
                </a:solidFill>
                <a:latin typeface="Calibri"/>
              </a:rPr>
              <a:t>CrowdStrike unveils Charlotte AI Detection Triage for faster SOC triage</a:t>
            </a:r>
            <a:r>
              <a:rPr sz="1050" b="0" i="0">
                <a:solidFill>
                  <a:srgbClr val="1F2937"/>
                </a:solidFill>
                <a:latin typeface="Calibri"/>
              </a:rPr>
              <a:t> [Press release]. https://www.crowdstrike.com/en-us/press-releases/crowdstrike-delivers-next-breakthrough-in-ai-powered-agentic-cybersecurity-with-charlotte-ai-detection-triage/</a:t>
            </a:r>
          </a:p>
          <a:p>
            <a:pPr algn="l" marL="411480" indent="-411480">
              <a:lnSpc>
                <a:spcPct val="100000"/>
              </a:lnSpc>
              <a:spcAft>
                <a:spcPts val="400"/>
              </a:spcAft>
            </a:pPr>
            <a:r>
              <a:rPr sz="1050" b="0" i="0">
                <a:solidFill>
                  <a:srgbClr val="1F2937"/>
                </a:solidFill>
                <a:latin typeface="Calibri"/>
              </a:rPr>
              <a:t>CrowdStrike. (2025b, December 10). </a:t>
            </a:r>
            <a:r>
              <a:rPr sz="1050" b="0" i="1">
                <a:solidFill>
                  <a:srgbClr val="1F2937"/>
                </a:solidFill>
                <a:latin typeface="Calibri"/>
              </a:rPr>
              <a:t>CrowdStrike achieves 100% in 2025 MITRE ATT&amp;CK Enterprise Evaluation</a:t>
            </a:r>
            <a:r>
              <a:rPr sz="1050" b="0" i="0">
                <a:solidFill>
                  <a:srgbClr val="1F2937"/>
                </a:solidFill>
                <a:latin typeface="Calibri"/>
              </a:rPr>
              <a:t>. https://www.crowdstrike.com/en-us/blog/crowdstrike-achieves-100-percent-2025-mitre-attack-enterprise-evaluation/</a:t>
            </a:r>
          </a:p>
          <a:p>
            <a:pPr algn="l" marL="411480" indent="-411480">
              <a:lnSpc>
                <a:spcPct val="100000"/>
              </a:lnSpc>
              <a:spcAft>
                <a:spcPts val="400"/>
              </a:spcAft>
            </a:pPr>
            <a:r>
              <a:rPr sz="1050" b="0" i="0">
                <a:solidFill>
                  <a:srgbClr val="1F2937"/>
                </a:solidFill>
                <a:latin typeface="Calibri"/>
              </a:rPr>
              <a:t>CrowdStrike. (2026a, February 24). </a:t>
            </a:r>
            <a:r>
              <a:rPr sz="1050" b="0" i="1">
                <a:solidFill>
                  <a:srgbClr val="1F2937"/>
                </a:solidFill>
                <a:latin typeface="Calibri"/>
              </a:rPr>
              <a:t>2026 CrowdStrike global threat report: AI accelerated adversaries</a:t>
            </a:r>
            <a:r>
              <a:rPr sz="1050" b="0" i="0">
                <a:solidFill>
                  <a:srgbClr val="1F2937"/>
                </a:solidFill>
                <a:latin typeface="Calibri"/>
              </a:rPr>
              <a:t> [Press release]. https://www.crowdstrike.com/en-us/press-releases/2026-crowdstrike-global-threat-report/</a:t>
            </a:r>
          </a:p>
          <a:p>
            <a:pPr algn="l" marL="411480" indent="-411480">
              <a:lnSpc>
                <a:spcPct val="100000"/>
              </a:lnSpc>
              <a:spcAft>
                <a:spcPts val="400"/>
              </a:spcAft>
            </a:pPr>
            <a:r>
              <a:rPr sz="1050" b="0" i="0">
                <a:solidFill>
                  <a:srgbClr val="1F2937"/>
                </a:solidFill>
                <a:latin typeface="Calibri"/>
              </a:rPr>
              <a:t>CrowdStrike. (2026b, February 24). </a:t>
            </a:r>
            <a:r>
              <a:rPr sz="1050" b="0" i="1">
                <a:solidFill>
                  <a:srgbClr val="1F2937"/>
                </a:solidFill>
                <a:latin typeface="Calibri"/>
              </a:rPr>
              <a:t>CrowdStrike 2026 global threat report: Evasive adversary wields AI</a:t>
            </a:r>
            <a:r>
              <a:rPr sz="1050" b="0" i="0">
                <a:solidFill>
                  <a:srgbClr val="1F2937"/>
                </a:solidFill>
                <a:latin typeface="Calibri"/>
              </a:rPr>
              <a:t>. https://www.crowdstrike.com/en-us/blog/crowdstrike-2026-global-threat-report-findings/</a:t>
            </a:r>
          </a:p>
          <a:p>
            <a:pPr algn="l" marL="411480" indent="-411480">
              <a:lnSpc>
                <a:spcPct val="100000"/>
              </a:lnSpc>
              <a:spcAft>
                <a:spcPts val="400"/>
              </a:spcAft>
            </a:pPr>
            <a:r>
              <a:rPr sz="1050" b="0" i="0">
                <a:solidFill>
                  <a:srgbClr val="1F2937"/>
                </a:solidFill>
                <a:latin typeface="Calibri"/>
              </a:rPr>
              <a:t>IBM. (2025). </a:t>
            </a:r>
            <a:r>
              <a:rPr sz="1050" b="0" i="1">
                <a:solidFill>
                  <a:srgbClr val="1F2937"/>
                </a:solidFill>
                <a:latin typeface="Calibri"/>
              </a:rPr>
              <a:t>Cost of a data breach report 2025: The AI oversight gap</a:t>
            </a:r>
            <a:r>
              <a:rPr sz="1050" b="0" i="0">
                <a:solidFill>
                  <a:srgbClr val="1F2937"/>
                </a:solidFill>
                <a:latin typeface="Calibri"/>
              </a:rPr>
              <a:t>. https://www-api.ibm.com/adobe/assets/urn:aaid:aem:607b9590-38e0-4c91-b433-aa8a17f5b5e8/original/as/cost-of-a-data-breach-2025-full-report.pdf</a:t>
            </a:r>
          </a:p>
          <a:p>
            <a:pPr algn="l" marL="411480" indent="-411480">
              <a:lnSpc>
                <a:spcPct val="100000"/>
              </a:lnSpc>
              <a:spcAft>
                <a:spcPts val="400"/>
              </a:spcAft>
            </a:pPr>
            <a:r>
              <a:rPr sz="1050" b="0" i="0">
                <a:solidFill>
                  <a:srgbClr val="1F2937"/>
                </a:solidFill>
                <a:latin typeface="Calibri"/>
              </a:rPr>
              <a:t>IBM. (2026). </a:t>
            </a:r>
            <a:r>
              <a:rPr sz="1050" b="0" i="1">
                <a:solidFill>
                  <a:srgbClr val="1F2937"/>
                </a:solidFill>
                <a:latin typeface="Calibri"/>
              </a:rPr>
              <a:t>Cost of a data breach report 2026</a:t>
            </a:r>
            <a:r>
              <a:rPr sz="1050" b="0" i="0">
                <a:solidFill>
                  <a:srgbClr val="1F2937"/>
                </a:solidFill>
                <a:latin typeface="Calibri"/>
              </a:rPr>
              <a:t>. https://www.ibm.com/reports/data-breach</a:t>
            </a:r>
          </a:p>
        </p:txBody>
      </p:sp>
      <p:cxnSp>
        <p:nvCxnSpPr>
          <p:cNvPr id="6" name="Connector 5"/>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Deck structure: title, seven content slides, two reference slides. Vendor figures are labelled.</a:t>
            </a:r>
          </a:p>
        </p:txBody>
      </p:sp>
      <p:sp>
        <p:nvSpPr>
          <p:cNvPr id="8" name="TextBox 7"/>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APA 7TH EDITION · 2 OF 2</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References</a:t>
            </a:r>
          </a:p>
        </p:txBody>
      </p:sp>
      <p:sp>
        <p:nvSpPr>
          <p:cNvPr id="5" name="TextBox 4"/>
          <p:cNvSpPr txBox="1"/>
          <p:nvPr/>
        </p:nvSpPr>
        <p:spPr>
          <a:xfrm>
            <a:off x="548640" y="1554480"/>
            <a:ext cx="11094415" cy="4754880"/>
          </a:xfrm>
          <a:prstGeom prst="rect">
            <a:avLst/>
          </a:prstGeom>
          <a:noFill/>
        </p:spPr>
        <p:txBody>
          <a:bodyPr wrap="square" lIns="0" rIns="0" tIns="0" bIns="0" anchor="t">
            <a:spAutoFit/>
          </a:bodyPr>
          <a:lstStyle/>
          <a:p>
            <a:pPr algn="l" marL="411480" indent="-411480">
              <a:lnSpc>
                <a:spcPct val="100000"/>
              </a:lnSpc>
              <a:spcAft>
                <a:spcPts val="400"/>
              </a:spcAft>
            </a:pPr>
            <a:r>
              <a:rPr sz="1050" b="0" i="0">
                <a:solidFill>
                  <a:srgbClr val="1F2937"/>
                </a:solidFill>
                <a:latin typeface="Calibri"/>
              </a:rPr>
              <a:t>ISC2. (2025, December 4). </a:t>
            </a:r>
            <a:r>
              <a:rPr sz="1050" b="0" i="1">
                <a:solidFill>
                  <a:srgbClr val="1F2937"/>
                </a:solidFill>
                <a:latin typeface="Calibri"/>
              </a:rPr>
              <a:t>ISC2 study finds cybersecurity budget constraints remain, but do not worsen, while skill needs grow</a:t>
            </a:r>
            <a:r>
              <a:rPr sz="1050" b="0" i="0">
                <a:solidFill>
                  <a:srgbClr val="1F2937"/>
                </a:solidFill>
                <a:latin typeface="Calibri"/>
              </a:rPr>
              <a:t>. https://www.isc2.org/insights/2025/12/isc2-publishes-2025-cybersecurity-workforce-study</a:t>
            </a:r>
          </a:p>
          <a:p>
            <a:pPr algn="l" marL="411480" indent="-411480">
              <a:lnSpc>
                <a:spcPct val="100000"/>
              </a:lnSpc>
              <a:spcAft>
                <a:spcPts val="400"/>
              </a:spcAft>
            </a:pPr>
            <a:r>
              <a:rPr sz="1050" b="0" i="0">
                <a:solidFill>
                  <a:srgbClr val="1F2937"/>
                </a:solidFill>
                <a:latin typeface="Calibri"/>
              </a:rPr>
              <a:t>Krebs, B. (2026, March 8). How AI assistants are moving the security goalposts. </a:t>
            </a:r>
            <a:r>
              <a:rPr sz="1050" b="0" i="1">
                <a:solidFill>
                  <a:srgbClr val="1F2937"/>
                </a:solidFill>
                <a:latin typeface="Calibri"/>
              </a:rPr>
              <a:t>Krebs on Security</a:t>
            </a:r>
            <a:r>
              <a:rPr sz="1050" b="0" i="0">
                <a:solidFill>
                  <a:srgbClr val="1F2937"/>
                </a:solidFill>
                <a:latin typeface="Calibri"/>
              </a:rPr>
              <a:t>. https://krebsonsecurity.com/2026/03/how-ai-assistants-are-moving-the-security-goalposts/</a:t>
            </a:r>
          </a:p>
          <a:p>
            <a:pPr algn="l" marL="411480" indent="-411480">
              <a:lnSpc>
                <a:spcPct val="100000"/>
              </a:lnSpc>
              <a:spcAft>
                <a:spcPts val="400"/>
              </a:spcAft>
            </a:pPr>
            <a:r>
              <a:rPr sz="1050" b="0" i="0">
                <a:solidFill>
                  <a:srgbClr val="1F2937"/>
                </a:solidFill>
                <a:latin typeface="Calibri"/>
              </a:rPr>
              <a:t>National Institute of Standards and Technology. (2023). </a:t>
            </a:r>
            <a:r>
              <a:rPr sz="1050" b="0" i="1">
                <a:solidFill>
                  <a:srgbClr val="1F2937"/>
                </a:solidFill>
                <a:latin typeface="Calibri"/>
              </a:rPr>
              <a:t>Artificial intelligence risk management framework (AI RMF 1.0)</a:t>
            </a:r>
            <a:r>
              <a:rPr sz="1050" b="0" i="0">
                <a:solidFill>
                  <a:srgbClr val="1F2937"/>
                </a:solidFill>
                <a:latin typeface="Calibri"/>
              </a:rPr>
              <a:t> (NIST AI 100-1). https://doi.org/10.6028/NIST.AI.100-1</a:t>
            </a:r>
          </a:p>
          <a:p>
            <a:pPr algn="l" marL="411480" indent="-411480">
              <a:lnSpc>
                <a:spcPct val="100000"/>
              </a:lnSpc>
              <a:spcAft>
                <a:spcPts val="400"/>
              </a:spcAft>
            </a:pPr>
            <a:r>
              <a:rPr sz="1050" b="0" i="0">
                <a:solidFill>
                  <a:srgbClr val="1F2937"/>
                </a:solidFill>
                <a:latin typeface="Calibri"/>
              </a:rPr>
              <a:t>National Institute of Standards and Technology. (2024). </a:t>
            </a:r>
            <a:r>
              <a:rPr sz="1050" b="0" i="1">
                <a:solidFill>
                  <a:srgbClr val="1F2937"/>
                </a:solidFill>
                <a:latin typeface="Calibri"/>
              </a:rPr>
              <a:t>The NIST cybersecurity framework (CSF) 2.0</a:t>
            </a:r>
            <a:r>
              <a:rPr sz="1050" b="0" i="0">
                <a:solidFill>
                  <a:srgbClr val="1F2937"/>
                </a:solidFill>
                <a:latin typeface="Calibri"/>
              </a:rPr>
              <a:t> (NIST CSWP 29). https://doi.org/10.6028/NIST.CSWP.29</a:t>
            </a:r>
          </a:p>
          <a:p>
            <a:pPr algn="l" marL="411480" indent="-411480">
              <a:lnSpc>
                <a:spcPct val="100000"/>
              </a:lnSpc>
              <a:spcAft>
                <a:spcPts val="400"/>
              </a:spcAft>
            </a:pPr>
            <a:r>
              <a:rPr sz="1050" b="0" i="0">
                <a:solidFill>
                  <a:srgbClr val="1F2937"/>
                </a:solidFill>
                <a:latin typeface="Calibri"/>
              </a:rPr>
              <a:t>Palo Alto Networks. (n.d.). </a:t>
            </a:r>
            <a:r>
              <a:rPr sz="1050" b="0" i="1">
                <a:solidFill>
                  <a:srgbClr val="1F2937"/>
                </a:solidFill>
                <a:latin typeface="Calibri"/>
              </a:rPr>
              <a:t>Advanced WildFire</a:t>
            </a:r>
            <a:r>
              <a:rPr sz="1050" b="0" i="0">
                <a:solidFill>
                  <a:srgbClr val="1F2937"/>
                </a:solidFill>
                <a:latin typeface="Calibri"/>
              </a:rPr>
              <a:t>. Retrieved October 2, 2026, from https://www.paloaltonetworks.com/network-security/advanced-wildfire</a:t>
            </a:r>
          </a:p>
          <a:p>
            <a:pPr algn="l" marL="411480" indent="-411480">
              <a:lnSpc>
                <a:spcPct val="100000"/>
              </a:lnSpc>
              <a:spcAft>
                <a:spcPts val="400"/>
              </a:spcAft>
            </a:pPr>
            <a:r>
              <a:rPr sz="1050" b="0" i="0">
                <a:solidFill>
                  <a:srgbClr val="1F2937"/>
                </a:solidFill>
                <a:latin typeface="Calibri"/>
              </a:rPr>
              <a:t>SentinelOne. (2024, December 11). </a:t>
            </a:r>
            <a:r>
              <a:rPr sz="1050" b="0" i="1">
                <a:solidFill>
                  <a:srgbClr val="1F2937"/>
                </a:solidFill>
                <a:latin typeface="Calibri"/>
              </a:rPr>
              <a:t>SentinelOne sets the standard with 100% detection and 88% fewer alerts than median across all vendors evaluated in the 2024 MITRE ATT&amp;CK Evaluations: Enterprise</a:t>
            </a:r>
            <a:r>
              <a:rPr sz="1050" b="0" i="0">
                <a:solidFill>
                  <a:srgbClr val="1F2937"/>
                </a:solidFill>
                <a:latin typeface="Calibri"/>
              </a:rPr>
              <a:t> [Press release]. https://www.sentinelone.com/press/sentinelone-sets-the-standard-with-100-detection-and-88-fewer-alerts-than-median-across-all-vendors-evaluated-in-the-2024-mitre-attck-evaluations-enterprise/</a:t>
            </a:r>
          </a:p>
          <a:p>
            <a:pPr algn="l" marL="411480" indent="-411480">
              <a:lnSpc>
                <a:spcPct val="100000"/>
              </a:lnSpc>
              <a:spcAft>
                <a:spcPts val="400"/>
              </a:spcAft>
            </a:pPr>
            <a:r>
              <a:rPr sz="1050" b="0" i="0">
                <a:solidFill>
                  <a:srgbClr val="1F2937"/>
                </a:solidFill>
                <a:latin typeface="Calibri"/>
              </a:rPr>
              <a:t>SentinelOne. (2026, June 17). </a:t>
            </a:r>
            <a:r>
              <a:rPr sz="1050" b="0" i="1">
                <a:solidFill>
                  <a:srgbClr val="1F2937"/>
                </a:solidFill>
                <a:latin typeface="Calibri"/>
              </a:rPr>
              <a:t>SentinelOne opens Purple AI agentic investigation to all customers, bringing frontier AI directly into the SOC</a:t>
            </a:r>
            <a:r>
              <a:rPr sz="1050" b="0" i="0">
                <a:solidFill>
                  <a:srgbClr val="1F2937"/>
                </a:solidFill>
                <a:latin typeface="Calibri"/>
              </a:rPr>
              <a:t> [Press release]. https://www.sentinelone.com/press/sentinelone-opens-purple-ai-agentic-investigation-to-all-customers-bringing-frontier-ai-directly-into-the-soc/</a:t>
            </a:r>
          </a:p>
          <a:p>
            <a:pPr algn="l" marL="411480" indent="-411480">
              <a:lnSpc>
                <a:spcPct val="100000"/>
              </a:lnSpc>
              <a:spcAft>
                <a:spcPts val="400"/>
              </a:spcAft>
            </a:pPr>
            <a:r>
              <a:rPr sz="1050" b="0" i="0">
                <a:solidFill>
                  <a:srgbClr val="1F2937"/>
                </a:solidFill>
                <a:latin typeface="Calibri"/>
              </a:rPr>
              <a:t>Townsend, K. (2025, September 11). AI emerges as the hope—and risk—for overloaded SOCs. </a:t>
            </a:r>
            <a:r>
              <a:rPr sz="1050" b="0" i="1">
                <a:solidFill>
                  <a:srgbClr val="1F2937"/>
                </a:solidFill>
                <a:latin typeface="Calibri"/>
              </a:rPr>
              <a:t>SecurityWeek</a:t>
            </a:r>
            <a:r>
              <a:rPr sz="1050" b="0" i="0">
                <a:solidFill>
                  <a:srgbClr val="1F2937"/>
                </a:solidFill>
                <a:latin typeface="Calibri"/>
              </a:rPr>
              <a:t>. https://www.securityweek.com/ai-emerges-as-the-hope-and-risk-for-overloaded-socs/</a:t>
            </a:r>
          </a:p>
          <a:p>
            <a:pPr algn="l" marL="411480" indent="-411480">
              <a:lnSpc>
                <a:spcPct val="100000"/>
              </a:lnSpc>
              <a:spcAft>
                <a:spcPts val="400"/>
              </a:spcAft>
            </a:pPr>
            <a:r>
              <a:rPr sz="1050" b="0" i="0">
                <a:solidFill>
                  <a:srgbClr val="1F2937"/>
                </a:solidFill>
                <a:latin typeface="Calibri"/>
              </a:rPr>
              <a:t>Turnbull, H. (2025, March 7). </a:t>
            </a:r>
            <a:r>
              <a:rPr sz="1050" b="0" i="1">
                <a:solidFill>
                  <a:srgbClr val="1F2937"/>
                </a:solidFill>
                <a:latin typeface="Calibri"/>
              </a:rPr>
              <a:t>Darktrace's early detection of the latest Ivanti exploits</a:t>
            </a:r>
            <a:r>
              <a:rPr sz="1050" b="0" i="0">
                <a:solidFill>
                  <a:srgbClr val="1F2937"/>
                </a:solidFill>
                <a:latin typeface="Calibri"/>
              </a:rPr>
              <a:t>. Darktrace. https://www.darktrace.com/blog/darktraces-early-detection-of-the-latest-ivanti-exploits</a:t>
            </a:r>
          </a:p>
          <a:p>
            <a:pPr algn="l" marL="411480" indent="-411480">
              <a:lnSpc>
                <a:spcPct val="100000"/>
              </a:lnSpc>
              <a:spcAft>
                <a:spcPts val="400"/>
              </a:spcAft>
            </a:pPr>
            <a:r>
              <a:rPr sz="1050" b="0" i="0">
                <a:solidFill>
                  <a:srgbClr val="1F2937"/>
                </a:solidFill>
                <a:latin typeface="Calibri"/>
              </a:rPr>
              <a:t>Walker, K. (2025, July 15). </a:t>
            </a:r>
            <a:r>
              <a:rPr sz="1050" b="0" i="1">
                <a:solidFill>
                  <a:srgbClr val="1F2937"/>
                </a:solidFill>
                <a:latin typeface="Calibri"/>
              </a:rPr>
              <a:t>Google's latest AI security announcements</a:t>
            </a:r>
            <a:r>
              <a:rPr sz="1050" b="0" i="0">
                <a:solidFill>
                  <a:srgbClr val="1F2937"/>
                </a:solidFill>
                <a:latin typeface="Calibri"/>
              </a:rPr>
              <a:t>. Google. https://blog.google/technology/safety-security/cybersecurity-updates-summer-2025/</a:t>
            </a:r>
          </a:p>
          <a:p>
            <a:pPr algn="l" marL="411480" indent="-411480">
              <a:lnSpc>
                <a:spcPct val="100000"/>
              </a:lnSpc>
              <a:spcAft>
                <a:spcPts val="400"/>
              </a:spcAft>
            </a:pPr>
            <a:r>
              <a:rPr sz="1050" b="0" i="0">
                <a:solidFill>
                  <a:srgbClr val="1F2937"/>
                </a:solidFill>
                <a:latin typeface="Calibri"/>
              </a:rPr>
              <a:t>WatchGuard Technologies. (2026, February 19). </a:t>
            </a:r>
            <a:r>
              <a:rPr sz="1050" b="0" i="1">
                <a:solidFill>
                  <a:srgbClr val="1F2937"/>
                </a:solidFill>
                <a:latin typeface="Calibri"/>
              </a:rPr>
              <a:t>Over 1500% increase in new, unique malware highlights growing security complexity, according to WatchGuard biannual threat report</a:t>
            </a:r>
            <a:r>
              <a:rPr sz="1050" b="0" i="0">
                <a:solidFill>
                  <a:srgbClr val="1F2937"/>
                </a:solidFill>
                <a:latin typeface="Calibri"/>
              </a:rPr>
              <a:t> [Press release]. https://www.watchguard.com/wgrd-news/press-releases/over-1500-increase-new-unique-malware-highlights-growing-security</a:t>
            </a:r>
          </a:p>
        </p:txBody>
      </p:sp>
      <p:cxnSp>
        <p:nvCxnSpPr>
          <p:cNvPr id="6" name="Connector 5"/>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Deck structure: title, seven content slides, two reference slides. Vendor figures are labelled.</a:t>
            </a:r>
          </a:p>
        </p:txBody>
      </p:sp>
      <p:sp>
        <p:nvSpPr>
          <p:cNvPr id="8" name="TextBox 7"/>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