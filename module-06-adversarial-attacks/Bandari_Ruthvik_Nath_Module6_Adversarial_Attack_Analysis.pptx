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analyses one cyber threat: adversarial attacks, where an attacker manipulates the input, the training data or the instructions of an AI system so that it makes a wrong decision. I look at three real cases, how three major companies defend their AI, how the defenses compare, and how anomaly detection and AI governance help.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adversarial attack makes an AI system decide wrongly on purpose. The four techniques in the brief are evasion, where a crafted input fools a trained model; poisoning, where the training data or model is corrupted; prompt injection, where hidden instructions take over an AI assistant; and deepfakes, where AI-generated faces and voices impersonate real people. The impact is financial. In January 2024 one deepfake video call cost a Hong Kong firm 25 million US dollars, and Deloitte projects that generative AI could push US fraud losses to 40 billion dollars by 2027, growing 32 percent a year. The camera fooled by tape in the McAfee test is used in more than 40 million vehicles. Deepfake fraud is the fastest-growing technique against people, and prompt injection is the main attack on AI assistants. The most exposed industries are autonomous vehicles, finance and healthcare, because a single wrong decision there costs lives or money.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cases show the threat across industries. In 2020, McAfee researchers put about two inches of black tape on a 35 mile-per-hour sign; the MobilEye camera on a 2016 Tesla read it as 85, and with cruise control on the car began accelerating toward 85 before the researchers braked. That camera is in more than 40 million vehicles. In January 2024, an employee of a Hong Kong firm joined a video call in which the chief financial officer and other colleagues were deepfakes, and sent 25 million US dollars to the fraudsters. In June 2025, Microsoft disclosed EchoLeak, a critical prompt-injection flaw rated 9.3 in which a crafted email could make Microsoft 365 Copilot leak data without the user clicking anything. Microsoft fixed it on the server side, and no exploitation was reported, which makes it an example of an attack stopped before it caused damage.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Industry leaders use three complementary defenses. Microsoft's AI Red Team has attacked more than 100 of its own generative AI products before release; its lessons are that attackers do not need gradients or deep math to break a system, that automation helps but human testers remain crucial, and that the work is never complete. That is how companies test for vulnerabilities. Google defends Gemini with layers, and reports that training the model on adversarial examples of prompt injection significantly improved its resistance, backed by machine learning classifiers that detect malicious instructions, removal of suspicious links and asking the user to confirm risky actions. Meta released LlamaFirewall as an open-source guardrail for AI agents, with PromptGuard 2 to detect jailbreaks, an alignment check that audits the agent's reasoning, and CodeShield to block insecure code. Across all three, the message is the same: no single defense is enough, so the most effective strategy is layered.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compares the four attack types with five defense strategies, and names the industry each attack hits hardest. Evasion attacks, like the tape on the speed sign, matter most for autonomous vehicles; adversarial training and robustness testing make the model harder to fool, and anomaly detection can flag an input that does not fit, such as an 85 mile-per-hour reading in a 35 zone. Poisoning threatens healthcare and finance models that retrain on new data; testing and screening training data for outliers help most. Prompt injection threatens enterprise AI assistants, where every layer helps, which is why Google and Meta stack them. Deepfakes hit finance; the model cannot be retrained against them, so anomaly checks on payments and human call-back verification work best. The ratings are my assessment from the cases and the companies' published defenses.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of the textbook, Network Anomaly Detection with AI, teaches a model of normal behaviour that flags anything that does not fit. The same idea is a practical defense against adversarial attacks. A speed reading of 85 on a 35 road is out of distribution, so the car should slow down and alert the driver. A large, urgent transfer right after one video call is unusual, so the payment should be held and confirmed by phone. Outliers in new training data can be screened before retraining, which blocks poisoning, and an AI assistant that suddenly sends data to an outside link can be stopped. The current trend is AI governance. Article 15 of the EU AI Act requires high-risk AI systems to resist attempts to alter their outputs, names data poisoning, model poisoning and adversarial examples, and requires measures to prevent, detect and respond to them. Together they turn robustness testing and anomaly detection from good practice into a legal duty.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Modules 3, 4 and 5 I built an anomaly detector, a fraud model and a phishing filter, and I judged them by accuracy. This module changed how I see that work: the detector itself is a target, and a model that is 99 percent accurate can be fooled by a strip of tape or a hidden instruction. As a future security engineer I want to build AI defenses that are red-teamed before release, backed by anomaly detection, and designed so a human confirms any high-stakes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280160"/>
            <a:ext cx="82296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508760"/>
            <a:ext cx="10972800" cy="1554480"/>
          </a:xfrm>
          <a:prstGeom prst="rect">
            <a:avLst/>
          </a:prstGeom>
          <a:noFill/>
        </p:spPr>
        <p:txBody>
          <a:bodyPr wrap="square" lIns="0" rIns="0" tIns="0" bIns="0" anchor="t">
            <a:spAutoFit/>
          </a:bodyPr>
          <a:lstStyle/>
          <a:p>
            <a:pPr algn="l">
              <a:lnSpc>
                <a:spcPct val="100000"/>
              </a:lnSpc>
              <a:spcAft>
                <a:spcPts val="0"/>
              </a:spcAft>
            </a:pPr>
            <a:r>
              <a:rPr sz="4200" b="1" i="0">
                <a:solidFill>
                  <a:srgbClr val="FFFFFF"/>
                </a:solidFill>
                <a:latin typeface="Calibri"/>
              </a:rPr>
              <a:t>When AI Is the Target:</a:t>
            </a:r>
          </a:p>
          <a:p>
            <a:pPr algn="l">
              <a:lnSpc>
                <a:spcPct val="100000"/>
              </a:lnSpc>
              <a:spcAft>
                <a:spcPts val="0"/>
              </a:spcAft>
            </a:pPr>
            <a:r>
              <a:rPr sz="4200" b="1" i="0">
                <a:solidFill>
                  <a:srgbClr val="FFFFFF"/>
                </a:solidFill>
                <a:latin typeface="Calibri"/>
              </a:rPr>
              <a:t>Real-World Adversarial Attacks and Defenses</a:t>
            </a:r>
          </a:p>
        </p:txBody>
      </p:sp>
      <p:sp>
        <p:nvSpPr>
          <p:cNvPr id="5" name="TextBox 4"/>
          <p:cNvSpPr txBox="1"/>
          <p:nvPr/>
        </p:nvSpPr>
        <p:spPr>
          <a:xfrm>
            <a:off x="548640" y="3154680"/>
            <a:ext cx="10972800" cy="914400"/>
          </a:xfrm>
          <a:prstGeom prst="rect">
            <a:avLst/>
          </a:prstGeom>
          <a:noFill/>
        </p:spPr>
        <p:txBody>
          <a:bodyPr wrap="square" lIns="0" rIns="0" tIns="0" bIns="0" anchor="t">
            <a:spAutoFit/>
          </a:bodyPr>
          <a:lstStyle/>
          <a:p>
            <a:pPr algn="l">
              <a:lnSpc>
                <a:spcPct val="110000"/>
              </a:lnSpc>
              <a:spcAft>
                <a:spcPts val="600"/>
              </a:spcAft>
            </a:pPr>
            <a:r>
              <a:rPr sz="2000" b="0" i="0">
                <a:solidFill>
                  <a:srgbClr val="C9D3E0"/>
                </a:solidFill>
                <a:latin typeface="Calibri"/>
              </a:rPr>
              <a:t>One threat, adversarial manipulation of AI systems, traced through three real cases, three company defenses and the rules now taking shape</a:t>
            </a:r>
          </a:p>
        </p:txBody>
      </p:sp>
      <p:sp>
        <p:nvSpPr>
          <p:cNvPr id="6" name="TextBox 5"/>
          <p:cNvSpPr txBox="1"/>
          <p:nvPr/>
        </p:nvSpPr>
        <p:spPr>
          <a:xfrm>
            <a:off x="548640" y="4434840"/>
            <a:ext cx="10972800" cy="1280160"/>
          </a:xfrm>
          <a:prstGeom prst="rect">
            <a:avLst/>
          </a:prstGeom>
          <a:noFill/>
        </p:spPr>
        <p:txBody>
          <a:bodyPr wrap="square" lIns="0" rIns="0" tIns="0" bIns="0" anchor="t">
            <a:spAutoFit/>
          </a:bodyPr>
          <a:lstStyle/>
          <a:p>
            <a:pPr algn="l">
              <a:lnSpc>
                <a:spcPct val="110000"/>
              </a:lnSpc>
              <a:spcAft>
                <a:spcPts val="400"/>
              </a:spcAft>
            </a:pPr>
            <a:r>
              <a:rPr sz="1600" b="0" i="0">
                <a:solidFill>
                  <a:srgbClr val="C9D3E0"/>
                </a:solidFill>
                <a:latin typeface="Calibri"/>
              </a:rPr>
              <a:t>Ruthvik Nath Bandari</a:t>
            </a:r>
          </a:p>
          <a:p>
            <a:pPr algn="l">
              <a:lnSpc>
                <a:spcPct val="110000"/>
              </a:lnSpc>
              <a:spcAft>
                <a:spcPts val="400"/>
              </a:spcAft>
            </a:pPr>
            <a:r>
              <a:rPr sz="1600" b="0" i="0">
                <a:solidFill>
                  <a:srgbClr val="C9D3E0"/>
                </a:solidFill>
                <a:latin typeface="Calibri"/>
              </a:rPr>
              <a:t>AAI6680: AI for Cybersecurity · Northeastern University · Mimoza Dimodugno, PhD</a:t>
            </a:r>
          </a:p>
          <a:p>
            <a:pPr algn="l">
              <a:lnSpc>
                <a:spcPct val="110000"/>
              </a:lnSpc>
              <a:spcAft>
                <a:spcPts val="400"/>
              </a:spcAft>
            </a:pPr>
            <a:r>
              <a:rPr sz="1600" b="0" i="0">
                <a:solidFill>
                  <a:srgbClr val="C9D3E0"/>
                </a:solidFill>
                <a:latin typeface="Calibri"/>
              </a:rPr>
              <a:t>October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THREAT AND IMPACT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The threat: tricking AI into the wrong decision</a:t>
            </a:r>
          </a:p>
        </p:txBody>
      </p:sp>
      <p:sp>
        <p:nvSpPr>
          <p:cNvPr id="5" name="Rounded Rectangle 4"/>
          <p:cNvSpPr/>
          <p:nvPr/>
        </p:nvSpPr>
        <p:spPr>
          <a:xfrm>
            <a:off x="548640" y="1691640"/>
            <a:ext cx="2624328"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691640"/>
            <a:ext cx="2624328" cy="73152"/>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874519"/>
            <a:ext cx="2286000" cy="365760"/>
          </a:xfrm>
          <a:prstGeom prst="rect">
            <a:avLst/>
          </a:prstGeom>
          <a:noFill/>
        </p:spPr>
        <p:txBody>
          <a:bodyPr wrap="square" lIns="0" rIns="0" tIns="0" bIns="0" anchor="t">
            <a:spAutoFit/>
          </a:bodyPr>
          <a:lstStyle/>
          <a:p>
            <a:pPr algn="l">
              <a:lnSpc>
                <a:spcPct val="110000"/>
              </a:lnSpc>
              <a:spcAft>
                <a:spcPts val="0"/>
              </a:spcAft>
            </a:pPr>
            <a:r>
              <a:rPr sz="1700" b="1" i="0">
                <a:solidFill>
                  <a:srgbClr val="1F5FAD"/>
                </a:solidFill>
                <a:latin typeface="Calibri"/>
              </a:rPr>
              <a:t>Evasion</a:t>
            </a:r>
          </a:p>
        </p:txBody>
      </p:sp>
      <p:sp>
        <p:nvSpPr>
          <p:cNvPr id="8" name="TextBox 7"/>
          <p:cNvSpPr txBox="1"/>
          <p:nvPr/>
        </p:nvSpPr>
        <p:spPr>
          <a:xfrm>
            <a:off x="731520" y="2286000"/>
            <a:ext cx="2286000" cy="7772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Altered input fools a trained model (a sign, an image)</a:t>
            </a:r>
          </a:p>
        </p:txBody>
      </p:sp>
      <p:sp>
        <p:nvSpPr>
          <p:cNvPr id="9" name="Rounded Rectangle 8"/>
          <p:cNvSpPr/>
          <p:nvPr/>
        </p:nvSpPr>
        <p:spPr>
          <a:xfrm>
            <a:off x="3355848" y="1691640"/>
            <a:ext cx="2624328"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355848" y="1691640"/>
            <a:ext cx="2624328" cy="73152"/>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38728" y="1874519"/>
            <a:ext cx="2286000" cy="365760"/>
          </a:xfrm>
          <a:prstGeom prst="rect">
            <a:avLst/>
          </a:prstGeom>
          <a:noFill/>
        </p:spPr>
        <p:txBody>
          <a:bodyPr wrap="square" lIns="0" rIns="0" tIns="0" bIns="0" anchor="t">
            <a:spAutoFit/>
          </a:bodyPr>
          <a:lstStyle/>
          <a:p>
            <a:pPr algn="l">
              <a:lnSpc>
                <a:spcPct val="110000"/>
              </a:lnSpc>
              <a:spcAft>
                <a:spcPts val="0"/>
              </a:spcAft>
            </a:pPr>
            <a:r>
              <a:rPr sz="1700" b="1" i="0">
                <a:solidFill>
                  <a:srgbClr val="1E846F"/>
                </a:solidFill>
                <a:latin typeface="Calibri"/>
              </a:rPr>
              <a:t>Poisoning</a:t>
            </a:r>
          </a:p>
        </p:txBody>
      </p:sp>
      <p:sp>
        <p:nvSpPr>
          <p:cNvPr id="12" name="TextBox 11"/>
          <p:cNvSpPr txBox="1"/>
          <p:nvPr/>
        </p:nvSpPr>
        <p:spPr>
          <a:xfrm>
            <a:off x="3538728" y="2286000"/>
            <a:ext cx="2286000" cy="7772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Corrupted training data or model components</a:t>
            </a:r>
          </a:p>
        </p:txBody>
      </p:sp>
      <p:sp>
        <p:nvSpPr>
          <p:cNvPr id="13" name="Rounded Rectangle 12"/>
          <p:cNvSpPr/>
          <p:nvPr/>
        </p:nvSpPr>
        <p:spPr>
          <a:xfrm>
            <a:off x="6163055" y="1691640"/>
            <a:ext cx="2624328"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163055" y="1691640"/>
            <a:ext cx="2624328"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45936" y="1874519"/>
            <a:ext cx="2286000" cy="365760"/>
          </a:xfrm>
          <a:prstGeom prst="rect">
            <a:avLst/>
          </a:prstGeom>
          <a:noFill/>
        </p:spPr>
        <p:txBody>
          <a:bodyPr wrap="square" lIns="0" rIns="0" tIns="0" bIns="0" anchor="t">
            <a:spAutoFit/>
          </a:bodyPr>
          <a:lstStyle/>
          <a:p>
            <a:pPr algn="l">
              <a:lnSpc>
                <a:spcPct val="110000"/>
              </a:lnSpc>
              <a:spcAft>
                <a:spcPts val="0"/>
              </a:spcAft>
            </a:pPr>
            <a:r>
              <a:rPr sz="1700" b="1" i="0">
                <a:solidFill>
                  <a:srgbClr val="C0392B"/>
                </a:solidFill>
                <a:latin typeface="Calibri"/>
              </a:rPr>
              <a:t>Prompt injection</a:t>
            </a:r>
          </a:p>
        </p:txBody>
      </p:sp>
      <p:sp>
        <p:nvSpPr>
          <p:cNvPr id="16" name="TextBox 15"/>
          <p:cNvSpPr txBox="1"/>
          <p:nvPr/>
        </p:nvSpPr>
        <p:spPr>
          <a:xfrm>
            <a:off x="6345936" y="2286000"/>
            <a:ext cx="2286000" cy="7772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Hidden instructions hijack an AI assistant</a:t>
            </a:r>
          </a:p>
        </p:txBody>
      </p:sp>
      <p:sp>
        <p:nvSpPr>
          <p:cNvPr id="17" name="Rounded Rectangle 16"/>
          <p:cNvSpPr/>
          <p:nvPr/>
        </p:nvSpPr>
        <p:spPr>
          <a:xfrm>
            <a:off x="8970263" y="1691640"/>
            <a:ext cx="2624328" cy="14173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970263" y="1691640"/>
            <a:ext cx="2624328" cy="73152"/>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53143" y="1874519"/>
            <a:ext cx="2286000" cy="365760"/>
          </a:xfrm>
          <a:prstGeom prst="rect">
            <a:avLst/>
          </a:prstGeom>
          <a:noFill/>
        </p:spPr>
        <p:txBody>
          <a:bodyPr wrap="square" lIns="0" rIns="0" tIns="0" bIns="0" anchor="t">
            <a:spAutoFit/>
          </a:bodyPr>
          <a:lstStyle/>
          <a:p>
            <a:pPr algn="l">
              <a:lnSpc>
                <a:spcPct val="110000"/>
              </a:lnSpc>
              <a:spcAft>
                <a:spcPts val="0"/>
              </a:spcAft>
            </a:pPr>
            <a:r>
              <a:rPr sz="1700" b="1" i="0">
                <a:solidFill>
                  <a:srgbClr val="B7791F"/>
                </a:solidFill>
                <a:latin typeface="Calibri"/>
              </a:rPr>
              <a:t>Deepfakes</a:t>
            </a:r>
          </a:p>
        </p:txBody>
      </p:sp>
      <p:sp>
        <p:nvSpPr>
          <p:cNvPr id="20" name="TextBox 19"/>
          <p:cNvSpPr txBox="1"/>
          <p:nvPr/>
        </p:nvSpPr>
        <p:spPr>
          <a:xfrm>
            <a:off x="9153143" y="2286000"/>
            <a:ext cx="2286000" cy="7772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AI-faked faces and voices fool people and checks</a:t>
            </a:r>
          </a:p>
        </p:txBody>
      </p:sp>
      <p:sp>
        <p:nvSpPr>
          <p:cNvPr id="21" name="Rounded Rectangle 20"/>
          <p:cNvSpPr/>
          <p:nvPr/>
        </p:nvSpPr>
        <p:spPr>
          <a:xfrm>
            <a:off x="548640" y="3429000"/>
            <a:ext cx="356616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8640" y="3429000"/>
            <a:ext cx="73152" cy="1234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59" y="3557016"/>
            <a:ext cx="3154679" cy="548640"/>
          </a:xfrm>
          <a:prstGeom prst="rect">
            <a:avLst/>
          </a:prstGeom>
          <a:noFill/>
        </p:spPr>
        <p:txBody>
          <a:bodyPr wrap="square" lIns="0" rIns="0" tIns="0" bIns="0" anchor="t">
            <a:spAutoFit/>
          </a:bodyPr>
          <a:lstStyle/>
          <a:p>
            <a:pPr algn="l">
              <a:lnSpc>
                <a:spcPct val="110000"/>
              </a:lnSpc>
              <a:spcAft>
                <a:spcPts val="0"/>
              </a:spcAft>
            </a:pPr>
            <a:r>
              <a:rPr sz="3000" b="1" i="0">
                <a:solidFill>
                  <a:srgbClr val="C0392B"/>
                </a:solidFill>
                <a:latin typeface="Calibri"/>
              </a:rPr>
              <a:t>US$25 million</a:t>
            </a:r>
          </a:p>
        </p:txBody>
      </p:sp>
      <p:sp>
        <p:nvSpPr>
          <p:cNvPr id="24" name="TextBox 23"/>
          <p:cNvSpPr txBox="1"/>
          <p:nvPr/>
        </p:nvSpPr>
        <p:spPr>
          <a:xfrm>
            <a:off x="822959" y="4142232"/>
            <a:ext cx="3154679"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lost in one deepfake video call, Hong Kong, January 2024</a:t>
            </a:r>
          </a:p>
        </p:txBody>
      </p:sp>
      <p:sp>
        <p:nvSpPr>
          <p:cNvPr id="25" name="Rounded Rectangle 24"/>
          <p:cNvSpPr/>
          <p:nvPr/>
        </p:nvSpPr>
        <p:spPr>
          <a:xfrm>
            <a:off x="4315968" y="3429000"/>
            <a:ext cx="356616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15968" y="3429000"/>
            <a:ext cx="73152" cy="1234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90288" y="3557016"/>
            <a:ext cx="3154679" cy="548640"/>
          </a:xfrm>
          <a:prstGeom prst="rect">
            <a:avLst/>
          </a:prstGeom>
          <a:noFill/>
        </p:spPr>
        <p:txBody>
          <a:bodyPr wrap="square" lIns="0" rIns="0" tIns="0" bIns="0" anchor="t">
            <a:spAutoFit/>
          </a:bodyPr>
          <a:lstStyle/>
          <a:p>
            <a:pPr algn="l">
              <a:lnSpc>
                <a:spcPct val="110000"/>
              </a:lnSpc>
              <a:spcAft>
                <a:spcPts val="0"/>
              </a:spcAft>
            </a:pPr>
            <a:r>
              <a:rPr sz="3000" b="1" i="0">
                <a:solidFill>
                  <a:srgbClr val="C0392B"/>
                </a:solidFill>
                <a:latin typeface="Calibri"/>
              </a:rPr>
              <a:t>US$40 billion</a:t>
            </a:r>
          </a:p>
        </p:txBody>
      </p:sp>
      <p:sp>
        <p:nvSpPr>
          <p:cNvPr id="28" name="TextBox 27"/>
          <p:cNvSpPr txBox="1"/>
          <p:nvPr/>
        </p:nvSpPr>
        <p:spPr>
          <a:xfrm>
            <a:off x="4590288" y="4142232"/>
            <a:ext cx="3154679"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projected US fraud losses enabled by generative AI by 2027 (32% a year)</a:t>
            </a:r>
          </a:p>
        </p:txBody>
      </p:sp>
      <p:sp>
        <p:nvSpPr>
          <p:cNvPr id="29" name="Rounded Rectangle 28"/>
          <p:cNvSpPr/>
          <p:nvPr/>
        </p:nvSpPr>
        <p:spPr>
          <a:xfrm>
            <a:off x="8083296" y="3429000"/>
            <a:ext cx="3566160"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083296" y="3429000"/>
            <a:ext cx="73152" cy="123444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357616" y="3557016"/>
            <a:ext cx="3154679" cy="548640"/>
          </a:xfrm>
          <a:prstGeom prst="rect">
            <a:avLst/>
          </a:prstGeom>
          <a:noFill/>
        </p:spPr>
        <p:txBody>
          <a:bodyPr wrap="square" lIns="0" rIns="0" tIns="0" bIns="0" anchor="t">
            <a:spAutoFit/>
          </a:bodyPr>
          <a:lstStyle/>
          <a:p>
            <a:pPr algn="l">
              <a:lnSpc>
                <a:spcPct val="110000"/>
              </a:lnSpc>
              <a:spcAft>
                <a:spcPts val="0"/>
              </a:spcAft>
            </a:pPr>
            <a:r>
              <a:rPr sz="3000" b="1" i="0">
                <a:solidFill>
                  <a:srgbClr val="1F5FAD"/>
                </a:solidFill>
                <a:latin typeface="Calibri"/>
              </a:rPr>
              <a:t>40+ million</a:t>
            </a:r>
          </a:p>
        </p:txBody>
      </p:sp>
      <p:sp>
        <p:nvSpPr>
          <p:cNvPr id="32" name="TextBox 31"/>
          <p:cNvSpPr txBox="1"/>
          <p:nvPr/>
        </p:nvSpPr>
        <p:spPr>
          <a:xfrm>
            <a:off x="8357616" y="4142232"/>
            <a:ext cx="3154679" cy="502920"/>
          </a:xfrm>
          <a:prstGeom prst="rect">
            <a:avLst/>
          </a:prstGeom>
          <a:noFill/>
        </p:spPr>
        <p:txBody>
          <a:bodyPr wrap="square" lIns="0" rIns="0" tIns="0" bIns="0" anchor="t">
            <a:spAutoFit/>
          </a:bodyPr>
          <a:lstStyle/>
          <a:p>
            <a:pPr algn="l">
              <a:lnSpc>
                <a:spcPct val="100000"/>
              </a:lnSpc>
              <a:spcAft>
                <a:spcPts val="0"/>
              </a:spcAft>
            </a:pPr>
            <a:r>
              <a:rPr sz="1300" b="0" i="0">
                <a:solidFill>
                  <a:srgbClr val="1F2937"/>
                </a:solidFill>
                <a:latin typeface="Calibri"/>
              </a:rPr>
              <a:t>vehicles use the camera that a strip of tape fooled</a:t>
            </a:r>
          </a:p>
        </p:txBody>
      </p:sp>
      <p:sp>
        <p:nvSpPr>
          <p:cNvPr id="33" name="TextBox 32"/>
          <p:cNvSpPr txBox="1"/>
          <p:nvPr/>
        </p:nvSpPr>
        <p:spPr>
          <a:xfrm>
            <a:off x="548640" y="4983480"/>
            <a:ext cx="11064240" cy="1097280"/>
          </a:xfrm>
          <a:prstGeom prst="rect">
            <a:avLst/>
          </a:prstGeom>
          <a:noFill/>
        </p:spPr>
        <p:txBody>
          <a:bodyPr wrap="square" lIns="0" rIns="0" tIns="0" bIns="0" anchor="t">
            <a:spAutoFit/>
          </a:bodyPr>
          <a:lstStyle/>
          <a:p>
            <a:pPr algn="l">
              <a:lnSpc>
                <a:spcPct val="110000"/>
              </a:lnSpc>
              <a:spcAft>
                <a:spcPts val="600"/>
              </a:spcAft>
            </a:pPr>
            <a:r>
              <a:rPr sz="1500" b="1" i="0">
                <a:solidFill>
                  <a:srgbClr val="1F2937"/>
                </a:solidFill>
                <a:latin typeface="Calibri"/>
              </a:rPr>
              <a:t>Most exposed industries:</a:t>
            </a:r>
            <a:r>
              <a:rPr sz="1500" b="0" i="0">
                <a:solidFill>
                  <a:srgbClr val="1F2937"/>
                </a:solidFill>
                <a:latin typeface="Calibri"/>
              </a:rPr>
              <a:t> autonomous vehicles (safety), finance (money moved on a faked instruction) and healthcare (life-critical model decisions).</a:t>
            </a:r>
          </a:p>
        </p:txBody>
      </p:sp>
      <p:cxnSp>
        <p:nvCxnSpPr>
          <p:cNvPr id="34" name="Connector 33"/>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Lalchand et al. (2024); Povolny &amp; Trivedi (2020); Parisi (2019, Ch. 10).</a:t>
            </a:r>
          </a:p>
        </p:txBody>
      </p:sp>
      <p:sp>
        <p:nvSpPr>
          <p:cNvPr id="36" name="TextBox 35"/>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1 · CASE STUDIES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Three real attacks that made headlines</a:t>
            </a:r>
          </a:p>
        </p:txBody>
      </p:sp>
      <p:sp>
        <p:nvSpPr>
          <p:cNvPr id="5" name="Rounded Rectangle 4"/>
          <p:cNvSpPr/>
          <p:nvPr/>
        </p:nvSpPr>
        <p:spPr>
          <a:xfrm>
            <a:off x="548640" y="1645920"/>
            <a:ext cx="3611880" cy="3429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645920"/>
            <a:ext cx="3611880" cy="82296"/>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874519"/>
            <a:ext cx="3154680" cy="274320"/>
          </a:xfrm>
          <a:prstGeom prst="rect">
            <a:avLst/>
          </a:prstGeom>
          <a:noFill/>
        </p:spPr>
        <p:txBody>
          <a:bodyPr wrap="square" lIns="0" rIns="0" tIns="0" bIns="0" anchor="t">
            <a:spAutoFit/>
          </a:bodyPr>
          <a:lstStyle/>
          <a:p>
            <a:pPr algn="l">
              <a:lnSpc>
                <a:spcPct val="110000"/>
              </a:lnSpc>
              <a:spcAft>
                <a:spcPts val="0"/>
              </a:spcAft>
            </a:pPr>
            <a:r>
              <a:rPr sz="1100" b="1" i="0">
                <a:solidFill>
                  <a:srgbClr val="1F5FAD"/>
                </a:solidFill>
                <a:latin typeface="Calibri"/>
              </a:rPr>
              <a:t>AUTONOMOUS VEHICLES · EVASION</a:t>
            </a:r>
          </a:p>
        </p:txBody>
      </p:sp>
      <p:sp>
        <p:nvSpPr>
          <p:cNvPr id="8" name="TextBox 7"/>
          <p:cNvSpPr txBox="1"/>
          <p:nvPr/>
        </p:nvSpPr>
        <p:spPr>
          <a:xfrm>
            <a:off x="777240" y="2148840"/>
            <a:ext cx="3154680" cy="685800"/>
          </a:xfrm>
          <a:prstGeom prst="rect">
            <a:avLst/>
          </a:prstGeom>
          <a:noFill/>
        </p:spPr>
        <p:txBody>
          <a:bodyPr wrap="square" lIns="0" rIns="0" tIns="0" bIns="0" anchor="t">
            <a:spAutoFit/>
          </a:bodyPr>
          <a:lstStyle/>
          <a:p>
            <a:pPr algn="l">
              <a:lnSpc>
                <a:spcPct val="100000"/>
              </a:lnSpc>
              <a:spcAft>
                <a:spcPts val="0"/>
              </a:spcAft>
            </a:pPr>
            <a:r>
              <a:rPr sz="1800" b="1" i="0">
                <a:solidFill>
                  <a:srgbClr val="0F1B2D"/>
                </a:solidFill>
                <a:latin typeface="Calibri"/>
              </a:rPr>
              <a:t>Tesla: tape on a speed sign</a:t>
            </a:r>
          </a:p>
        </p:txBody>
      </p:sp>
      <p:sp>
        <p:nvSpPr>
          <p:cNvPr id="9" name="TextBox 8"/>
          <p:cNvSpPr txBox="1"/>
          <p:nvPr/>
        </p:nvSpPr>
        <p:spPr>
          <a:xfrm>
            <a:off x="777240" y="2880360"/>
            <a:ext cx="3154680" cy="2057400"/>
          </a:xfrm>
          <a:prstGeom prst="rect">
            <a:avLst/>
          </a:prstGeom>
          <a:noFill/>
        </p:spPr>
        <p:txBody>
          <a:bodyPr wrap="square" lIns="0" rIns="0" tIns="0" bIns="0" anchor="t">
            <a:spAutoFit/>
          </a:bodyPr>
          <a:lstStyle/>
          <a:p>
            <a:pPr algn="l">
              <a:lnSpc>
                <a:spcPct val="110000"/>
              </a:lnSpc>
              <a:spcAft>
                <a:spcPts val="700"/>
              </a:spcAft>
            </a:pPr>
            <a:r>
              <a:rPr sz="1300" b="1" i="0">
                <a:solidFill>
                  <a:srgbClr val="1F2937"/>
                </a:solidFill>
                <a:latin typeface="Calibri"/>
              </a:rPr>
              <a:t>How:</a:t>
            </a:r>
            <a:r>
              <a:rPr sz="1300" b="0" i="0">
                <a:solidFill>
                  <a:srgbClr val="1F2937"/>
                </a:solidFill>
                <a:latin typeface="Calibri"/>
              </a:rPr>
              <a:t> 5 cm of black tape on a 35 mph sign made the MobilEye camera read 85.</a:t>
            </a:r>
          </a:p>
          <a:p>
            <a:pPr algn="l">
              <a:lnSpc>
                <a:spcPct val="110000"/>
              </a:lnSpc>
              <a:spcAft>
                <a:spcPts val="700"/>
              </a:spcAft>
            </a:pPr>
            <a:r>
              <a:rPr sz="1300" b="1" i="0">
                <a:solidFill>
                  <a:srgbClr val="1F2937"/>
                </a:solidFill>
                <a:latin typeface="Calibri"/>
              </a:rPr>
              <a:t>Impact:</a:t>
            </a:r>
            <a:r>
              <a:rPr sz="1300" b="0" i="0">
                <a:solidFill>
                  <a:srgbClr val="1F2937"/>
                </a:solidFill>
                <a:latin typeface="Calibri"/>
              </a:rPr>
              <a:t> The car began accelerating toward 85 mph; the camera is in 40+ million vehicles.</a:t>
            </a:r>
          </a:p>
          <a:p>
            <a:pPr algn="l">
              <a:lnSpc>
                <a:spcPct val="110000"/>
              </a:lnSpc>
              <a:spcAft>
                <a:spcPts val="700"/>
              </a:spcAft>
            </a:pPr>
            <a:r>
              <a:rPr sz="1300" b="1" i="0">
                <a:solidFill>
                  <a:srgbClr val="1F2937"/>
                </a:solidFill>
                <a:latin typeface="Calibri"/>
              </a:rPr>
              <a:t>Outcome:</a:t>
            </a:r>
            <a:r>
              <a:rPr sz="1300" b="0" i="0">
                <a:solidFill>
                  <a:srgbClr val="1F2937"/>
                </a:solidFill>
                <a:latin typeface="Calibri"/>
              </a:rPr>
              <a:t> Newer cameras handle it; older cars were not updated.</a:t>
            </a:r>
          </a:p>
        </p:txBody>
      </p:sp>
      <p:sp>
        <p:nvSpPr>
          <p:cNvPr id="10" name="Rounded Rectangle 9"/>
          <p:cNvSpPr/>
          <p:nvPr/>
        </p:nvSpPr>
        <p:spPr>
          <a:xfrm>
            <a:off x="4325112" y="1645920"/>
            <a:ext cx="3611880" cy="3429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25112" y="1645920"/>
            <a:ext cx="361188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53712" y="1874519"/>
            <a:ext cx="3154680" cy="274320"/>
          </a:xfrm>
          <a:prstGeom prst="rect">
            <a:avLst/>
          </a:prstGeom>
          <a:noFill/>
        </p:spPr>
        <p:txBody>
          <a:bodyPr wrap="square" lIns="0" rIns="0" tIns="0" bIns="0" anchor="t">
            <a:spAutoFit/>
          </a:bodyPr>
          <a:lstStyle/>
          <a:p>
            <a:pPr algn="l">
              <a:lnSpc>
                <a:spcPct val="110000"/>
              </a:lnSpc>
              <a:spcAft>
                <a:spcPts val="0"/>
              </a:spcAft>
            </a:pPr>
            <a:r>
              <a:rPr sz="1100" b="1" i="0">
                <a:solidFill>
                  <a:srgbClr val="C0392B"/>
                </a:solidFill>
                <a:latin typeface="Calibri"/>
              </a:rPr>
              <a:t>FINANCE · DEEPFAKE</a:t>
            </a:r>
          </a:p>
        </p:txBody>
      </p:sp>
      <p:sp>
        <p:nvSpPr>
          <p:cNvPr id="13" name="TextBox 12"/>
          <p:cNvSpPr txBox="1"/>
          <p:nvPr/>
        </p:nvSpPr>
        <p:spPr>
          <a:xfrm>
            <a:off x="4553712" y="2148840"/>
            <a:ext cx="3154680" cy="685800"/>
          </a:xfrm>
          <a:prstGeom prst="rect">
            <a:avLst/>
          </a:prstGeom>
          <a:noFill/>
        </p:spPr>
        <p:txBody>
          <a:bodyPr wrap="square" lIns="0" rIns="0" tIns="0" bIns="0" anchor="t">
            <a:spAutoFit/>
          </a:bodyPr>
          <a:lstStyle/>
          <a:p>
            <a:pPr algn="l">
              <a:lnSpc>
                <a:spcPct val="100000"/>
              </a:lnSpc>
              <a:spcAft>
                <a:spcPts val="0"/>
              </a:spcAft>
            </a:pPr>
            <a:r>
              <a:rPr sz="1800" b="1" i="0">
                <a:solidFill>
                  <a:srgbClr val="0F1B2D"/>
                </a:solidFill>
                <a:latin typeface="Calibri"/>
              </a:rPr>
              <a:t>Hong Kong: a fake CFO on video</a:t>
            </a:r>
          </a:p>
        </p:txBody>
      </p:sp>
      <p:sp>
        <p:nvSpPr>
          <p:cNvPr id="14" name="TextBox 13"/>
          <p:cNvSpPr txBox="1"/>
          <p:nvPr/>
        </p:nvSpPr>
        <p:spPr>
          <a:xfrm>
            <a:off x="4553712" y="2880360"/>
            <a:ext cx="3154680" cy="2057400"/>
          </a:xfrm>
          <a:prstGeom prst="rect">
            <a:avLst/>
          </a:prstGeom>
          <a:noFill/>
        </p:spPr>
        <p:txBody>
          <a:bodyPr wrap="square" lIns="0" rIns="0" tIns="0" bIns="0" anchor="t">
            <a:spAutoFit/>
          </a:bodyPr>
          <a:lstStyle/>
          <a:p>
            <a:pPr algn="l">
              <a:lnSpc>
                <a:spcPct val="110000"/>
              </a:lnSpc>
              <a:spcAft>
                <a:spcPts val="700"/>
              </a:spcAft>
            </a:pPr>
            <a:r>
              <a:rPr sz="1300" b="1" i="0">
                <a:solidFill>
                  <a:srgbClr val="1F2937"/>
                </a:solidFill>
                <a:latin typeface="Calibri"/>
              </a:rPr>
              <a:t>How:</a:t>
            </a:r>
            <a:r>
              <a:rPr sz="1300" b="0" i="0">
                <a:solidFill>
                  <a:srgbClr val="1F2937"/>
                </a:solidFill>
                <a:latin typeface="Calibri"/>
              </a:rPr>
              <a:t> An employee joined a video call where the CFO and colleagues were all deepfakes.</a:t>
            </a:r>
          </a:p>
          <a:p>
            <a:pPr algn="l">
              <a:lnSpc>
                <a:spcPct val="110000"/>
              </a:lnSpc>
              <a:spcAft>
                <a:spcPts val="700"/>
              </a:spcAft>
            </a:pPr>
            <a:r>
              <a:rPr sz="1300" b="1" i="0">
                <a:solidFill>
                  <a:srgbClr val="1F2937"/>
                </a:solidFill>
                <a:latin typeface="Calibri"/>
              </a:rPr>
              <a:t>Impact:</a:t>
            </a:r>
            <a:r>
              <a:rPr sz="1300" b="0" i="0">
                <a:solidFill>
                  <a:srgbClr val="1F2937"/>
                </a:solidFill>
                <a:latin typeface="Calibri"/>
              </a:rPr>
              <a:t> </a:t>
            </a:r>
            <a:r>
              <a:rPr sz="1300" b="1" i="0">
                <a:solidFill>
                  <a:srgbClr val="1F2937"/>
                </a:solidFill>
                <a:latin typeface="Calibri"/>
              </a:rPr>
              <a:t>US$25 million</a:t>
            </a:r>
            <a:r>
              <a:rPr sz="1300" b="0" i="0">
                <a:solidFill>
                  <a:srgbClr val="1F2937"/>
                </a:solidFill>
                <a:latin typeface="Calibri"/>
              </a:rPr>
              <a:t> sent to the fraudsters.</a:t>
            </a:r>
          </a:p>
          <a:p>
            <a:pPr algn="l">
              <a:lnSpc>
                <a:spcPct val="110000"/>
              </a:lnSpc>
              <a:spcAft>
                <a:spcPts val="700"/>
              </a:spcAft>
            </a:pPr>
            <a:r>
              <a:rPr sz="1300" b="1" i="0">
                <a:solidFill>
                  <a:srgbClr val="1F2937"/>
                </a:solidFill>
                <a:latin typeface="Calibri"/>
              </a:rPr>
              <a:t>Outcome:</a:t>
            </a:r>
            <a:r>
              <a:rPr sz="1300" b="0" i="0">
                <a:solidFill>
                  <a:srgbClr val="1F2937"/>
                </a:solidFill>
                <a:latin typeface="Calibri"/>
              </a:rPr>
              <a:t> Money lost; the firm and its staff were tricked, not its IT systems.</a:t>
            </a:r>
          </a:p>
        </p:txBody>
      </p:sp>
      <p:sp>
        <p:nvSpPr>
          <p:cNvPr id="15" name="Rounded Rectangle 14"/>
          <p:cNvSpPr/>
          <p:nvPr/>
        </p:nvSpPr>
        <p:spPr>
          <a:xfrm>
            <a:off x="8101583" y="1645920"/>
            <a:ext cx="3611880" cy="342900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101583" y="1645920"/>
            <a:ext cx="3611880" cy="82296"/>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0183" y="1874519"/>
            <a:ext cx="3154680" cy="274320"/>
          </a:xfrm>
          <a:prstGeom prst="rect">
            <a:avLst/>
          </a:prstGeom>
          <a:noFill/>
        </p:spPr>
        <p:txBody>
          <a:bodyPr wrap="square" lIns="0" rIns="0" tIns="0" bIns="0" anchor="t">
            <a:spAutoFit/>
          </a:bodyPr>
          <a:lstStyle/>
          <a:p>
            <a:pPr algn="l">
              <a:lnSpc>
                <a:spcPct val="110000"/>
              </a:lnSpc>
              <a:spcAft>
                <a:spcPts val="0"/>
              </a:spcAft>
            </a:pPr>
            <a:r>
              <a:rPr sz="1100" b="1" i="0">
                <a:solidFill>
                  <a:srgbClr val="B7791F"/>
                </a:solidFill>
                <a:latin typeface="Calibri"/>
              </a:rPr>
              <a:t>ENTERPRISE AI · PROMPT INJECTION</a:t>
            </a:r>
          </a:p>
        </p:txBody>
      </p:sp>
      <p:sp>
        <p:nvSpPr>
          <p:cNvPr id="18" name="TextBox 17"/>
          <p:cNvSpPr txBox="1"/>
          <p:nvPr/>
        </p:nvSpPr>
        <p:spPr>
          <a:xfrm>
            <a:off x="8330183" y="2148840"/>
            <a:ext cx="3154680" cy="685800"/>
          </a:xfrm>
          <a:prstGeom prst="rect">
            <a:avLst/>
          </a:prstGeom>
          <a:noFill/>
        </p:spPr>
        <p:txBody>
          <a:bodyPr wrap="square" lIns="0" rIns="0" tIns="0" bIns="0" anchor="t">
            <a:spAutoFit/>
          </a:bodyPr>
          <a:lstStyle/>
          <a:p>
            <a:pPr algn="l">
              <a:lnSpc>
                <a:spcPct val="100000"/>
              </a:lnSpc>
              <a:spcAft>
                <a:spcPts val="0"/>
              </a:spcAft>
            </a:pPr>
            <a:r>
              <a:rPr sz="1800" b="1" i="0">
                <a:solidFill>
                  <a:srgbClr val="0F1B2D"/>
                </a:solidFill>
                <a:latin typeface="Calibri"/>
              </a:rPr>
              <a:t>EchoLeak: Microsoft 365 Copilot</a:t>
            </a:r>
          </a:p>
        </p:txBody>
      </p:sp>
      <p:sp>
        <p:nvSpPr>
          <p:cNvPr id="19" name="TextBox 18"/>
          <p:cNvSpPr txBox="1"/>
          <p:nvPr/>
        </p:nvSpPr>
        <p:spPr>
          <a:xfrm>
            <a:off x="8330183" y="2880360"/>
            <a:ext cx="3154680" cy="2057400"/>
          </a:xfrm>
          <a:prstGeom prst="rect">
            <a:avLst/>
          </a:prstGeom>
          <a:noFill/>
        </p:spPr>
        <p:txBody>
          <a:bodyPr wrap="square" lIns="0" rIns="0" tIns="0" bIns="0" anchor="t">
            <a:spAutoFit/>
          </a:bodyPr>
          <a:lstStyle/>
          <a:p>
            <a:pPr algn="l">
              <a:lnSpc>
                <a:spcPct val="110000"/>
              </a:lnSpc>
              <a:spcAft>
                <a:spcPts val="700"/>
              </a:spcAft>
            </a:pPr>
            <a:r>
              <a:rPr sz="1300" b="1" i="0">
                <a:solidFill>
                  <a:srgbClr val="1F2937"/>
                </a:solidFill>
                <a:latin typeface="Calibri"/>
              </a:rPr>
              <a:t>How:</a:t>
            </a:r>
            <a:r>
              <a:rPr sz="1300" b="0" i="0">
                <a:solidFill>
                  <a:srgbClr val="1F2937"/>
                </a:solidFill>
                <a:latin typeface="Calibri"/>
              </a:rPr>
              <a:t> A crafted email could make Copilot leak data with zero clicks.</a:t>
            </a:r>
          </a:p>
          <a:p>
            <a:pPr algn="l">
              <a:lnSpc>
                <a:spcPct val="110000"/>
              </a:lnSpc>
              <a:spcAft>
                <a:spcPts val="700"/>
              </a:spcAft>
            </a:pPr>
            <a:r>
              <a:rPr sz="1300" b="1" i="0">
                <a:solidFill>
                  <a:srgbClr val="1F2937"/>
                </a:solidFill>
                <a:latin typeface="Calibri"/>
              </a:rPr>
              <a:t>Impact:</a:t>
            </a:r>
            <a:r>
              <a:rPr sz="1300" b="0" i="0">
                <a:solidFill>
                  <a:srgbClr val="1F2937"/>
                </a:solidFill>
                <a:latin typeface="Calibri"/>
              </a:rPr>
              <a:t> Rated </a:t>
            </a:r>
            <a:r>
              <a:rPr sz="1300" b="1" i="0">
                <a:solidFill>
                  <a:srgbClr val="1F2937"/>
                </a:solidFill>
                <a:latin typeface="Calibri"/>
              </a:rPr>
              <a:t>9.3 Critical</a:t>
            </a:r>
            <a:r>
              <a:rPr sz="1300" b="0" i="0">
                <a:solidFill>
                  <a:srgbClr val="1F2937"/>
                </a:solidFill>
                <a:latin typeface="Calibri"/>
              </a:rPr>
              <a:t> (CVSS).</a:t>
            </a:r>
          </a:p>
          <a:p>
            <a:pPr algn="l">
              <a:lnSpc>
                <a:spcPct val="110000"/>
              </a:lnSpc>
              <a:spcAft>
                <a:spcPts val="700"/>
              </a:spcAft>
            </a:pPr>
            <a:r>
              <a:rPr sz="1300" b="1" i="0">
                <a:solidFill>
                  <a:srgbClr val="1F2937"/>
                </a:solidFill>
                <a:latin typeface="Calibri"/>
              </a:rPr>
              <a:t>Outcome:</a:t>
            </a:r>
            <a:r>
              <a:rPr sz="1300" b="0" i="0">
                <a:solidFill>
                  <a:srgbClr val="1F2937"/>
                </a:solidFill>
                <a:latin typeface="Calibri"/>
              </a:rPr>
              <a:t> Microsoft fixed it server-side; no exploitation was reported.</a:t>
            </a:r>
          </a:p>
        </p:txBody>
      </p:sp>
      <p:sp>
        <p:nvSpPr>
          <p:cNvPr id="20" name="TextBox 19"/>
          <p:cNvSpPr txBox="1"/>
          <p:nvPr/>
        </p:nvSpPr>
        <p:spPr>
          <a:xfrm>
            <a:off x="548640" y="5303520"/>
            <a:ext cx="110642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WHY THEY MADE HEADLINES</a:t>
            </a:r>
          </a:p>
        </p:txBody>
      </p:sp>
      <p:sp>
        <p:nvSpPr>
          <p:cNvPr id="21" name="TextBox 20"/>
          <p:cNvSpPr txBox="1"/>
          <p:nvPr/>
        </p:nvSpPr>
        <p:spPr>
          <a:xfrm>
            <a:off x="548640" y="5623560"/>
            <a:ext cx="11064240" cy="548640"/>
          </a:xfrm>
          <a:prstGeom prst="rect">
            <a:avLst/>
          </a:prstGeom>
          <a:noFill/>
        </p:spPr>
        <p:txBody>
          <a:bodyPr wrap="square" lIns="0" rIns="0" tIns="0" bIns="0" anchor="t">
            <a:spAutoFit/>
          </a:bodyPr>
          <a:lstStyle/>
          <a:p>
            <a:pPr algn="l">
              <a:lnSpc>
                <a:spcPct val="110000"/>
              </a:lnSpc>
              <a:spcAft>
                <a:spcPts val="600"/>
              </a:spcAft>
            </a:pPr>
            <a:r>
              <a:rPr sz="1500" b="0" i="0">
                <a:solidFill>
                  <a:srgbClr val="1F2937"/>
                </a:solidFill>
                <a:latin typeface="Calibri"/>
              </a:rPr>
              <a:t>None needed a break-in: each fooled a trusted AI, or a person, with input crafted for it.</a:t>
            </a:r>
          </a:p>
        </p:txBody>
      </p:sp>
      <p:cxnSp>
        <p:nvCxnSpPr>
          <p:cNvPr id="22" name="Connector 21"/>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Povolny &amp; Trivedi (2020); Lalchand et al. (2024); Microsoft Security Response Center (2025).</a:t>
            </a:r>
          </a:p>
        </p:txBody>
      </p:sp>
      <p:sp>
        <p:nvSpPr>
          <p:cNvPr id="24" name="TextBox 23"/>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STEP 2 · CORPORATE DEFENSES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How Microsoft, Google and Meta defend their AI</a:t>
            </a:r>
          </a:p>
        </p:txBody>
      </p:sp>
      <p:sp>
        <p:nvSpPr>
          <p:cNvPr id="5" name="Rounded Rectangle 4"/>
          <p:cNvSpPr/>
          <p:nvPr/>
        </p:nvSpPr>
        <p:spPr>
          <a:xfrm>
            <a:off x="548640" y="1645920"/>
            <a:ext cx="3611880" cy="324612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645920"/>
            <a:ext cx="3611880" cy="82296"/>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874519"/>
            <a:ext cx="3154680" cy="274320"/>
          </a:xfrm>
          <a:prstGeom prst="rect">
            <a:avLst/>
          </a:prstGeom>
          <a:noFill/>
        </p:spPr>
        <p:txBody>
          <a:bodyPr wrap="square" lIns="0" rIns="0" tIns="0" bIns="0" anchor="t">
            <a:spAutoFit/>
          </a:bodyPr>
          <a:lstStyle/>
          <a:p>
            <a:pPr algn="l">
              <a:lnSpc>
                <a:spcPct val="110000"/>
              </a:lnSpc>
              <a:spcAft>
                <a:spcPts val="0"/>
              </a:spcAft>
            </a:pPr>
            <a:r>
              <a:rPr sz="1100" b="1" i="0">
                <a:solidFill>
                  <a:srgbClr val="1F5FAD"/>
                </a:solidFill>
                <a:latin typeface="Calibri"/>
              </a:rPr>
              <a:t>MICROSOFT · RED TEAMING</a:t>
            </a:r>
          </a:p>
        </p:txBody>
      </p:sp>
      <p:sp>
        <p:nvSpPr>
          <p:cNvPr id="8" name="TextBox 7"/>
          <p:cNvSpPr txBox="1"/>
          <p:nvPr/>
        </p:nvSpPr>
        <p:spPr>
          <a:xfrm>
            <a:off x="777240" y="2148840"/>
            <a:ext cx="3154680" cy="685800"/>
          </a:xfrm>
          <a:prstGeom prst="rect">
            <a:avLst/>
          </a:prstGeom>
          <a:noFill/>
        </p:spPr>
        <p:txBody>
          <a:bodyPr wrap="square" lIns="0" rIns="0" tIns="0" bIns="0" anchor="t">
            <a:spAutoFit/>
          </a:bodyPr>
          <a:lstStyle/>
          <a:p>
            <a:pPr algn="l">
              <a:lnSpc>
                <a:spcPct val="100000"/>
              </a:lnSpc>
              <a:spcAft>
                <a:spcPts val="0"/>
              </a:spcAft>
            </a:pPr>
            <a:r>
              <a:rPr sz="1800" b="1" i="0">
                <a:solidFill>
                  <a:srgbClr val="0F1B2D"/>
                </a:solidFill>
                <a:latin typeface="Calibri"/>
              </a:rPr>
              <a:t>Attack it before attackers do</a:t>
            </a:r>
          </a:p>
        </p:txBody>
      </p:sp>
      <p:sp>
        <p:nvSpPr>
          <p:cNvPr id="9" name="TextBox 8"/>
          <p:cNvSpPr txBox="1"/>
          <p:nvPr/>
        </p:nvSpPr>
        <p:spPr>
          <a:xfrm>
            <a:off x="777240" y="2880360"/>
            <a:ext cx="3154680" cy="1874519"/>
          </a:xfrm>
          <a:prstGeom prst="rect">
            <a:avLst/>
          </a:prstGeom>
          <a:noFill/>
        </p:spPr>
        <p:txBody>
          <a:bodyPr wrap="square" lIns="0" rIns="0" tIns="0" bIns="0" anchor="t">
            <a:spAutoFit/>
          </a:bodyPr>
          <a:lstStyle/>
          <a:p>
            <a:pPr algn="l">
              <a:lnSpc>
                <a:spcPct val="110000"/>
              </a:lnSpc>
              <a:spcAft>
                <a:spcPts val="700"/>
              </a:spcAft>
            </a:pPr>
            <a:r>
              <a:rPr sz="1300" b="0" i="0">
                <a:solidFill>
                  <a:srgbClr val="1F2937"/>
                </a:solidFill>
                <a:latin typeface="Calibri"/>
              </a:rPr>
              <a:t>Red-teamed </a:t>
            </a:r>
            <a:r>
              <a:rPr sz="1300" b="1" i="0">
                <a:solidFill>
                  <a:srgbClr val="1F2937"/>
                </a:solidFill>
                <a:latin typeface="Calibri"/>
              </a:rPr>
              <a:t>100+</a:t>
            </a:r>
            <a:r>
              <a:rPr sz="1300" b="0" i="0">
                <a:solidFill>
                  <a:srgbClr val="1F2937"/>
                </a:solidFill>
                <a:latin typeface="Calibri"/>
              </a:rPr>
              <a:t> generative AI products.</a:t>
            </a:r>
          </a:p>
          <a:p>
            <a:pPr algn="l">
              <a:lnSpc>
                <a:spcPct val="110000"/>
              </a:lnSpc>
              <a:spcAft>
                <a:spcPts val="700"/>
              </a:spcAft>
            </a:pPr>
            <a:r>
              <a:rPr sz="1300" b="0" i="0">
                <a:solidFill>
                  <a:srgbClr val="1F2937"/>
                </a:solidFill>
                <a:latin typeface="Calibri"/>
              </a:rPr>
              <a:t>Lessons: attacks need no gradients, humans stay crucial, security is never finished.</a:t>
            </a:r>
          </a:p>
        </p:txBody>
      </p:sp>
      <p:sp>
        <p:nvSpPr>
          <p:cNvPr id="10" name="Rounded Rectangle 9"/>
          <p:cNvSpPr/>
          <p:nvPr/>
        </p:nvSpPr>
        <p:spPr>
          <a:xfrm>
            <a:off x="4325112" y="1645920"/>
            <a:ext cx="3611880" cy="324612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25112" y="1645920"/>
            <a:ext cx="3611880" cy="82296"/>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53712" y="1874519"/>
            <a:ext cx="3154680" cy="274320"/>
          </a:xfrm>
          <a:prstGeom prst="rect">
            <a:avLst/>
          </a:prstGeom>
          <a:noFill/>
        </p:spPr>
        <p:txBody>
          <a:bodyPr wrap="square" lIns="0" rIns="0" tIns="0" bIns="0" anchor="t">
            <a:spAutoFit/>
          </a:bodyPr>
          <a:lstStyle/>
          <a:p>
            <a:pPr algn="l">
              <a:lnSpc>
                <a:spcPct val="110000"/>
              </a:lnSpc>
              <a:spcAft>
                <a:spcPts val="0"/>
              </a:spcAft>
            </a:pPr>
            <a:r>
              <a:rPr sz="1100" b="1" i="0">
                <a:solidFill>
                  <a:srgbClr val="1E846F"/>
                </a:solidFill>
                <a:latin typeface="Calibri"/>
              </a:rPr>
              <a:t>GOOGLE · ADVERSARIAL TRAINING</a:t>
            </a:r>
          </a:p>
        </p:txBody>
      </p:sp>
      <p:sp>
        <p:nvSpPr>
          <p:cNvPr id="13" name="TextBox 12"/>
          <p:cNvSpPr txBox="1"/>
          <p:nvPr/>
        </p:nvSpPr>
        <p:spPr>
          <a:xfrm>
            <a:off x="4553712" y="2148840"/>
            <a:ext cx="3154680" cy="685800"/>
          </a:xfrm>
          <a:prstGeom prst="rect">
            <a:avLst/>
          </a:prstGeom>
          <a:noFill/>
        </p:spPr>
        <p:txBody>
          <a:bodyPr wrap="square" lIns="0" rIns="0" tIns="0" bIns="0" anchor="t">
            <a:spAutoFit/>
          </a:bodyPr>
          <a:lstStyle/>
          <a:p>
            <a:pPr algn="l">
              <a:lnSpc>
                <a:spcPct val="100000"/>
              </a:lnSpc>
              <a:spcAft>
                <a:spcPts val="0"/>
              </a:spcAft>
            </a:pPr>
            <a:r>
              <a:rPr sz="1800" b="1" i="0">
                <a:solidFill>
                  <a:srgbClr val="0F1B2D"/>
                </a:solidFill>
                <a:latin typeface="Calibri"/>
              </a:rPr>
              <a:t>Layered defense for Gemini</a:t>
            </a:r>
          </a:p>
        </p:txBody>
      </p:sp>
      <p:sp>
        <p:nvSpPr>
          <p:cNvPr id="14" name="TextBox 13"/>
          <p:cNvSpPr txBox="1"/>
          <p:nvPr/>
        </p:nvSpPr>
        <p:spPr>
          <a:xfrm>
            <a:off x="4553712" y="2880360"/>
            <a:ext cx="3154680" cy="1874519"/>
          </a:xfrm>
          <a:prstGeom prst="rect">
            <a:avLst/>
          </a:prstGeom>
          <a:noFill/>
        </p:spPr>
        <p:txBody>
          <a:bodyPr wrap="square" lIns="0" rIns="0" tIns="0" bIns="0" anchor="t">
            <a:spAutoFit/>
          </a:bodyPr>
          <a:lstStyle/>
          <a:p>
            <a:pPr algn="l">
              <a:lnSpc>
                <a:spcPct val="110000"/>
              </a:lnSpc>
              <a:spcAft>
                <a:spcPts val="700"/>
              </a:spcAft>
            </a:pPr>
            <a:r>
              <a:rPr sz="1300" b="0" i="0">
                <a:solidFill>
                  <a:srgbClr val="1F2937"/>
                </a:solidFill>
                <a:latin typeface="Calibri"/>
              </a:rPr>
              <a:t>Training on adversarial data “significantly enhanced” resistance to prompt injection.</a:t>
            </a:r>
          </a:p>
          <a:p>
            <a:pPr algn="l">
              <a:lnSpc>
                <a:spcPct val="110000"/>
              </a:lnSpc>
              <a:spcAft>
                <a:spcPts val="700"/>
              </a:spcAft>
            </a:pPr>
            <a:r>
              <a:rPr sz="1300" b="0" i="0">
                <a:solidFill>
                  <a:srgbClr val="1F2937"/>
                </a:solidFill>
                <a:latin typeface="Calibri"/>
              </a:rPr>
              <a:t>Plus ML classifiers, link redaction and user confirmation.</a:t>
            </a:r>
          </a:p>
        </p:txBody>
      </p:sp>
      <p:sp>
        <p:nvSpPr>
          <p:cNvPr id="15" name="Rounded Rectangle 14"/>
          <p:cNvSpPr/>
          <p:nvPr/>
        </p:nvSpPr>
        <p:spPr>
          <a:xfrm>
            <a:off x="8101583" y="1645920"/>
            <a:ext cx="3611880" cy="324612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101583" y="1645920"/>
            <a:ext cx="361188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0183" y="1874519"/>
            <a:ext cx="3154680" cy="274320"/>
          </a:xfrm>
          <a:prstGeom prst="rect">
            <a:avLst/>
          </a:prstGeom>
          <a:noFill/>
        </p:spPr>
        <p:txBody>
          <a:bodyPr wrap="square" lIns="0" rIns="0" tIns="0" bIns="0" anchor="t">
            <a:spAutoFit/>
          </a:bodyPr>
          <a:lstStyle/>
          <a:p>
            <a:pPr algn="l">
              <a:lnSpc>
                <a:spcPct val="110000"/>
              </a:lnSpc>
              <a:spcAft>
                <a:spcPts val="0"/>
              </a:spcAft>
            </a:pPr>
            <a:r>
              <a:rPr sz="1100" b="1" i="0">
                <a:solidFill>
                  <a:srgbClr val="C0392B"/>
                </a:solidFill>
                <a:latin typeface="Calibri"/>
              </a:rPr>
              <a:t>META · OPEN GUARDRAILS</a:t>
            </a:r>
          </a:p>
        </p:txBody>
      </p:sp>
      <p:sp>
        <p:nvSpPr>
          <p:cNvPr id="18" name="TextBox 17"/>
          <p:cNvSpPr txBox="1"/>
          <p:nvPr/>
        </p:nvSpPr>
        <p:spPr>
          <a:xfrm>
            <a:off x="8330183" y="2148840"/>
            <a:ext cx="3154680" cy="685800"/>
          </a:xfrm>
          <a:prstGeom prst="rect">
            <a:avLst/>
          </a:prstGeom>
          <a:noFill/>
        </p:spPr>
        <p:txBody>
          <a:bodyPr wrap="square" lIns="0" rIns="0" tIns="0" bIns="0" anchor="t">
            <a:spAutoFit/>
          </a:bodyPr>
          <a:lstStyle/>
          <a:p>
            <a:pPr algn="l">
              <a:lnSpc>
                <a:spcPct val="100000"/>
              </a:lnSpc>
              <a:spcAft>
                <a:spcPts val="0"/>
              </a:spcAft>
            </a:pPr>
            <a:r>
              <a:rPr sz="1800" b="1" i="0">
                <a:solidFill>
                  <a:srgbClr val="0F1B2D"/>
                </a:solidFill>
                <a:latin typeface="Calibri"/>
              </a:rPr>
              <a:t>LlamaFirewall for AI agents</a:t>
            </a:r>
          </a:p>
        </p:txBody>
      </p:sp>
      <p:sp>
        <p:nvSpPr>
          <p:cNvPr id="19" name="TextBox 18"/>
          <p:cNvSpPr txBox="1"/>
          <p:nvPr/>
        </p:nvSpPr>
        <p:spPr>
          <a:xfrm>
            <a:off x="8330183" y="2880360"/>
            <a:ext cx="3154680" cy="1874519"/>
          </a:xfrm>
          <a:prstGeom prst="rect">
            <a:avLst/>
          </a:prstGeom>
          <a:noFill/>
        </p:spPr>
        <p:txBody>
          <a:bodyPr wrap="square" lIns="0" rIns="0" tIns="0" bIns="0" anchor="t">
            <a:spAutoFit/>
          </a:bodyPr>
          <a:lstStyle/>
          <a:p>
            <a:pPr algn="l">
              <a:lnSpc>
                <a:spcPct val="110000"/>
              </a:lnSpc>
              <a:spcAft>
                <a:spcPts val="700"/>
              </a:spcAft>
            </a:pPr>
            <a:r>
              <a:rPr sz="1300" b="1" i="0">
                <a:solidFill>
                  <a:srgbClr val="1F2937"/>
                </a:solidFill>
                <a:latin typeface="Calibri"/>
              </a:rPr>
              <a:t>PromptGuard 2</a:t>
            </a:r>
            <a:r>
              <a:rPr sz="1300" b="0" i="0">
                <a:solidFill>
                  <a:srgbClr val="1F2937"/>
                </a:solidFill>
                <a:latin typeface="Calibri"/>
              </a:rPr>
              <a:t> detects jailbreaks; </a:t>
            </a:r>
            <a:r>
              <a:rPr sz="1300" b="1" i="0">
                <a:solidFill>
                  <a:srgbClr val="1F2937"/>
                </a:solidFill>
                <a:latin typeface="Calibri"/>
              </a:rPr>
              <a:t>AlignmentCheck</a:t>
            </a:r>
            <a:r>
              <a:rPr sz="1300" b="0" i="0">
                <a:solidFill>
                  <a:srgbClr val="1F2937"/>
                </a:solidFill>
                <a:latin typeface="Calibri"/>
              </a:rPr>
              <a:t> audits agent reasoning.</a:t>
            </a:r>
          </a:p>
          <a:p>
            <a:pPr algn="l">
              <a:lnSpc>
                <a:spcPct val="110000"/>
              </a:lnSpc>
              <a:spcAft>
                <a:spcPts val="700"/>
              </a:spcAft>
            </a:pPr>
            <a:r>
              <a:rPr sz="1300" b="1" i="0">
                <a:solidFill>
                  <a:srgbClr val="1F2937"/>
                </a:solidFill>
                <a:latin typeface="Calibri"/>
              </a:rPr>
              <a:t>CodeShield</a:t>
            </a:r>
            <a:r>
              <a:rPr sz="1300" b="0" i="0">
                <a:solidFill>
                  <a:srgbClr val="1F2937"/>
                </a:solidFill>
                <a:latin typeface="Calibri"/>
              </a:rPr>
              <a:t> blocks insecure generated code.</a:t>
            </a:r>
          </a:p>
        </p:txBody>
      </p:sp>
      <p:sp>
        <p:nvSpPr>
          <p:cNvPr id="20" name="TextBox 19"/>
          <p:cNvSpPr txBox="1"/>
          <p:nvPr/>
        </p:nvSpPr>
        <p:spPr>
          <a:xfrm>
            <a:off x="548640" y="5074920"/>
            <a:ext cx="110642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WHAT IS PROVING MOST EFFECTIVE</a:t>
            </a:r>
          </a:p>
        </p:txBody>
      </p:sp>
      <p:sp>
        <p:nvSpPr>
          <p:cNvPr id="21" name="TextBox 20"/>
          <p:cNvSpPr txBox="1"/>
          <p:nvPr/>
        </p:nvSpPr>
        <p:spPr>
          <a:xfrm>
            <a:off x="548640" y="5394960"/>
            <a:ext cx="11064240" cy="731520"/>
          </a:xfrm>
          <a:prstGeom prst="rect">
            <a:avLst/>
          </a:prstGeom>
          <a:noFill/>
        </p:spPr>
        <p:txBody>
          <a:bodyPr wrap="square" lIns="0" rIns="0" tIns="0" bIns="0" anchor="t">
            <a:spAutoFit/>
          </a:bodyPr>
          <a:lstStyle/>
          <a:p>
            <a:pPr algn="l">
              <a:lnSpc>
                <a:spcPct val="110000"/>
              </a:lnSpc>
              <a:spcAft>
                <a:spcPts val="600"/>
              </a:spcAft>
            </a:pPr>
            <a:r>
              <a:rPr sz="1500" b="1" i="0">
                <a:solidFill>
                  <a:srgbClr val="1F2937"/>
                </a:solidFill>
                <a:latin typeface="Calibri"/>
              </a:rPr>
              <a:t>Layers, not one fix:</a:t>
            </a:r>
            <a:r>
              <a:rPr sz="1500" b="0" i="0">
                <a:solidFill>
                  <a:srgbClr val="1F2937"/>
                </a:solidFill>
                <a:latin typeface="Calibri"/>
              </a:rPr>
              <a:t> adversarial training + input/output classifiers + continuous red teaming + a human check before money moves.</a:t>
            </a:r>
          </a:p>
        </p:txBody>
      </p:sp>
      <p:cxnSp>
        <p:nvCxnSpPr>
          <p:cNvPr id="22" name="Connector 21"/>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Bullwinkel et al. (2025); Google GenAI Security Team (2025); Chennabasappa et al. (2025).</a:t>
            </a:r>
          </a:p>
        </p:txBody>
      </p:sp>
      <p:sp>
        <p:nvSpPr>
          <p:cNvPr id="24" name="TextBox 23"/>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COMPARISON CHART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Industry comparison: attack types vs. defense strategies</a:t>
            </a:r>
          </a:p>
        </p:txBody>
      </p:sp>
      <p:sp>
        <p:nvSpPr>
          <p:cNvPr id="5" name="Rectangle 4"/>
          <p:cNvSpPr/>
          <p:nvPr/>
        </p:nvSpPr>
        <p:spPr>
          <a:xfrm>
            <a:off x="548640" y="1600200"/>
            <a:ext cx="11064240" cy="6858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737360"/>
            <a:ext cx="1783080" cy="457200"/>
          </a:xfrm>
          <a:prstGeom prst="rect">
            <a:avLst/>
          </a:prstGeom>
          <a:noFill/>
        </p:spPr>
        <p:txBody>
          <a:bodyPr wrap="square" lIns="0" rIns="0" tIns="0" bIns="0" anchor="ctr">
            <a:spAutoFit/>
          </a:bodyPr>
          <a:lstStyle/>
          <a:p>
            <a:pPr algn="l">
              <a:lnSpc>
                <a:spcPct val="110000"/>
              </a:lnSpc>
              <a:spcAft>
                <a:spcPts val="600"/>
              </a:spcAft>
            </a:pPr>
            <a:r>
              <a:rPr sz="1300" b="1" i="0">
                <a:solidFill>
                  <a:srgbClr val="FFFFFF"/>
                </a:solidFill>
                <a:latin typeface="Calibri"/>
              </a:rPr>
              <a:t>Attack type</a:t>
            </a:r>
          </a:p>
        </p:txBody>
      </p:sp>
      <p:sp>
        <p:nvSpPr>
          <p:cNvPr id="7" name="TextBox 6"/>
          <p:cNvSpPr txBox="1"/>
          <p:nvPr/>
        </p:nvSpPr>
        <p:spPr>
          <a:xfrm>
            <a:off x="2606040" y="1737360"/>
            <a:ext cx="2057400" cy="457200"/>
          </a:xfrm>
          <a:prstGeom prst="rect">
            <a:avLst/>
          </a:prstGeom>
          <a:noFill/>
        </p:spPr>
        <p:txBody>
          <a:bodyPr wrap="square" lIns="0" rIns="0" tIns="0" bIns="0" anchor="ctr">
            <a:spAutoFit/>
          </a:bodyPr>
          <a:lstStyle/>
          <a:p>
            <a:pPr algn="l">
              <a:lnSpc>
                <a:spcPct val="110000"/>
              </a:lnSpc>
              <a:spcAft>
                <a:spcPts val="600"/>
              </a:spcAft>
            </a:pPr>
            <a:r>
              <a:rPr sz="1300" b="1" i="0">
                <a:solidFill>
                  <a:srgbClr val="FFFFFF"/>
                </a:solidFill>
                <a:latin typeface="Calibri"/>
              </a:rPr>
              <a:t>Industry most hit</a:t>
            </a:r>
          </a:p>
        </p:txBody>
      </p:sp>
      <p:sp>
        <p:nvSpPr>
          <p:cNvPr id="8" name="TextBox 7"/>
          <p:cNvSpPr txBox="1"/>
          <p:nvPr/>
        </p:nvSpPr>
        <p:spPr>
          <a:xfrm>
            <a:off x="4800600" y="1673352"/>
            <a:ext cx="1280160" cy="548640"/>
          </a:xfrm>
          <a:prstGeom prst="rect">
            <a:avLst/>
          </a:prstGeom>
          <a:noFill/>
        </p:spPr>
        <p:txBody>
          <a:bodyPr wrap="square" lIns="0" rIns="0" tIns="0" bIns="0" anchor="ctr">
            <a:spAutoFit/>
          </a:bodyPr>
          <a:lstStyle/>
          <a:p>
            <a:pPr algn="ctr">
              <a:lnSpc>
                <a:spcPct val="100000"/>
              </a:lnSpc>
              <a:spcAft>
                <a:spcPts val="0"/>
              </a:spcAft>
            </a:pPr>
            <a:r>
              <a:rPr sz="1200" b="1" i="0">
                <a:solidFill>
                  <a:srgbClr val="FFFFFF"/>
                </a:solidFill>
                <a:latin typeface="Calibri"/>
              </a:rPr>
              <a:t>Adversarial training</a:t>
            </a:r>
          </a:p>
        </p:txBody>
      </p:sp>
      <p:sp>
        <p:nvSpPr>
          <p:cNvPr id="9" name="TextBox 8"/>
          <p:cNvSpPr txBox="1"/>
          <p:nvPr/>
        </p:nvSpPr>
        <p:spPr>
          <a:xfrm>
            <a:off x="6172200" y="1673352"/>
            <a:ext cx="1280160" cy="548640"/>
          </a:xfrm>
          <a:prstGeom prst="rect">
            <a:avLst/>
          </a:prstGeom>
          <a:noFill/>
        </p:spPr>
        <p:txBody>
          <a:bodyPr wrap="square" lIns="0" rIns="0" tIns="0" bIns="0" anchor="ctr">
            <a:spAutoFit/>
          </a:bodyPr>
          <a:lstStyle/>
          <a:p>
            <a:pPr algn="ctr">
              <a:lnSpc>
                <a:spcPct val="100000"/>
              </a:lnSpc>
              <a:spcAft>
                <a:spcPts val="0"/>
              </a:spcAft>
            </a:pPr>
            <a:r>
              <a:rPr sz="1200" b="1" i="0">
                <a:solidFill>
                  <a:srgbClr val="FFFFFF"/>
                </a:solidFill>
                <a:latin typeface="Calibri"/>
              </a:rPr>
              <a:t>Red teaming &amp; testing</a:t>
            </a:r>
          </a:p>
        </p:txBody>
      </p:sp>
      <p:sp>
        <p:nvSpPr>
          <p:cNvPr id="10" name="TextBox 9"/>
          <p:cNvSpPr txBox="1"/>
          <p:nvPr/>
        </p:nvSpPr>
        <p:spPr>
          <a:xfrm>
            <a:off x="7543800" y="1673352"/>
            <a:ext cx="1280160" cy="548640"/>
          </a:xfrm>
          <a:prstGeom prst="rect">
            <a:avLst/>
          </a:prstGeom>
          <a:noFill/>
        </p:spPr>
        <p:txBody>
          <a:bodyPr wrap="square" lIns="0" rIns="0" tIns="0" bIns="0" anchor="ctr">
            <a:spAutoFit/>
          </a:bodyPr>
          <a:lstStyle/>
          <a:p>
            <a:pPr algn="ctr">
              <a:lnSpc>
                <a:spcPct val="100000"/>
              </a:lnSpc>
              <a:spcAft>
                <a:spcPts val="0"/>
              </a:spcAft>
            </a:pPr>
            <a:r>
              <a:rPr sz="1200" b="1" i="0">
                <a:solidFill>
                  <a:srgbClr val="FFFFFF"/>
                </a:solidFill>
                <a:latin typeface="Calibri"/>
              </a:rPr>
              <a:t>Input/output classifiers</a:t>
            </a:r>
          </a:p>
        </p:txBody>
      </p:sp>
      <p:sp>
        <p:nvSpPr>
          <p:cNvPr id="11" name="TextBox 10"/>
          <p:cNvSpPr txBox="1"/>
          <p:nvPr/>
        </p:nvSpPr>
        <p:spPr>
          <a:xfrm>
            <a:off x="8915400" y="1673352"/>
            <a:ext cx="1280160" cy="548640"/>
          </a:xfrm>
          <a:prstGeom prst="rect">
            <a:avLst/>
          </a:prstGeom>
          <a:noFill/>
        </p:spPr>
        <p:txBody>
          <a:bodyPr wrap="square" lIns="0" rIns="0" tIns="0" bIns="0" anchor="ctr">
            <a:spAutoFit/>
          </a:bodyPr>
          <a:lstStyle/>
          <a:p>
            <a:pPr algn="ctr">
              <a:lnSpc>
                <a:spcPct val="100000"/>
              </a:lnSpc>
              <a:spcAft>
                <a:spcPts val="0"/>
              </a:spcAft>
            </a:pPr>
            <a:r>
              <a:rPr sz="1200" b="1" i="0">
                <a:solidFill>
                  <a:srgbClr val="FFFFFF"/>
                </a:solidFill>
                <a:latin typeface="Calibri"/>
              </a:rPr>
              <a:t>Anomaly detection</a:t>
            </a:r>
          </a:p>
        </p:txBody>
      </p:sp>
      <p:sp>
        <p:nvSpPr>
          <p:cNvPr id="12" name="TextBox 11"/>
          <p:cNvSpPr txBox="1"/>
          <p:nvPr/>
        </p:nvSpPr>
        <p:spPr>
          <a:xfrm>
            <a:off x="10287000" y="1673352"/>
            <a:ext cx="1280160" cy="548640"/>
          </a:xfrm>
          <a:prstGeom prst="rect">
            <a:avLst/>
          </a:prstGeom>
          <a:noFill/>
        </p:spPr>
        <p:txBody>
          <a:bodyPr wrap="square" lIns="0" rIns="0" tIns="0" bIns="0" anchor="ctr">
            <a:spAutoFit/>
          </a:bodyPr>
          <a:lstStyle/>
          <a:p>
            <a:pPr algn="ctr">
              <a:lnSpc>
                <a:spcPct val="100000"/>
              </a:lnSpc>
              <a:spcAft>
                <a:spcPts val="0"/>
              </a:spcAft>
            </a:pPr>
            <a:r>
              <a:rPr sz="1200" b="1" i="0">
                <a:solidFill>
                  <a:srgbClr val="FFFFFF"/>
                </a:solidFill>
                <a:latin typeface="Calibri"/>
              </a:rPr>
              <a:t>Human verification</a:t>
            </a:r>
          </a:p>
        </p:txBody>
      </p:sp>
      <p:sp>
        <p:nvSpPr>
          <p:cNvPr id="13" name="Rectangle 12"/>
          <p:cNvSpPr/>
          <p:nvPr/>
        </p:nvSpPr>
        <p:spPr>
          <a:xfrm>
            <a:off x="548640" y="2286000"/>
            <a:ext cx="11064240" cy="676656"/>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377440"/>
            <a:ext cx="1783080" cy="493776"/>
          </a:xfrm>
          <a:prstGeom prst="rect">
            <a:avLst/>
          </a:prstGeom>
          <a:noFill/>
        </p:spPr>
        <p:txBody>
          <a:bodyPr wrap="square" lIns="0" rIns="0" tIns="0" bIns="0" anchor="ctr">
            <a:spAutoFit/>
          </a:bodyPr>
          <a:lstStyle/>
          <a:p>
            <a:pPr algn="l">
              <a:lnSpc>
                <a:spcPct val="110000"/>
              </a:lnSpc>
              <a:spcAft>
                <a:spcPts val="600"/>
              </a:spcAft>
            </a:pPr>
            <a:r>
              <a:rPr sz="1500" b="1" i="0">
                <a:solidFill>
                  <a:srgbClr val="0F1B2D"/>
                </a:solidFill>
                <a:latin typeface="Calibri"/>
              </a:rPr>
              <a:t>Evasion</a:t>
            </a:r>
          </a:p>
        </p:txBody>
      </p:sp>
      <p:sp>
        <p:nvSpPr>
          <p:cNvPr id="15" name="TextBox 14"/>
          <p:cNvSpPr txBox="1"/>
          <p:nvPr/>
        </p:nvSpPr>
        <p:spPr>
          <a:xfrm>
            <a:off x="2606040" y="2377440"/>
            <a:ext cx="2057400" cy="493776"/>
          </a:xfrm>
          <a:prstGeom prst="rect">
            <a:avLst/>
          </a:prstGeom>
          <a:noFill/>
        </p:spPr>
        <p:txBody>
          <a:bodyPr wrap="square" lIns="0" rIns="0" tIns="0" bIns="0" anchor="ctr">
            <a:spAutoFit/>
          </a:bodyPr>
          <a:lstStyle/>
          <a:p>
            <a:pPr algn="l">
              <a:lnSpc>
                <a:spcPct val="110000"/>
              </a:lnSpc>
              <a:spcAft>
                <a:spcPts val="600"/>
              </a:spcAft>
            </a:pPr>
            <a:r>
              <a:rPr sz="1300" b="0" i="0">
                <a:solidFill>
                  <a:srgbClr val="1F2937"/>
                </a:solidFill>
                <a:latin typeface="Calibri"/>
              </a:rPr>
              <a:t>Autonomous vehicles</a:t>
            </a:r>
          </a:p>
        </p:txBody>
      </p:sp>
      <p:sp>
        <p:nvSpPr>
          <p:cNvPr id="16" name="TextBox 15"/>
          <p:cNvSpPr txBox="1"/>
          <p:nvPr/>
        </p:nvSpPr>
        <p:spPr>
          <a:xfrm>
            <a:off x="4754880" y="2377440"/>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17" name="TextBox 16"/>
          <p:cNvSpPr txBox="1"/>
          <p:nvPr/>
        </p:nvSpPr>
        <p:spPr>
          <a:xfrm>
            <a:off x="6126480" y="2377440"/>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18" name="TextBox 17"/>
          <p:cNvSpPr txBox="1"/>
          <p:nvPr/>
        </p:nvSpPr>
        <p:spPr>
          <a:xfrm>
            <a:off x="7498079" y="2377440"/>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B7791F"/>
                </a:solidFill>
                <a:latin typeface="Calibri"/>
              </a:rPr>
              <a:t>◐</a:t>
            </a:r>
          </a:p>
        </p:txBody>
      </p:sp>
      <p:sp>
        <p:nvSpPr>
          <p:cNvPr id="19" name="TextBox 18"/>
          <p:cNvSpPr txBox="1"/>
          <p:nvPr/>
        </p:nvSpPr>
        <p:spPr>
          <a:xfrm>
            <a:off x="8869680" y="2377440"/>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20" name="TextBox 19"/>
          <p:cNvSpPr txBox="1"/>
          <p:nvPr/>
        </p:nvSpPr>
        <p:spPr>
          <a:xfrm>
            <a:off x="10241280" y="2377440"/>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9AA3AF"/>
                </a:solidFill>
                <a:latin typeface="Calibri"/>
              </a:rPr>
              <a:t>—</a:t>
            </a:r>
          </a:p>
        </p:txBody>
      </p:sp>
      <p:sp>
        <p:nvSpPr>
          <p:cNvPr id="21" name="TextBox 20"/>
          <p:cNvSpPr txBox="1"/>
          <p:nvPr/>
        </p:nvSpPr>
        <p:spPr>
          <a:xfrm>
            <a:off x="685800" y="3054096"/>
            <a:ext cx="1783080" cy="493776"/>
          </a:xfrm>
          <a:prstGeom prst="rect">
            <a:avLst/>
          </a:prstGeom>
          <a:noFill/>
        </p:spPr>
        <p:txBody>
          <a:bodyPr wrap="square" lIns="0" rIns="0" tIns="0" bIns="0" anchor="ctr">
            <a:spAutoFit/>
          </a:bodyPr>
          <a:lstStyle/>
          <a:p>
            <a:pPr algn="l">
              <a:lnSpc>
                <a:spcPct val="110000"/>
              </a:lnSpc>
              <a:spcAft>
                <a:spcPts val="600"/>
              </a:spcAft>
            </a:pPr>
            <a:r>
              <a:rPr sz="1500" b="1" i="0">
                <a:solidFill>
                  <a:srgbClr val="0F1B2D"/>
                </a:solidFill>
                <a:latin typeface="Calibri"/>
              </a:rPr>
              <a:t>Poisoning</a:t>
            </a:r>
          </a:p>
        </p:txBody>
      </p:sp>
      <p:sp>
        <p:nvSpPr>
          <p:cNvPr id="22" name="TextBox 21"/>
          <p:cNvSpPr txBox="1"/>
          <p:nvPr/>
        </p:nvSpPr>
        <p:spPr>
          <a:xfrm>
            <a:off x="2606040" y="3054096"/>
            <a:ext cx="2057400" cy="493776"/>
          </a:xfrm>
          <a:prstGeom prst="rect">
            <a:avLst/>
          </a:prstGeom>
          <a:noFill/>
        </p:spPr>
        <p:txBody>
          <a:bodyPr wrap="square" lIns="0" rIns="0" tIns="0" bIns="0" anchor="ctr">
            <a:spAutoFit/>
          </a:bodyPr>
          <a:lstStyle/>
          <a:p>
            <a:pPr algn="l">
              <a:lnSpc>
                <a:spcPct val="110000"/>
              </a:lnSpc>
              <a:spcAft>
                <a:spcPts val="600"/>
              </a:spcAft>
            </a:pPr>
            <a:r>
              <a:rPr sz="1300" b="0" i="0">
                <a:solidFill>
                  <a:srgbClr val="1F2937"/>
                </a:solidFill>
                <a:latin typeface="Calibri"/>
              </a:rPr>
              <a:t>Healthcare, finance</a:t>
            </a:r>
          </a:p>
        </p:txBody>
      </p:sp>
      <p:sp>
        <p:nvSpPr>
          <p:cNvPr id="23" name="TextBox 22"/>
          <p:cNvSpPr txBox="1"/>
          <p:nvPr/>
        </p:nvSpPr>
        <p:spPr>
          <a:xfrm>
            <a:off x="4754880" y="3054096"/>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B7791F"/>
                </a:solidFill>
                <a:latin typeface="Calibri"/>
              </a:rPr>
              <a:t>◐</a:t>
            </a:r>
          </a:p>
        </p:txBody>
      </p:sp>
      <p:sp>
        <p:nvSpPr>
          <p:cNvPr id="24" name="TextBox 23"/>
          <p:cNvSpPr txBox="1"/>
          <p:nvPr/>
        </p:nvSpPr>
        <p:spPr>
          <a:xfrm>
            <a:off x="6126480" y="3054096"/>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25" name="TextBox 24"/>
          <p:cNvSpPr txBox="1"/>
          <p:nvPr/>
        </p:nvSpPr>
        <p:spPr>
          <a:xfrm>
            <a:off x="7498079" y="3054096"/>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9AA3AF"/>
                </a:solidFill>
                <a:latin typeface="Calibri"/>
              </a:rPr>
              <a:t>—</a:t>
            </a:r>
          </a:p>
        </p:txBody>
      </p:sp>
      <p:sp>
        <p:nvSpPr>
          <p:cNvPr id="26" name="TextBox 25"/>
          <p:cNvSpPr txBox="1"/>
          <p:nvPr/>
        </p:nvSpPr>
        <p:spPr>
          <a:xfrm>
            <a:off x="8869680" y="3054096"/>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27" name="TextBox 26"/>
          <p:cNvSpPr txBox="1"/>
          <p:nvPr/>
        </p:nvSpPr>
        <p:spPr>
          <a:xfrm>
            <a:off x="10241280" y="3054096"/>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B7791F"/>
                </a:solidFill>
                <a:latin typeface="Calibri"/>
              </a:rPr>
              <a:t>◐</a:t>
            </a:r>
          </a:p>
        </p:txBody>
      </p:sp>
      <p:sp>
        <p:nvSpPr>
          <p:cNvPr id="28" name="Rectangle 27"/>
          <p:cNvSpPr/>
          <p:nvPr/>
        </p:nvSpPr>
        <p:spPr>
          <a:xfrm>
            <a:off x="548640" y="3639312"/>
            <a:ext cx="11064240" cy="676656"/>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3730752"/>
            <a:ext cx="1783080" cy="493776"/>
          </a:xfrm>
          <a:prstGeom prst="rect">
            <a:avLst/>
          </a:prstGeom>
          <a:noFill/>
        </p:spPr>
        <p:txBody>
          <a:bodyPr wrap="square" lIns="0" rIns="0" tIns="0" bIns="0" anchor="ctr">
            <a:spAutoFit/>
          </a:bodyPr>
          <a:lstStyle/>
          <a:p>
            <a:pPr algn="l">
              <a:lnSpc>
                <a:spcPct val="110000"/>
              </a:lnSpc>
              <a:spcAft>
                <a:spcPts val="600"/>
              </a:spcAft>
            </a:pPr>
            <a:r>
              <a:rPr sz="1500" b="1" i="0">
                <a:solidFill>
                  <a:srgbClr val="0F1B2D"/>
                </a:solidFill>
                <a:latin typeface="Calibri"/>
              </a:rPr>
              <a:t>Prompt injection</a:t>
            </a:r>
          </a:p>
        </p:txBody>
      </p:sp>
      <p:sp>
        <p:nvSpPr>
          <p:cNvPr id="30" name="TextBox 29"/>
          <p:cNvSpPr txBox="1"/>
          <p:nvPr/>
        </p:nvSpPr>
        <p:spPr>
          <a:xfrm>
            <a:off x="2606040" y="3730752"/>
            <a:ext cx="2057400" cy="493776"/>
          </a:xfrm>
          <a:prstGeom prst="rect">
            <a:avLst/>
          </a:prstGeom>
          <a:noFill/>
        </p:spPr>
        <p:txBody>
          <a:bodyPr wrap="square" lIns="0" rIns="0" tIns="0" bIns="0" anchor="ctr">
            <a:spAutoFit/>
          </a:bodyPr>
          <a:lstStyle/>
          <a:p>
            <a:pPr algn="l">
              <a:lnSpc>
                <a:spcPct val="110000"/>
              </a:lnSpc>
              <a:spcAft>
                <a:spcPts val="600"/>
              </a:spcAft>
            </a:pPr>
            <a:r>
              <a:rPr sz="1300" b="0" i="0">
                <a:solidFill>
                  <a:srgbClr val="1F2937"/>
                </a:solidFill>
                <a:latin typeface="Calibri"/>
              </a:rPr>
              <a:t>Enterprise AI assistants</a:t>
            </a:r>
          </a:p>
        </p:txBody>
      </p:sp>
      <p:sp>
        <p:nvSpPr>
          <p:cNvPr id="31" name="TextBox 30"/>
          <p:cNvSpPr txBox="1"/>
          <p:nvPr/>
        </p:nvSpPr>
        <p:spPr>
          <a:xfrm>
            <a:off x="4754880" y="3730752"/>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32" name="TextBox 31"/>
          <p:cNvSpPr txBox="1"/>
          <p:nvPr/>
        </p:nvSpPr>
        <p:spPr>
          <a:xfrm>
            <a:off x="6126480" y="3730752"/>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33" name="TextBox 32"/>
          <p:cNvSpPr txBox="1"/>
          <p:nvPr/>
        </p:nvSpPr>
        <p:spPr>
          <a:xfrm>
            <a:off x="7498079" y="3730752"/>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34" name="TextBox 33"/>
          <p:cNvSpPr txBox="1"/>
          <p:nvPr/>
        </p:nvSpPr>
        <p:spPr>
          <a:xfrm>
            <a:off x="8869680" y="3730752"/>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B7791F"/>
                </a:solidFill>
                <a:latin typeface="Calibri"/>
              </a:rPr>
              <a:t>◐</a:t>
            </a:r>
          </a:p>
        </p:txBody>
      </p:sp>
      <p:sp>
        <p:nvSpPr>
          <p:cNvPr id="35" name="TextBox 34"/>
          <p:cNvSpPr txBox="1"/>
          <p:nvPr/>
        </p:nvSpPr>
        <p:spPr>
          <a:xfrm>
            <a:off x="10241280" y="3730752"/>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36" name="TextBox 35"/>
          <p:cNvSpPr txBox="1"/>
          <p:nvPr/>
        </p:nvSpPr>
        <p:spPr>
          <a:xfrm>
            <a:off x="685800" y="4407407"/>
            <a:ext cx="1783080" cy="493776"/>
          </a:xfrm>
          <a:prstGeom prst="rect">
            <a:avLst/>
          </a:prstGeom>
          <a:noFill/>
        </p:spPr>
        <p:txBody>
          <a:bodyPr wrap="square" lIns="0" rIns="0" tIns="0" bIns="0" anchor="ctr">
            <a:spAutoFit/>
          </a:bodyPr>
          <a:lstStyle/>
          <a:p>
            <a:pPr algn="l">
              <a:lnSpc>
                <a:spcPct val="110000"/>
              </a:lnSpc>
              <a:spcAft>
                <a:spcPts val="600"/>
              </a:spcAft>
            </a:pPr>
            <a:r>
              <a:rPr sz="1500" b="1" i="0">
                <a:solidFill>
                  <a:srgbClr val="0F1B2D"/>
                </a:solidFill>
                <a:latin typeface="Calibri"/>
              </a:rPr>
              <a:t>Deepfakes</a:t>
            </a:r>
          </a:p>
        </p:txBody>
      </p:sp>
      <p:sp>
        <p:nvSpPr>
          <p:cNvPr id="37" name="TextBox 36"/>
          <p:cNvSpPr txBox="1"/>
          <p:nvPr/>
        </p:nvSpPr>
        <p:spPr>
          <a:xfrm>
            <a:off x="2606040" y="4407407"/>
            <a:ext cx="2057400" cy="493776"/>
          </a:xfrm>
          <a:prstGeom prst="rect">
            <a:avLst/>
          </a:prstGeom>
          <a:noFill/>
        </p:spPr>
        <p:txBody>
          <a:bodyPr wrap="square" lIns="0" rIns="0" tIns="0" bIns="0" anchor="ctr">
            <a:spAutoFit/>
          </a:bodyPr>
          <a:lstStyle/>
          <a:p>
            <a:pPr algn="l">
              <a:lnSpc>
                <a:spcPct val="110000"/>
              </a:lnSpc>
              <a:spcAft>
                <a:spcPts val="600"/>
              </a:spcAft>
            </a:pPr>
            <a:r>
              <a:rPr sz="1300" b="0" i="0">
                <a:solidFill>
                  <a:srgbClr val="1F2937"/>
                </a:solidFill>
                <a:latin typeface="Calibri"/>
              </a:rPr>
              <a:t>Finance</a:t>
            </a:r>
          </a:p>
        </p:txBody>
      </p:sp>
      <p:sp>
        <p:nvSpPr>
          <p:cNvPr id="38" name="TextBox 37"/>
          <p:cNvSpPr txBox="1"/>
          <p:nvPr/>
        </p:nvSpPr>
        <p:spPr>
          <a:xfrm>
            <a:off x="4754880" y="4407407"/>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9AA3AF"/>
                </a:solidFill>
                <a:latin typeface="Calibri"/>
              </a:rPr>
              <a:t>—</a:t>
            </a:r>
          </a:p>
        </p:txBody>
      </p:sp>
      <p:sp>
        <p:nvSpPr>
          <p:cNvPr id="39" name="TextBox 38"/>
          <p:cNvSpPr txBox="1"/>
          <p:nvPr/>
        </p:nvSpPr>
        <p:spPr>
          <a:xfrm>
            <a:off x="6126480" y="4407407"/>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B7791F"/>
                </a:solidFill>
                <a:latin typeface="Calibri"/>
              </a:rPr>
              <a:t>◐</a:t>
            </a:r>
          </a:p>
        </p:txBody>
      </p:sp>
      <p:sp>
        <p:nvSpPr>
          <p:cNvPr id="40" name="TextBox 39"/>
          <p:cNvSpPr txBox="1"/>
          <p:nvPr/>
        </p:nvSpPr>
        <p:spPr>
          <a:xfrm>
            <a:off x="7498079" y="4407407"/>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B7791F"/>
                </a:solidFill>
                <a:latin typeface="Calibri"/>
              </a:rPr>
              <a:t>◐</a:t>
            </a:r>
          </a:p>
        </p:txBody>
      </p:sp>
      <p:sp>
        <p:nvSpPr>
          <p:cNvPr id="41" name="TextBox 40"/>
          <p:cNvSpPr txBox="1"/>
          <p:nvPr/>
        </p:nvSpPr>
        <p:spPr>
          <a:xfrm>
            <a:off x="8869680" y="4407407"/>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42" name="TextBox 41"/>
          <p:cNvSpPr txBox="1"/>
          <p:nvPr/>
        </p:nvSpPr>
        <p:spPr>
          <a:xfrm>
            <a:off x="10241280" y="4407407"/>
            <a:ext cx="1371600" cy="493776"/>
          </a:xfrm>
          <a:prstGeom prst="rect">
            <a:avLst/>
          </a:prstGeom>
          <a:noFill/>
        </p:spPr>
        <p:txBody>
          <a:bodyPr wrap="square" lIns="0" rIns="0" tIns="0" bIns="0" anchor="ctr">
            <a:spAutoFit/>
          </a:bodyPr>
          <a:lstStyle/>
          <a:p>
            <a:pPr algn="ctr">
              <a:lnSpc>
                <a:spcPct val="110000"/>
              </a:lnSpc>
              <a:spcAft>
                <a:spcPts val="0"/>
              </a:spcAft>
            </a:pPr>
            <a:r>
              <a:rPr sz="2200" b="1" i="0">
                <a:solidFill>
                  <a:srgbClr val="1E846F"/>
                </a:solidFill>
                <a:latin typeface="Calibri"/>
              </a:rPr>
              <a:t>●</a:t>
            </a:r>
          </a:p>
        </p:txBody>
      </p:sp>
      <p:sp>
        <p:nvSpPr>
          <p:cNvPr id="43" name="TextBox 42"/>
          <p:cNvSpPr txBox="1"/>
          <p:nvPr/>
        </p:nvSpPr>
        <p:spPr>
          <a:xfrm>
            <a:off x="548640" y="5129784"/>
            <a:ext cx="11064240" cy="365760"/>
          </a:xfrm>
          <a:prstGeom prst="rect">
            <a:avLst/>
          </a:prstGeom>
          <a:noFill/>
        </p:spPr>
        <p:txBody>
          <a:bodyPr wrap="square" lIns="0" rIns="0" tIns="0" bIns="0" anchor="t">
            <a:spAutoFit/>
          </a:bodyPr>
          <a:lstStyle/>
          <a:p>
            <a:pPr algn="l">
              <a:lnSpc>
                <a:spcPct val="110000"/>
              </a:lnSpc>
              <a:spcAft>
                <a:spcPts val="600"/>
              </a:spcAft>
            </a:pPr>
            <a:r>
              <a:rPr sz="1200" b="1" i="0">
                <a:solidFill>
                  <a:srgbClr val="5B6472"/>
                </a:solidFill>
                <a:latin typeface="Calibri"/>
              </a:rPr>
              <a:t>●</a:t>
            </a:r>
            <a:r>
              <a:rPr sz="1200" b="0" i="0">
                <a:solidFill>
                  <a:srgbClr val="5B6472"/>
                </a:solidFill>
                <a:latin typeface="Calibri"/>
              </a:rPr>
              <a:t> strong fit   </a:t>
            </a:r>
            <a:r>
              <a:rPr sz="1200" b="1" i="0">
                <a:solidFill>
                  <a:srgbClr val="5B6472"/>
                </a:solidFill>
                <a:latin typeface="Calibri"/>
              </a:rPr>
              <a:t>◐</a:t>
            </a:r>
            <a:r>
              <a:rPr sz="1200" b="0" i="0">
                <a:solidFill>
                  <a:srgbClr val="5B6472"/>
                </a:solidFill>
                <a:latin typeface="Calibri"/>
              </a:rPr>
              <a:t> partial fit   </a:t>
            </a:r>
            <a:r>
              <a:rPr sz="1200" b="1" i="0">
                <a:solidFill>
                  <a:srgbClr val="5B6472"/>
                </a:solidFill>
                <a:latin typeface="Calibri"/>
              </a:rPr>
              <a:t>—</a:t>
            </a:r>
            <a:r>
              <a:rPr sz="1200" b="0" i="0">
                <a:solidFill>
                  <a:srgbClr val="5B6472"/>
                </a:solidFill>
                <a:latin typeface="Calibri"/>
              </a:rPr>
              <a:t> little effect     Author's assessment from the cases and company defenses on slides 3–4.</a:t>
            </a:r>
          </a:p>
        </p:txBody>
      </p:sp>
      <p:sp>
        <p:nvSpPr>
          <p:cNvPr id="44" name="TextBox 43"/>
          <p:cNvSpPr txBox="1"/>
          <p:nvPr/>
        </p:nvSpPr>
        <p:spPr>
          <a:xfrm>
            <a:off x="548640" y="5541264"/>
            <a:ext cx="11064240" cy="548640"/>
          </a:xfrm>
          <a:prstGeom prst="rect">
            <a:avLst/>
          </a:prstGeom>
          <a:noFill/>
        </p:spPr>
        <p:txBody>
          <a:bodyPr wrap="square" lIns="0" rIns="0" tIns="0" bIns="0" anchor="t">
            <a:spAutoFit/>
          </a:bodyPr>
          <a:lstStyle/>
          <a:p>
            <a:pPr algn="l">
              <a:lnSpc>
                <a:spcPct val="110000"/>
              </a:lnSpc>
              <a:spcAft>
                <a:spcPts val="600"/>
              </a:spcAft>
            </a:pPr>
            <a:r>
              <a:rPr sz="1400" b="1" i="0">
                <a:solidFill>
                  <a:srgbClr val="1F2937"/>
                </a:solidFill>
                <a:latin typeface="Calibri"/>
              </a:rPr>
              <a:t>Takeaway:</a:t>
            </a:r>
            <a:r>
              <a:rPr sz="1400" b="0" i="0">
                <a:solidFill>
                  <a:srgbClr val="1F2937"/>
                </a:solidFill>
                <a:latin typeface="Calibri"/>
              </a:rPr>
              <a:t> only red teaming and anomaly detection help against every attack type; deepfakes are stopped by process (call-back checks), not by retraining.</a:t>
            </a:r>
          </a:p>
        </p:txBody>
      </p:sp>
      <p:cxnSp>
        <p:nvCxnSpPr>
          <p:cNvPr id="45" name="Connector 44"/>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Google GenAI Security Team (2025); Bullwinkel et al. (2025); Chennabasappa et al. (2025); Parisi (2019, Ch. 5).</a:t>
            </a:r>
          </a:p>
        </p:txBody>
      </p:sp>
      <p:sp>
        <p:nvSpPr>
          <p:cNvPr id="47" name="TextBox 46"/>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AI CONCEPTS · CURRENT TREND</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Applying Chapter 5, and the governance trend that requires it</a:t>
            </a:r>
          </a:p>
        </p:txBody>
      </p:sp>
      <p:sp>
        <p:nvSpPr>
          <p:cNvPr id="5" name="TextBox 4"/>
          <p:cNvSpPr txBox="1"/>
          <p:nvPr/>
        </p:nvSpPr>
        <p:spPr>
          <a:xfrm>
            <a:off x="548640" y="1645920"/>
            <a:ext cx="54864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E846F"/>
                </a:solidFill>
                <a:latin typeface="Calibri"/>
              </a:rPr>
              <a:t>CHAPTER 5: ANOMALY DETECTION AS A DEFENSE</a:t>
            </a:r>
          </a:p>
        </p:txBody>
      </p:sp>
      <p:sp>
        <p:nvSpPr>
          <p:cNvPr id="6" name="TextBox 5"/>
          <p:cNvSpPr txBox="1"/>
          <p:nvPr/>
        </p:nvSpPr>
        <p:spPr>
          <a:xfrm>
            <a:off x="548640" y="1965960"/>
            <a:ext cx="5486400" cy="548640"/>
          </a:xfrm>
          <a:prstGeom prst="rect">
            <a:avLst/>
          </a:prstGeom>
          <a:noFill/>
        </p:spPr>
        <p:txBody>
          <a:bodyPr wrap="square" lIns="0" rIns="0" tIns="0" bIns="0" anchor="t">
            <a:spAutoFit/>
          </a:bodyPr>
          <a:lstStyle/>
          <a:p>
            <a:pPr algn="l">
              <a:lnSpc>
                <a:spcPct val="110000"/>
              </a:lnSpc>
              <a:spcAft>
                <a:spcPts val="600"/>
              </a:spcAft>
            </a:pPr>
            <a:r>
              <a:rPr sz="1500" b="0" i="1">
                <a:solidFill>
                  <a:srgbClr val="1F2937"/>
                </a:solidFill>
                <a:latin typeface="Calibri"/>
              </a:rPr>
              <a:t>Model what </a:t>
            </a:r>
            <a:r>
              <a:rPr sz="1500" b="0" i="1">
                <a:solidFill>
                  <a:srgbClr val="1F2937"/>
                </a:solidFill>
                <a:latin typeface="Calibri"/>
              </a:rPr>
              <a:t>normal</a:t>
            </a:r>
            <a:r>
              <a:rPr sz="1500" b="0" i="1">
                <a:solidFill>
                  <a:srgbClr val="1F2937"/>
                </a:solidFill>
                <a:latin typeface="Calibri"/>
              </a:rPr>
              <a:t> looks like, then flag what does not fit.</a:t>
            </a:r>
          </a:p>
        </p:txBody>
      </p:sp>
      <p:sp>
        <p:nvSpPr>
          <p:cNvPr id="7" name="TextBox 6"/>
          <p:cNvSpPr txBox="1"/>
          <p:nvPr/>
        </p:nvSpPr>
        <p:spPr>
          <a:xfrm>
            <a:off x="548640" y="2468880"/>
            <a:ext cx="5486400" cy="3566160"/>
          </a:xfrm>
          <a:prstGeom prst="rect">
            <a:avLst/>
          </a:prstGeom>
          <a:noFill/>
        </p:spPr>
        <p:txBody>
          <a:bodyPr wrap="square" lIns="0" rIns="0" tIns="0" bIns="0">
            <a:spAutoFit/>
          </a:bodyPr>
          <a:lstStyle/>
          <a:p>
            <a:pPr marL="256032" indent="-256032">
              <a:lnSpc>
                <a:spcPct val="110000"/>
              </a:lnSpc>
              <a:spcAft>
                <a:spcPts val="900"/>
              </a:spcAft>
              <a:buClr>
                <a:srgbClr val="1E846F"/>
              </a:buClr>
              <a:buFont typeface="Arial"/>
              <a:buChar char="■"/>
            </a:pPr>
            <a:r>
              <a:rPr sz="1450" b="1" i="0">
                <a:solidFill>
                  <a:srgbClr val="1F2937"/>
                </a:solidFill>
                <a:latin typeface="Calibri"/>
              </a:rPr>
              <a:t>Inputs:</a:t>
            </a:r>
            <a:r>
              <a:rPr sz="1450" b="0" i="0">
                <a:solidFill>
                  <a:srgbClr val="1F2937"/>
                </a:solidFill>
                <a:latin typeface="Calibri"/>
              </a:rPr>
              <a:t> a camera reading of 85 mph on a 35 mph road is out of distribution → slow down, ask the driver.</a:t>
            </a:r>
          </a:p>
          <a:p>
            <a:pPr marL="256032" indent="-256032">
              <a:lnSpc>
                <a:spcPct val="110000"/>
              </a:lnSpc>
              <a:spcAft>
                <a:spcPts val="900"/>
              </a:spcAft>
              <a:buClr>
                <a:srgbClr val="1E846F"/>
              </a:buClr>
              <a:buFont typeface="Arial"/>
              <a:buChar char="■"/>
            </a:pPr>
            <a:r>
              <a:rPr sz="1450" b="1" i="0">
                <a:solidFill>
                  <a:srgbClr val="1F2937"/>
                </a:solidFill>
                <a:latin typeface="Calibri"/>
              </a:rPr>
              <a:t>Payments:</a:t>
            </a:r>
            <a:r>
              <a:rPr sz="1450" b="0" i="0">
                <a:solidFill>
                  <a:srgbClr val="1F2937"/>
                </a:solidFill>
                <a:latin typeface="Calibri"/>
              </a:rPr>
              <a:t> a large, urgent transfer right after one video call is unusual → hold and call back.</a:t>
            </a:r>
          </a:p>
          <a:p>
            <a:pPr marL="256032" indent="-256032">
              <a:lnSpc>
                <a:spcPct val="110000"/>
              </a:lnSpc>
              <a:spcAft>
                <a:spcPts val="900"/>
              </a:spcAft>
              <a:buClr>
                <a:srgbClr val="1E846F"/>
              </a:buClr>
              <a:buFont typeface="Arial"/>
              <a:buChar char="■"/>
            </a:pPr>
            <a:r>
              <a:rPr sz="1450" b="1" i="0">
                <a:solidFill>
                  <a:srgbClr val="1F2937"/>
                </a:solidFill>
                <a:latin typeface="Calibri"/>
              </a:rPr>
              <a:t>Training data:</a:t>
            </a:r>
            <a:r>
              <a:rPr sz="1450" b="0" i="0">
                <a:solidFill>
                  <a:srgbClr val="1F2937"/>
                </a:solidFill>
                <a:latin typeface="Calibri"/>
              </a:rPr>
              <a:t> outliers in new data are screened before retraining → stops poisoning.</a:t>
            </a:r>
          </a:p>
          <a:p>
            <a:pPr marL="256032" indent="-256032">
              <a:lnSpc>
                <a:spcPct val="110000"/>
              </a:lnSpc>
              <a:spcAft>
                <a:spcPts val="900"/>
              </a:spcAft>
              <a:buClr>
                <a:srgbClr val="1E846F"/>
              </a:buClr>
              <a:buFont typeface="Arial"/>
              <a:buChar char="■"/>
            </a:pPr>
            <a:r>
              <a:rPr sz="1450" b="1" i="0">
                <a:solidFill>
                  <a:srgbClr val="1F2937"/>
                </a:solidFill>
                <a:latin typeface="Calibri"/>
              </a:rPr>
              <a:t>AI usage:</a:t>
            </a:r>
            <a:r>
              <a:rPr sz="1450" b="0" i="0">
                <a:solidFill>
                  <a:srgbClr val="1F2937"/>
                </a:solidFill>
                <a:latin typeface="Calibri"/>
              </a:rPr>
              <a:t> an assistant suddenly sending data to an outside link → block it.</a:t>
            </a:r>
          </a:p>
        </p:txBody>
      </p:sp>
      <p:sp>
        <p:nvSpPr>
          <p:cNvPr id="8" name="Rounded Rectangle 7"/>
          <p:cNvSpPr/>
          <p:nvPr/>
        </p:nvSpPr>
        <p:spPr>
          <a:xfrm>
            <a:off x="6400800" y="1645920"/>
            <a:ext cx="5257800" cy="443484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75120" y="1828800"/>
            <a:ext cx="475488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TREND: AI GOVERNANCE MAKES ROBUSTNESS LAW</a:t>
            </a:r>
          </a:p>
        </p:txBody>
      </p:sp>
      <p:sp>
        <p:nvSpPr>
          <p:cNvPr id="10" name="TextBox 9"/>
          <p:cNvSpPr txBox="1"/>
          <p:nvPr/>
        </p:nvSpPr>
        <p:spPr>
          <a:xfrm>
            <a:off x="6675120" y="2194560"/>
            <a:ext cx="4754880" cy="3840480"/>
          </a:xfrm>
          <a:prstGeom prst="rect">
            <a:avLst/>
          </a:prstGeom>
          <a:noFill/>
        </p:spPr>
        <p:txBody>
          <a:bodyPr wrap="square" lIns="0" rIns="0" tIns="0" bIns="0" anchor="t">
            <a:spAutoFit/>
          </a:bodyPr>
          <a:lstStyle/>
          <a:p>
            <a:pPr algn="l">
              <a:lnSpc>
                <a:spcPct val="110000"/>
              </a:lnSpc>
              <a:spcAft>
                <a:spcPts val="1000"/>
              </a:spcAft>
            </a:pPr>
            <a:r>
              <a:rPr sz="1450" b="0" i="0">
                <a:solidFill>
                  <a:srgbClr val="1F2937"/>
                </a:solidFill>
                <a:latin typeface="Calibri"/>
              </a:rPr>
              <a:t>The </a:t>
            </a:r>
            <a:r>
              <a:rPr sz="1450" b="1" i="0">
                <a:solidFill>
                  <a:srgbClr val="1F2937"/>
                </a:solidFill>
                <a:latin typeface="Calibri"/>
              </a:rPr>
              <a:t>EU AI Act, Article 15</a:t>
            </a:r>
            <a:r>
              <a:rPr sz="1450" b="0" i="0">
                <a:solidFill>
                  <a:srgbClr val="1F2937"/>
                </a:solidFill>
                <a:latin typeface="Calibri"/>
              </a:rPr>
              <a:t>, requires high-risk AI to be “resilient against attempts by unauthorised third parties to alter their use, outputs or performance.”</a:t>
            </a:r>
          </a:p>
          <a:p>
            <a:pPr algn="l">
              <a:lnSpc>
                <a:spcPct val="110000"/>
              </a:lnSpc>
              <a:spcAft>
                <a:spcPts val="1000"/>
              </a:spcAft>
            </a:pPr>
            <a:r>
              <a:rPr sz="1450" b="0" i="0">
                <a:solidFill>
                  <a:srgbClr val="1F2937"/>
                </a:solidFill>
                <a:latin typeface="Calibri"/>
              </a:rPr>
              <a:t>It names data poisoning, model poisoning and adversarial examples, and asks for measures to “prevent, detect, respond to” them.</a:t>
            </a:r>
          </a:p>
          <a:p>
            <a:pPr algn="l">
              <a:lnSpc>
                <a:spcPct val="110000"/>
              </a:lnSpc>
              <a:spcAft>
                <a:spcPts val="1000"/>
              </a:spcAft>
            </a:pPr>
            <a:r>
              <a:rPr sz="1450" b="1" i="0">
                <a:solidFill>
                  <a:srgbClr val="1F2937"/>
                </a:solidFill>
                <a:latin typeface="Calibri"/>
              </a:rPr>
              <a:t>Why it matters:</a:t>
            </a:r>
            <a:r>
              <a:rPr sz="1450" b="0" i="0">
                <a:solidFill>
                  <a:srgbClr val="1F2937"/>
                </a:solidFill>
                <a:latin typeface="Calibri"/>
              </a:rPr>
              <a:t> robustness testing and anomaly detection move from best practice to legal duty.</a:t>
            </a:r>
          </a:p>
        </p:txBody>
      </p:sp>
      <p:cxnSp>
        <p:nvCxnSpPr>
          <p:cNvPr id="11" name="Connector 10"/>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Parisi (2019, Ch. 5); Regulation (EU) 2024/1689 (2024, Art. 15).</a:t>
            </a:r>
          </a:p>
        </p:txBody>
      </p:sp>
      <p:sp>
        <p:nvSpPr>
          <p:cNvPr id="13" name="TextBox 12"/>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WHAT I LEARNED · APA 7TH EDITION</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Reflection and references</a:t>
            </a:r>
          </a:p>
        </p:txBody>
      </p:sp>
      <p:sp>
        <p:nvSpPr>
          <p:cNvPr id="5" name="Rounded Rectangle 4"/>
          <p:cNvSpPr/>
          <p:nvPr/>
        </p:nvSpPr>
        <p:spPr>
          <a:xfrm>
            <a:off x="548640" y="1554480"/>
            <a:ext cx="11109960" cy="8686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664208"/>
            <a:ext cx="10607040" cy="731520"/>
          </a:xfrm>
          <a:prstGeom prst="rect">
            <a:avLst/>
          </a:prstGeom>
          <a:noFill/>
        </p:spPr>
        <p:txBody>
          <a:bodyPr wrap="square" lIns="0" rIns="0" tIns="0" bIns="0" anchor="t">
            <a:spAutoFit/>
          </a:bodyPr>
          <a:lstStyle/>
          <a:p>
            <a:pPr algn="l">
              <a:lnSpc>
                <a:spcPct val="110000"/>
              </a:lnSpc>
              <a:spcAft>
                <a:spcPts val="600"/>
              </a:spcAft>
            </a:pPr>
            <a:r>
              <a:rPr sz="1400" b="1" i="0">
                <a:solidFill>
                  <a:srgbClr val="1F2937"/>
                </a:solidFill>
                <a:latin typeface="Calibri"/>
              </a:rPr>
              <a:t>Reflection.</a:t>
            </a:r>
            <a:r>
              <a:rPr sz="1400" b="0" i="0">
                <a:solidFill>
                  <a:srgbClr val="1F2937"/>
                </a:solidFill>
                <a:latin typeface="Calibri"/>
              </a:rPr>
              <a:t> In Modules 3–5 I built detectors and trusted their accuracy; this module showed that the detector itself is a target. I want to build AI defenses that are red-teamed before release and backed by anomaly checks.</a:t>
            </a:r>
          </a:p>
        </p:txBody>
      </p:sp>
      <p:sp>
        <p:nvSpPr>
          <p:cNvPr id="7" name="TextBox 6"/>
          <p:cNvSpPr txBox="1"/>
          <p:nvPr/>
        </p:nvSpPr>
        <p:spPr>
          <a:xfrm>
            <a:off x="548640" y="2606040"/>
            <a:ext cx="11094415" cy="3657600"/>
          </a:xfrm>
          <a:prstGeom prst="rect">
            <a:avLst/>
          </a:prstGeom>
          <a:noFill/>
        </p:spPr>
        <p:txBody>
          <a:bodyPr wrap="square" lIns="0" rIns="0" tIns="0" bIns="0" anchor="t">
            <a:spAutoFit/>
          </a:bodyPr>
          <a:lstStyle/>
          <a:p>
            <a:pPr algn="l" marL="320040" indent="-320040">
              <a:lnSpc>
                <a:spcPct val="100000"/>
              </a:lnSpc>
              <a:spcAft>
                <a:spcPts val="400"/>
              </a:spcAft>
            </a:pPr>
            <a:r>
              <a:rPr sz="1100" b="0" i="0">
                <a:solidFill>
                  <a:srgbClr val="1F2937"/>
                </a:solidFill>
                <a:latin typeface="Calibri"/>
              </a:rPr>
              <a:t>Bullwinkel, B., Minnich, A., Chawla, S., Lopez, G., Pouliot, M., Maxwell, W., de Gruyter, J., Pratt, K., Qi, S., Chikanov, N., Lutz, R., Dheekonda, R. S. R., Jagdagdorj, B.-E., Kim, E., Song, J., Hines, K., Jones, D., Severi, G., Lundeen, R., . . . Russinovich, M. (2025). </a:t>
            </a:r>
            <a:r>
              <a:rPr sz="1100" b="0" i="1">
                <a:solidFill>
                  <a:srgbClr val="1F2937"/>
                </a:solidFill>
                <a:latin typeface="Calibri"/>
              </a:rPr>
              <a:t>Lessons from red teaming 100 generative AI products</a:t>
            </a:r>
            <a:r>
              <a:rPr sz="1100" b="0" i="0">
                <a:solidFill>
                  <a:srgbClr val="1F2937"/>
                </a:solidFill>
                <a:latin typeface="Calibri"/>
              </a:rPr>
              <a:t> (arXiv:2501.07238). arXiv. https://arxiv.org/abs/2501.07238</a:t>
            </a:r>
          </a:p>
          <a:p>
            <a:pPr algn="l" marL="320040" indent="-320040">
              <a:lnSpc>
                <a:spcPct val="100000"/>
              </a:lnSpc>
              <a:spcAft>
                <a:spcPts val="400"/>
              </a:spcAft>
            </a:pPr>
            <a:r>
              <a:rPr sz="1100" b="0" i="0">
                <a:solidFill>
                  <a:srgbClr val="1F2937"/>
                </a:solidFill>
                <a:latin typeface="Calibri"/>
              </a:rPr>
              <a:t>Chennabasappa, S., Nikolaidis, C., Song, D., Molnar, D., Ding, S., Wan, S., Whitman, S., Deason, L., Doucette, N., Montilla, A., Gampa, A., de Paola, B., Gabi, D., Crnkovich, J., Testud, J.-C., He, K., Chaturvedi, R., Zhou, W., &amp; Saxe, J. (2025). </a:t>
            </a:r>
            <a:r>
              <a:rPr sz="1100" b="0" i="1">
                <a:solidFill>
                  <a:srgbClr val="1F2937"/>
                </a:solidFill>
                <a:latin typeface="Calibri"/>
              </a:rPr>
              <a:t>LlamaFirewall: An open source guardrail system for building secure AI agents</a:t>
            </a:r>
            <a:r>
              <a:rPr sz="1100" b="0" i="0">
                <a:solidFill>
                  <a:srgbClr val="1F2937"/>
                </a:solidFill>
                <a:latin typeface="Calibri"/>
              </a:rPr>
              <a:t> (arXiv:2505.03574). arXiv. https://arxiv.org/abs/2505.03574</a:t>
            </a:r>
          </a:p>
          <a:p>
            <a:pPr algn="l" marL="320040" indent="-320040">
              <a:lnSpc>
                <a:spcPct val="100000"/>
              </a:lnSpc>
              <a:spcAft>
                <a:spcPts val="400"/>
              </a:spcAft>
            </a:pPr>
            <a:r>
              <a:rPr sz="1100" b="0" i="0">
                <a:solidFill>
                  <a:srgbClr val="1F2937"/>
                </a:solidFill>
                <a:latin typeface="Calibri"/>
              </a:rPr>
              <a:t>Google GenAI Security Team. (2025, June 13). </a:t>
            </a:r>
            <a:r>
              <a:rPr sz="1100" b="0" i="1">
                <a:solidFill>
                  <a:srgbClr val="1F2937"/>
                </a:solidFill>
                <a:latin typeface="Calibri"/>
              </a:rPr>
              <a:t>Mitigating prompt injection attacks with a layered defense strategy</a:t>
            </a:r>
            <a:r>
              <a:rPr sz="1100" b="0" i="0">
                <a:solidFill>
                  <a:srgbClr val="1F2937"/>
                </a:solidFill>
                <a:latin typeface="Calibri"/>
              </a:rPr>
              <a:t>. Google. https://blog.google/security/mitigating-prompt-injection-attacks/</a:t>
            </a:r>
          </a:p>
          <a:p>
            <a:pPr algn="l" marL="320040" indent="-320040">
              <a:lnSpc>
                <a:spcPct val="100000"/>
              </a:lnSpc>
              <a:spcAft>
                <a:spcPts val="400"/>
              </a:spcAft>
            </a:pPr>
            <a:r>
              <a:rPr sz="1100" b="0" i="0">
                <a:solidFill>
                  <a:srgbClr val="1F2937"/>
                </a:solidFill>
                <a:latin typeface="Calibri"/>
              </a:rPr>
              <a:t>Lalchand, S., Srinivas, V., Maggiore, B., &amp; Henderson, J. (2024, May 29). </a:t>
            </a:r>
            <a:r>
              <a:rPr sz="1100" b="0" i="1">
                <a:solidFill>
                  <a:srgbClr val="1F2937"/>
                </a:solidFill>
                <a:latin typeface="Calibri"/>
              </a:rPr>
              <a:t>Generative AI is expected to magnify the risk of deepfakes and other fraud in banking</a:t>
            </a:r>
            <a:r>
              <a:rPr sz="1100" b="0" i="0">
                <a:solidFill>
                  <a:srgbClr val="1F2937"/>
                </a:solidFill>
                <a:latin typeface="Calibri"/>
              </a:rPr>
              <a:t>. Deloitte Insights. https://www.deloitte.com/us/en/insights/industry/financial-services/deepfake-banking-fraud-risk-on-the-rise.html</a:t>
            </a:r>
          </a:p>
          <a:p>
            <a:pPr algn="l" marL="320040" indent="-320040">
              <a:lnSpc>
                <a:spcPct val="100000"/>
              </a:lnSpc>
              <a:spcAft>
                <a:spcPts val="400"/>
              </a:spcAft>
            </a:pPr>
            <a:r>
              <a:rPr sz="1100" b="0" i="0">
                <a:solidFill>
                  <a:srgbClr val="1F2937"/>
                </a:solidFill>
                <a:latin typeface="Calibri"/>
              </a:rPr>
              <a:t>Microsoft Security Response Center. (2025, June 11). </a:t>
            </a:r>
            <a:r>
              <a:rPr sz="1100" b="0" i="1">
                <a:solidFill>
                  <a:srgbClr val="1F2937"/>
                </a:solidFill>
                <a:latin typeface="Calibri"/>
              </a:rPr>
              <a:t>CVE-2025-32711: M365 Copilot information disclosure vulnerability</a:t>
            </a:r>
            <a:r>
              <a:rPr sz="1100" b="0" i="0">
                <a:solidFill>
                  <a:srgbClr val="1F2937"/>
                </a:solidFill>
                <a:latin typeface="Calibri"/>
              </a:rPr>
              <a:t>. https://msrc.microsoft.com/update-guide/vulnerability/CVE-2025-32711</a:t>
            </a:r>
          </a:p>
          <a:p>
            <a:pPr algn="l" marL="320040" indent="-320040">
              <a:lnSpc>
                <a:spcPct val="100000"/>
              </a:lnSpc>
              <a:spcAft>
                <a:spcPts val="400"/>
              </a:spcAft>
            </a:pPr>
            <a:r>
              <a:rPr sz="1100" b="0" i="0">
                <a:solidFill>
                  <a:srgbClr val="1F2937"/>
                </a:solidFill>
                <a:latin typeface="Calibri"/>
              </a:rPr>
              <a:t>Parisi, A. (2019). </a:t>
            </a:r>
            <a:r>
              <a:rPr sz="1100" b="0" i="1">
                <a:solidFill>
                  <a:srgbClr val="1F2937"/>
                </a:solidFill>
                <a:latin typeface="Calibri"/>
              </a:rPr>
              <a:t>Hands-on artificial intelligence for cybersecurity: Implement smart AI systems for preventing cyber attacks and detecting threats and network anomalies</a:t>
            </a:r>
            <a:r>
              <a:rPr sz="1100" b="0" i="0">
                <a:solidFill>
                  <a:srgbClr val="1F2937"/>
                </a:solidFill>
                <a:latin typeface="Calibri"/>
              </a:rPr>
              <a:t>. Packt Publishing.</a:t>
            </a:r>
          </a:p>
          <a:p>
            <a:pPr algn="l" marL="320040" indent="-320040">
              <a:lnSpc>
                <a:spcPct val="100000"/>
              </a:lnSpc>
              <a:spcAft>
                <a:spcPts val="400"/>
              </a:spcAft>
            </a:pPr>
            <a:r>
              <a:rPr sz="1100" b="0" i="0">
                <a:solidFill>
                  <a:srgbClr val="1F2937"/>
                </a:solidFill>
                <a:latin typeface="Calibri"/>
              </a:rPr>
              <a:t>Povolny, S., &amp; Trivedi, S. (2020, February 19). </a:t>
            </a:r>
            <a:r>
              <a:rPr sz="1100" b="0" i="1">
                <a:solidFill>
                  <a:srgbClr val="1F2937"/>
                </a:solidFill>
                <a:latin typeface="Calibri"/>
              </a:rPr>
              <a:t>Model hacking ADAS to pave safer roads for autonomous vehicles</a:t>
            </a:r>
            <a:r>
              <a:rPr sz="1100" b="0" i="0">
                <a:solidFill>
                  <a:srgbClr val="1F2937"/>
                </a:solidFill>
                <a:latin typeface="Calibri"/>
              </a:rPr>
              <a:t>. McAfee Blogs. https://www.mcafee.com/blogs/other-blogs/mcafee-labs/model-hacking-adas-to-pave-safer-roads-for-autonomous-vehicles/</a:t>
            </a:r>
          </a:p>
          <a:p>
            <a:pPr algn="l" marL="320040" indent="-320040">
              <a:lnSpc>
                <a:spcPct val="100000"/>
              </a:lnSpc>
              <a:spcAft>
                <a:spcPts val="400"/>
              </a:spcAft>
            </a:pPr>
            <a:r>
              <a:rPr sz="1100" b="0" i="0">
                <a:solidFill>
                  <a:srgbClr val="1F2937"/>
                </a:solidFill>
                <a:latin typeface="Calibri"/>
              </a:rPr>
              <a:t>Regulation (EU) 2024/1689 of the European Parliament and of the Council of 13 June 2024 laying down harmonised rules on artificial intelligence. (2024). </a:t>
            </a:r>
            <a:r>
              <a:rPr sz="1100" b="0" i="1">
                <a:solidFill>
                  <a:srgbClr val="1F2937"/>
                </a:solidFill>
                <a:latin typeface="Calibri"/>
              </a:rPr>
              <a:t>Official Journal of the European Union</a:t>
            </a:r>
            <a:r>
              <a:rPr sz="1100" b="0" i="0">
                <a:solidFill>
                  <a:srgbClr val="1F2937"/>
                </a:solidFill>
                <a:latin typeface="Calibri"/>
              </a:rPr>
              <a:t>, L 2024/1689. http://data.europa.eu/eli/reg/2024/1689/oj</a:t>
            </a:r>
          </a:p>
        </p:txBody>
      </p:sp>
      <p:cxnSp>
        <p:nvCxnSpPr>
          <p:cNvPr id="8" name="Connector 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Chapter citations: Parisi (2019), Chapter 5 “Network Anomaly Detection with AI” and Chapter 10 “Assessing your AI Arsenal.”</a:t>
            </a:r>
          </a:p>
        </p:txBody>
      </p:sp>
      <p:sp>
        <p:nvSpPr>
          <p:cNvPr id="10" name="TextBox 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