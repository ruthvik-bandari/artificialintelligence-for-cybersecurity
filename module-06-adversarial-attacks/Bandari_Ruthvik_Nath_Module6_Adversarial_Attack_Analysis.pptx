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6"/>
  </p:normalViewPr>
  <p:slideViewPr>
    <p:cSldViewPr snapToGrid="0" snapToObjects="1">
      <p:cViewPr varScale="1">
        <p:scale>
          <a:sx n="103" d="100"/>
          <a:sy n="103" d="100"/>
        </p:scale>
        <p:origin x="200" y="41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35102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presentation analyses one cyber threat: adversarial attacks, where an attacker manipulates the input, the training data or the instructions of an AI system so that it makes a wrong decision. I look at three real cases, how three major companies defend their AI, how the defenses compare, and how anomaly detection and AI governance help.</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adversarial attack makes an AI system decide wrongly on purpose. The four techniques are evasion, where a crafted input fools a trained model; poisoning, where the training data or model is corrupted; prompt injection, where hidden instructions take over an AI assistant; and deepfakes, where AI-generated faces and voices impersonate real people. The impact is financial. In January 2024 one deepfake video call cost a Hong Kong firm 25 million US dollars. Deloitte projects that generative AI could push US fraud losses to 40 billion dollars by 2027, growing 32 percent a year, and reports that deepfake incidents in fintech rose 700 percent in 2023. The techniques used most are deepfake fraud against people and prompt injection against AI assistants, which is the attack Google, Microsoft and Meta now build dedicated defenses for. The most exposed industries are autonomous vehicles and finance, and healthcare wherever models make clinical decisions.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cases show the threat across industries. In 2020, McAfee researchers put about two inches of black tape on a 35 mile-per-hour sign; the MobilEye EyeQ3 camera on a 2016 Tesla read it as 85, and with cruise control on the car began accelerating toward 85 before the researchers braked. A 2020 camera did not appear vulnerable in limited tests, but McAfee notes the vulnerable camera remains in a sizeable share of Teslas. In January 2024, an employee of a Hong Kong firm joined a video call in which the chief financial officer and other colleagues were deepfakes, and sent 25 million US dollars to the fraudsters; in my view a call-back check on a known number would have stopped it. In June 2025, Microsoft disclosed a critical prompt-injection flaw in Microsoft 365 Copilot, CVE-2025-32711, rated 9.3, that needed no user interaction. Microsoft fully mitigated it on the server side and reported no exploitation, so this attack was stopped before it caused damage.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Industry leaders use complementary defenses. Microsoft's AI Red Team has attacked more than 100 of its own generative AI products; its lessons are that attackers do not need gradients to break a system, that automation helps but human testers remain crucial, and that the work is never complete. That is how companies test for vulnerabilities: red teams and automated tools attack the model before release and after every change. Google defends Gemini in layers and reports that training the model on adversarial prompt-injection data significantly enhanced its defenses, backed by classifiers that detect malicious instructions, redaction of suspicious links and user confirmation of risky actions. Meta released LlamaFirewall, an open-source guardrail for AI agents, with PromptGuard 2 to detect jailbreaks, AlignmentCheck to audit the agent's reasoning, and CodeShield to block insecure code. Across all three, no single defense is enough, so the most effective strategy is layered, and the Copilot case shows it can stop an attack before harm.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chart compares the four attack types with five defense strategies and names the industry each attack hits hardest. The ratings are my assessment from the cases and the companies' published defenses. Evasion, like the tape on the speed sign, matters most for autonomous vehicles; red teaming and anomaly detection, which can flag an 85 reading in a 35 zone, fit best, while adversarial training only partly helps because attackers adapt. Poisoning threatens any model that retrains on new data; testing and screening new data for outliers help most. Prompt injection threatens enterprise AI assistants, where every layer helps, which is why Google and Meta stack them. Deepfakes hit finance; a model cannot be retrained against them, so human call-back verification works best.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5 of the textbook, Network Anomaly Detection with AI, teaches a model of normal behaviour that flags anything that does not fit. The same idea is a practical defense against adversarial attacks. A speed reading of 85 on a 35 road is out of range, so the car should slow down and alert the driver. A large, urgent transfer right after one video call is unusual, so the payment should be held and confirmed by phone. Outliers in new training data can be screened before retraining, which blocks poisoning, and an AI assistant that suddenly sends data outside can be stopped. The current trend is AI governance. Article 15 of the EU AI Act requires high-risk AI systems to resist attempts to alter their outputs, names data poisoning, model poisoning and adversarial examples, and requires measures to prevent, detect and respond to them. That turns robustness testing and anomaly detection from good practice into a legal duty for high-risk systems.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Modules 3, 4 and 5 I built an anomaly detector, a fraud model and a phishing filter, and I judged them by accuracy. This module changed how I see that work: the detector itself is a target, and a model that is 99 percent accurate can be fooled by a strip of tape or a hidden instruction. As a future security engineer I want to build AI defenses that are red-teamed before release, backed by anomaly detection, and designed so a human confirms any high-stakes action.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128016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548640" y="1508760"/>
            <a:ext cx="10972800" cy="1554480"/>
          </a:xfrm>
          <a:prstGeom prst="rect">
            <a:avLst/>
          </a:prstGeom>
          <a:noFill/>
        </p:spPr>
        <p:txBody>
          <a:bodyPr wrap="square" lIns="0" tIns="0" rIns="0" bIns="0" anchor="t">
            <a:spAutoFit/>
          </a:bodyPr>
          <a:lstStyle/>
          <a:p>
            <a:pPr algn="l">
              <a:lnSpc>
                <a:spcPct val="100000"/>
              </a:lnSpc>
              <a:spcAft>
                <a:spcPts val="0"/>
              </a:spcAft>
            </a:pPr>
            <a:r>
              <a:rPr sz="4200" b="1" i="0">
                <a:solidFill>
                  <a:srgbClr val="FFFFFF"/>
                </a:solidFill>
                <a:latin typeface="Calibri"/>
              </a:rPr>
              <a:t>When AI Is the Target:</a:t>
            </a:r>
          </a:p>
          <a:p>
            <a:pPr algn="l">
              <a:lnSpc>
                <a:spcPct val="100000"/>
              </a:lnSpc>
              <a:spcAft>
                <a:spcPts val="0"/>
              </a:spcAft>
            </a:pPr>
            <a:r>
              <a:rPr sz="4200" b="1" i="0">
                <a:solidFill>
                  <a:srgbClr val="FFFFFF"/>
                </a:solidFill>
                <a:latin typeface="Calibri"/>
              </a:rPr>
              <a:t>Real-World Adversarial Attacks and Defenses</a:t>
            </a:r>
          </a:p>
        </p:txBody>
      </p:sp>
      <p:sp>
        <p:nvSpPr>
          <p:cNvPr id="5" name="TextBox 4"/>
          <p:cNvSpPr txBox="1"/>
          <p:nvPr/>
        </p:nvSpPr>
        <p:spPr>
          <a:xfrm>
            <a:off x="548640" y="3154680"/>
            <a:ext cx="10972800" cy="914400"/>
          </a:xfrm>
          <a:prstGeom prst="rect">
            <a:avLst/>
          </a:prstGeom>
          <a:noFill/>
        </p:spPr>
        <p:txBody>
          <a:bodyPr wrap="square" lIns="0" tIns="0" rIns="0" bIns="0" anchor="t">
            <a:spAutoFit/>
          </a:bodyPr>
          <a:lstStyle/>
          <a:p>
            <a:pPr algn="l">
              <a:lnSpc>
                <a:spcPct val="110000"/>
              </a:lnSpc>
              <a:spcAft>
                <a:spcPts val="600"/>
              </a:spcAft>
            </a:pPr>
            <a:r>
              <a:rPr sz="2100" b="0" i="0">
                <a:solidFill>
                  <a:srgbClr val="C9D3E0"/>
                </a:solidFill>
                <a:latin typeface="Calibri"/>
              </a:rPr>
              <a:t>One threat, three real cases, three company defenses</a:t>
            </a:r>
          </a:p>
        </p:txBody>
      </p:sp>
      <p:sp>
        <p:nvSpPr>
          <p:cNvPr id="6" name="TextBox 5"/>
          <p:cNvSpPr txBox="1"/>
          <p:nvPr/>
        </p:nvSpPr>
        <p:spPr>
          <a:xfrm>
            <a:off x="548640" y="4434840"/>
            <a:ext cx="10972800" cy="901529"/>
          </a:xfrm>
          <a:prstGeom prst="rect">
            <a:avLst/>
          </a:prstGeom>
          <a:noFill/>
        </p:spPr>
        <p:txBody>
          <a:bodyPr wrap="square" lIns="0" tIns="0" rIns="0" bIns="0" anchor="t">
            <a:spAutoFit/>
          </a:bodyPr>
          <a:lstStyle/>
          <a:p>
            <a:pPr algn="l">
              <a:lnSpc>
                <a:spcPct val="110000"/>
              </a:lnSpc>
              <a:spcAft>
                <a:spcPts val="400"/>
              </a:spcAft>
            </a:pPr>
            <a:r>
              <a:rPr sz="1600" b="0" i="0" dirty="0">
                <a:solidFill>
                  <a:srgbClr val="C9D3E0"/>
                </a:solidFill>
                <a:latin typeface="Calibri"/>
              </a:rPr>
              <a:t>Ruthvik Nath Bandari</a:t>
            </a:r>
          </a:p>
          <a:p>
            <a:pPr algn="l">
              <a:lnSpc>
                <a:spcPct val="110000"/>
              </a:lnSpc>
              <a:spcAft>
                <a:spcPts val="400"/>
              </a:spcAft>
            </a:pPr>
            <a:r>
              <a:rPr sz="1600" b="0" i="0" dirty="0">
                <a:solidFill>
                  <a:srgbClr val="C9D3E0"/>
                </a:solidFill>
                <a:latin typeface="Calibri"/>
              </a:rPr>
              <a:t>AAI6680: AI for Cybersecurity · Northeastern University · Mimoza </a:t>
            </a:r>
            <a:r>
              <a:rPr sz="1600" b="0" i="0" dirty="0" err="1">
                <a:solidFill>
                  <a:srgbClr val="C9D3E0"/>
                </a:solidFill>
                <a:latin typeface="Calibri"/>
              </a:rPr>
              <a:t>Dimodugno</a:t>
            </a:r>
            <a:r>
              <a:rPr sz="1600" b="0" i="0" dirty="0">
                <a:solidFill>
                  <a:srgbClr val="C9D3E0"/>
                </a:solidFill>
                <a:latin typeface="Calibri"/>
              </a:rPr>
              <a:t>, PhD</a:t>
            </a:r>
          </a:p>
          <a:p>
            <a:pPr algn="l">
              <a:lnSpc>
                <a:spcPct val="110000"/>
              </a:lnSpc>
              <a:spcAft>
                <a:spcPts val="400"/>
              </a:spcAft>
            </a:pPr>
            <a:r>
              <a:rPr sz="1600" b="0" i="0">
                <a:solidFill>
                  <a:srgbClr val="C9D3E0"/>
                </a:solidFill>
                <a:latin typeface="Calibri"/>
              </a:rPr>
              <a:t>October 1</a:t>
            </a:r>
            <a:r>
              <a:rPr lang="en-US" sz="1600" b="0" i="0">
                <a:solidFill>
                  <a:srgbClr val="C9D3E0"/>
                </a:solidFill>
                <a:latin typeface="Calibri"/>
              </a:rPr>
              <a:t>8</a:t>
            </a:r>
            <a:r>
              <a:rPr sz="1600" b="0" i="0">
                <a:solidFill>
                  <a:srgbClr val="C9D3E0"/>
                </a:solidFill>
                <a:latin typeface="Calibri"/>
              </a:rPr>
              <a: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THREAT AND IMPACT</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The threat: tricking AI into the wrong decision</a:t>
            </a:r>
          </a:p>
        </p:txBody>
      </p:sp>
      <p:sp>
        <p:nvSpPr>
          <p:cNvPr id="5" name="Rounded Rectangle 4"/>
          <p:cNvSpPr/>
          <p:nvPr/>
        </p:nvSpPr>
        <p:spPr>
          <a:xfrm>
            <a:off x="548640"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48640" y="1691640"/>
            <a:ext cx="2624328" cy="73152"/>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1874519"/>
            <a:ext cx="2286000" cy="365760"/>
          </a:xfrm>
          <a:prstGeom prst="rect">
            <a:avLst/>
          </a:prstGeom>
          <a:noFill/>
        </p:spPr>
        <p:txBody>
          <a:bodyPr wrap="square" lIns="0" tIns="0" rIns="0" bIns="0" anchor="t">
            <a:spAutoFit/>
          </a:bodyPr>
          <a:lstStyle/>
          <a:p>
            <a:pPr algn="l">
              <a:lnSpc>
                <a:spcPct val="110000"/>
              </a:lnSpc>
              <a:spcAft>
                <a:spcPts val="0"/>
              </a:spcAft>
            </a:pPr>
            <a:r>
              <a:rPr sz="1700" b="1" i="0">
                <a:solidFill>
                  <a:srgbClr val="1F5FAD"/>
                </a:solidFill>
                <a:latin typeface="Calibri"/>
              </a:rPr>
              <a:t>Evasion</a:t>
            </a:r>
          </a:p>
        </p:txBody>
      </p:sp>
      <p:sp>
        <p:nvSpPr>
          <p:cNvPr id="8" name="TextBox 7"/>
          <p:cNvSpPr txBox="1"/>
          <p:nvPr/>
        </p:nvSpPr>
        <p:spPr>
          <a:xfrm>
            <a:off x="731520" y="2286000"/>
            <a:ext cx="2286000" cy="548640"/>
          </a:xfrm>
          <a:prstGeom prst="rect">
            <a:avLst/>
          </a:prstGeom>
          <a:noFill/>
        </p:spPr>
        <p:txBody>
          <a:bodyPr wrap="square" lIns="0" tIns="0" rIns="0" bIns="0" anchor="t">
            <a:spAutoFit/>
          </a:bodyPr>
          <a:lstStyle/>
          <a:p>
            <a:pPr algn="l">
              <a:lnSpc>
                <a:spcPct val="110000"/>
              </a:lnSpc>
              <a:spcAft>
                <a:spcPts val="0"/>
              </a:spcAft>
            </a:pPr>
            <a:r>
              <a:rPr sz="1300" b="0" i="0">
                <a:solidFill>
                  <a:srgbClr val="1F2937"/>
                </a:solidFill>
                <a:latin typeface="Calibri"/>
              </a:rPr>
              <a:t>Altered input fools a model</a:t>
            </a:r>
          </a:p>
        </p:txBody>
      </p:sp>
      <p:sp>
        <p:nvSpPr>
          <p:cNvPr id="9" name="Rounded Rectangle 8"/>
          <p:cNvSpPr/>
          <p:nvPr/>
        </p:nvSpPr>
        <p:spPr>
          <a:xfrm>
            <a:off x="3355848"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3355848" y="1691640"/>
            <a:ext cx="2624328" cy="73152"/>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538728" y="1874519"/>
            <a:ext cx="2286000" cy="365760"/>
          </a:xfrm>
          <a:prstGeom prst="rect">
            <a:avLst/>
          </a:prstGeom>
          <a:noFill/>
        </p:spPr>
        <p:txBody>
          <a:bodyPr wrap="square" lIns="0" tIns="0" rIns="0" bIns="0" anchor="t">
            <a:spAutoFit/>
          </a:bodyPr>
          <a:lstStyle/>
          <a:p>
            <a:pPr algn="l">
              <a:lnSpc>
                <a:spcPct val="110000"/>
              </a:lnSpc>
              <a:spcAft>
                <a:spcPts val="0"/>
              </a:spcAft>
            </a:pPr>
            <a:r>
              <a:rPr sz="1700" b="1" i="0">
                <a:solidFill>
                  <a:srgbClr val="1E846F"/>
                </a:solidFill>
                <a:latin typeface="Calibri"/>
              </a:rPr>
              <a:t>Poisoning</a:t>
            </a:r>
          </a:p>
        </p:txBody>
      </p:sp>
      <p:sp>
        <p:nvSpPr>
          <p:cNvPr id="12" name="TextBox 11"/>
          <p:cNvSpPr txBox="1"/>
          <p:nvPr/>
        </p:nvSpPr>
        <p:spPr>
          <a:xfrm>
            <a:off x="3538728" y="2286000"/>
            <a:ext cx="2286000" cy="548640"/>
          </a:xfrm>
          <a:prstGeom prst="rect">
            <a:avLst/>
          </a:prstGeom>
          <a:noFill/>
        </p:spPr>
        <p:txBody>
          <a:bodyPr wrap="square" lIns="0" tIns="0" rIns="0" bIns="0" anchor="t">
            <a:spAutoFit/>
          </a:bodyPr>
          <a:lstStyle/>
          <a:p>
            <a:pPr algn="l">
              <a:lnSpc>
                <a:spcPct val="110000"/>
              </a:lnSpc>
              <a:spcAft>
                <a:spcPts val="0"/>
              </a:spcAft>
            </a:pPr>
            <a:r>
              <a:rPr sz="1300" b="0" i="0">
                <a:solidFill>
                  <a:srgbClr val="1F2937"/>
                </a:solidFill>
                <a:latin typeface="Calibri"/>
              </a:rPr>
              <a:t>Corrupted training data or model</a:t>
            </a:r>
          </a:p>
        </p:txBody>
      </p:sp>
      <p:sp>
        <p:nvSpPr>
          <p:cNvPr id="13" name="Rounded Rectangle 12"/>
          <p:cNvSpPr/>
          <p:nvPr/>
        </p:nvSpPr>
        <p:spPr>
          <a:xfrm>
            <a:off x="6163055"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163055" y="1691640"/>
            <a:ext cx="2624328"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345936" y="1874519"/>
            <a:ext cx="2286000" cy="365760"/>
          </a:xfrm>
          <a:prstGeom prst="rect">
            <a:avLst/>
          </a:prstGeom>
          <a:noFill/>
        </p:spPr>
        <p:txBody>
          <a:bodyPr wrap="square" lIns="0" tIns="0" rIns="0" bIns="0" anchor="t">
            <a:spAutoFit/>
          </a:bodyPr>
          <a:lstStyle/>
          <a:p>
            <a:pPr algn="l">
              <a:lnSpc>
                <a:spcPct val="110000"/>
              </a:lnSpc>
              <a:spcAft>
                <a:spcPts val="0"/>
              </a:spcAft>
            </a:pPr>
            <a:r>
              <a:rPr sz="1700" b="1" i="0">
                <a:solidFill>
                  <a:srgbClr val="C0392B"/>
                </a:solidFill>
                <a:latin typeface="Calibri"/>
              </a:rPr>
              <a:t>Prompt injection</a:t>
            </a:r>
          </a:p>
        </p:txBody>
      </p:sp>
      <p:sp>
        <p:nvSpPr>
          <p:cNvPr id="16" name="TextBox 15"/>
          <p:cNvSpPr txBox="1"/>
          <p:nvPr/>
        </p:nvSpPr>
        <p:spPr>
          <a:xfrm>
            <a:off x="6345936" y="2286000"/>
            <a:ext cx="2286000" cy="548640"/>
          </a:xfrm>
          <a:prstGeom prst="rect">
            <a:avLst/>
          </a:prstGeom>
          <a:noFill/>
        </p:spPr>
        <p:txBody>
          <a:bodyPr wrap="square" lIns="0" tIns="0" rIns="0" bIns="0" anchor="t">
            <a:spAutoFit/>
          </a:bodyPr>
          <a:lstStyle/>
          <a:p>
            <a:pPr algn="l">
              <a:lnSpc>
                <a:spcPct val="110000"/>
              </a:lnSpc>
              <a:spcAft>
                <a:spcPts val="0"/>
              </a:spcAft>
            </a:pPr>
            <a:r>
              <a:rPr sz="1300" b="0" i="0">
                <a:solidFill>
                  <a:srgbClr val="1F2937"/>
                </a:solidFill>
                <a:latin typeface="Calibri"/>
              </a:rPr>
              <a:t>Hidden instructions hijack an AI assistant</a:t>
            </a:r>
          </a:p>
        </p:txBody>
      </p:sp>
      <p:sp>
        <p:nvSpPr>
          <p:cNvPr id="17" name="Rounded Rectangle 16"/>
          <p:cNvSpPr/>
          <p:nvPr/>
        </p:nvSpPr>
        <p:spPr>
          <a:xfrm>
            <a:off x="8970263"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970263" y="1691640"/>
            <a:ext cx="2624328" cy="731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153143" y="1874519"/>
            <a:ext cx="2286000" cy="365760"/>
          </a:xfrm>
          <a:prstGeom prst="rect">
            <a:avLst/>
          </a:prstGeom>
          <a:noFill/>
        </p:spPr>
        <p:txBody>
          <a:bodyPr wrap="square" lIns="0" tIns="0" rIns="0" bIns="0" anchor="t">
            <a:spAutoFit/>
          </a:bodyPr>
          <a:lstStyle/>
          <a:p>
            <a:pPr algn="l">
              <a:lnSpc>
                <a:spcPct val="110000"/>
              </a:lnSpc>
              <a:spcAft>
                <a:spcPts val="0"/>
              </a:spcAft>
            </a:pPr>
            <a:r>
              <a:rPr sz="1700" b="1" i="0">
                <a:solidFill>
                  <a:srgbClr val="B7791F"/>
                </a:solidFill>
                <a:latin typeface="Calibri"/>
              </a:rPr>
              <a:t>Deepfakes</a:t>
            </a:r>
          </a:p>
        </p:txBody>
      </p:sp>
      <p:sp>
        <p:nvSpPr>
          <p:cNvPr id="20" name="TextBox 19"/>
          <p:cNvSpPr txBox="1"/>
          <p:nvPr/>
        </p:nvSpPr>
        <p:spPr>
          <a:xfrm>
            <a:off x="9153143" y="2286000"/>
            <a:ext cx="2286000" cy="548640"/>
          </a:xfrm>
          <a:prstGeom prst="rect">
            <a:avLst/>
          </a:prstGeom>
          <a:noFill/>
        </p:spPr>
        <p:txBody>
          <a:bodyPr wrap="square" lIns="0" tIns="0" rIns="0" bIns="0" anchor="t">
            <a:spAutoFit/>
          </a:bodyPr>
          <a:lstStyle/>
          <a:p>
            <a:pPr algn="l">
              <a:lnSpc>
                <a:spcPct val="110000"/>
              </a:lnSpc>
              <a:spcAft>
                <a:spcPts val="0"/>
              </a:spcAft>
            </a:pPr>
            <a:r>
              <a:rPr sz="1300" b="0" i="0">
                <a:solidFill>
                  <a:srgbClr val="1F2937"/>
                </a:solidFill>
                <a:latin typeface="Calibri"/>
              </a:rPr>
              <a:t>Faked faces and voices fool people</a:t>
            </a:r>
          </a:p>
        </p:txBody>
      </p:sp>
      <p:sp>
        <p:nvSpPr>
          <p:cNvPr id="21" name="Rounded Rectangle 20"/>
          <p:cNvSpPr/>
          <p:nvPr/>
        </p:nvSpPr>
        <p:spPr>
          <a:xfrm>
            <a:off x="548640" y="320040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548640" y="320040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22959" y="3328416"/>
            <a:ext cx="3154679" cy="548640"/>
          </a:xfrm>
          <a:prstGeom prst="rect">
            <a:avLst/>
          </a:prstGeom>
          <a:noFill/>
        </p:spPr>
        <p:txBody>
          <a:bodyPr wrap="square" lIns="0" tIns="0" rIns="0" bIns="0" anchor="t">
            <a:spAutoFit/>
          </a:bodyPr>
          <a:lstStyle/>
          <a:p>
            <a:pPr algn="l">
              <a:lnSpc>
                <a:spcPct val="110000"/>
              </a:lnSpc>
              <a:spcAft>
                <a:spcPts val="0"/>
              </a:spcAft>
            </a:pPr>
            <a:r>
              <a:rPr sz="3000" b="1" i="0">
                <a:solidFill>
                  <a:srgbClr val="C0392B"/>
                </a:solidFill>
                <a:latin typeface="Calibri"/>
              </a:rPr>
              <a:t>US$25 million</a:t>
            </a:r>
          </a:p>
        </p:txBody>
      </p:sp>
      <p:sp>
        <p:nvSpPr>
          <p:cNvPr id="24" name="TextBox 23"/>
          <p:cNvSpPr txBox="1"/>
          <p:nvPr/>
        </p:nvSpPr>
        <p:spPr>
          <a:xfrm>
            <a:off x="822959" y="3913632"/>
            <a:ext cx="3154679" cy="502920"/>
          </a:xfrm>
          <a:prstGeom prst="rect">
            <a:avLst/>
          </a:prstGeom>
          <a:noFill/>
        </p:spPr>
        <p:txBody>
          <a:bodyPr wrap="square" lIns="0" tIns="0" rIns="0" bIns="0" anchor="t">
            <a:spAutoFit/>
          </a:bodyPr>
          <a:lstStyle/>
          <a:p>
            <a:pPr algn="l">
              <a:lnSpc>
                <a:spcPct val="100000"/>
              </a:lnSpc>
              <a:spcAft>
                <a:spcPts val="0"/>
              </a:spcAft>
            </a:pPr>
            <a:r>
              <a:rPr sz="1300" b="0" i="0">
                <a:solidFill>
                  <a:srgbClr val="1F2937"/>
                </a:solidFill>
                <a:latin typeface="Calibri"/>
              </a:rPr>
              <a:t>lost in one deepfake video call (Hong Kong, 2024)</a:t>
            </a:r>
          </a:p>
        </p:txBody>
      </p:sp>
      <p:sp>
        <p:nvSpPr>
          <p:cNvPr id="25" name="Rounded Rectangle 24"/>
          <p:cNvSpPr/>
          <p:nvPr/>
        </p:nvSpPr>
        <p:spPr>
          <a:xfrm>
            <a:off x="4315968" y="320040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4315968" y="320040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590288" y="3328416"/>
            <a:ext cx="3154679" cy="548640"/>
          </a:xfrm>
          <a:prstGeom prst="rect">
            <a:avLst/>
          </a:prstGeom>
          <a:noFill/>
        </p:spPr>
        <p:txBody>
          <a:bodyPr wrap="square" lIns="0" tIns="0" rIns="0" bIns="0" anchor="t">
            <a:spAutoFit/>
          </a:bodyPr>
          <a:lstStyle/>
          <a:p>
            <a:pPr algn="l">
              <a:lnSpc>
                <a:spcPct val="110000"/>
              </a:lnSpc>
              <a:spcAft>
                <a:spcPts val="0"/>
              </a:spcAft>
            </a:pPr>
            <a:r>
              <a:rPr sz="3000" b="1" i="0">
                <a:solidFill>
                  <a:srgbClr val="C0392B"/>
                </a:solidFill>
                <a:latin typeface="Calibri"/>
              </a:rPr>
              <a:t>US$40 billion</a:t>
            </a:r>
          </a:p>
        </p:txBody>
      </p:sp>
      <p:sp>
        <p:nvSpPr>
          <p:cNvPr id="28" name="TextBox 27"/>
          <p:cNvSpPr txBox="1"/>
          <p:nvPr/>
        </p:nvSpPr>
        <p:spPr>
          <a:xfrm>
            <a:off x="4590288" y="3913632"/>
            <a:ext cx="3154679" cy="502920"/>
          </a:xfrm>
          <a:prstGeom prst="rect">
            <a:avLst/>
          </a:prstGeom>
          <a:noFill/>
        </p:spPr>
        <p:txBody>
          <a:bodyPr wrap="square" lIns="0" tIns="0" rIns="0" bIns="0" anchor="t">
            <a:spAutoFit/>
          </a:bodyPr>
          <a:lstStyle/>
          <a:p>
            <a:pPr algn="l">
              <a:lnSpc>
                <a:spcPct val="100000"/>
              </a:lnSpc>
              <a:spcAft>
                <a:spcPts val="0"/>
              </a:spcAft>
            </a:pPr>
            <a:r>
              <a:rPr sz="1300" b="0" i="0">
                <a:solidFill>
                  <a:srgbClr val="1F2937"/>
                </a:solidFill>
                <a:latin typeface="Calibri"/>
              </a:rPr>
              <a:t>projected US fraud losses from generative AI by 2027</a:t>
            </a:r>
          </a:p>
        </p:txBody>
      </p:sp>
      <p:sp>
        <p:nvSpPr>
          <p:cNvPr id="29" name="Rounded Rectangle 28"/>
          <p:cNvSpPr/>
          <p:nvPr/>
        </p:nvSpPr>
        <p:spPr>
          <a:xfrm>
            <a:off x="8083296" y="320040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083296" y="3200400"/>
            <a:ext cx="73152" cy="123444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357616" y="3328416"/>
            <a:ext cx="3154679" cy="548640"/>
          </a:xfrm>
          <a:prstGeom prst="rect">
            <a:avLst/>
          </a:prstGeom>
          <a:noFill/>
        </p:spPr>
        <p:txBody>
          <a:bodyPr wrap="square" lIns="0" tIns="0" rIns="0" bIns="0" anchor="t">
            <a:spAutoFit/>
          </a:bodyPr>
          <a:lstStyle/>
          <a:p>
            <a:pPr algn="l">
              <a:lnSpc>
                <a:spcPct val="110000"/>
              </a:lnSpc>
              <a:spcAft>
                <a:spcPts val="0"/>
              </a:spcAft>
            </a:pPr>
            <a:r>
              <a:rPr sz="3000" b="1" i="0">
                <a:solidFill>
                  <a:srgbClr val="1F5FAD"/>
                </a:solidFill>
                <a:latin typeface="Calibri"/>
              </a:rPr>
              <a:t>+700%</a:t>
            </a:r>
          </a:p>
        </p:txBody>
      </p:sp>
      <p:sp>
        <p:nvSpPr>
          <p:cNvPr id="32" name="TextBox 31"/>
          <p:cNvSpPr txBox="1"/>
          <p:nvPr/>
        </p:nvSpPr>
        <p:spPr>
          <a:xfrm>
            <a:off x="8357616" y="3913632"/>
            <a:ext cx="3154679" cy="502920"/>
          </a:xfrm>
          <a:prstGeom prst="rect">
            <a:avLst/>
          </a:prstGeom>
          <a:noFill/>
        </p:spPr>
        <p:txBody>
          <a:bodyPr wrap="square" lIns="0" tIns="0" rIns="0" bIns="0" anchor="t">
            <a:spAutoFit/>
          </a:bodyPr>
          <a:lstStyle/>
          <a:p>
            <a:pPr algn="l">
              <a:lnSpc>
                <a:spcPct val="100000"/>
              </a:lnSpc>
              <a:spcAft>
                <a:spcPts val="0"/>
              </a:spcAft>
            </a:pPr>
            <a:r>
              <a:rPr sz="1300" b="0" i="0">
                <a:solidFill>
                  <a:srgbClr val="1F2937"/>
                </a:solidFill>
                <a:latin typeface="Calibri"/>
              </a:rPr>
              <a:t>deepfake incidents in fintech in 2023</a:t>
            </a:r>
          </a:p>
        </p:txBody>
      </p:sp>
      <p:sp>
        <p:nvSpPr>
          <p:cNvPr id="33" name="TextBox 32"/>
          <p:cNvSpPr txBox="1"/>
          <p:nvPr/>
        </p:nvSpPr>
        <p:spPr>
          <a:xfrm>
            <a:off x="548640" y="4709160"/>
            <a:ext cx="11064240" cy="1463040"/>
          </a:xfrm>
          <a:prstGeom prst="rect">
            <a:avLst/>
          </a:prstGeom>
          <a:noFill/>
        </p:spPr>
        <p:txBody>
          <a:bodyPr wrap="square" lIns="0" tIns="0" rIns="0" bIns="0">
            <a:spAutoFit/>
          </a:bodyPr>
          <a:lstStyle/>
          <a:p>
            <a:pPr marL="256032" indent="-256032">
              <a:lnSpc>
                <a:spcPct val="110000"/>
              </a:lnSpc>
              <a:spcAft>
                <a:spcPts val="600"/>
              </a:spcAft>
              <a:buClr>
                <a:srgbClr val="1F5FAD"/>
              </a:buClr>
              <a:buFont typeface="Arial"/>
              <a:buChar char="■"/>
            </a:pPr>
            <a:r>
              <a:rPr sz="1500" b="1" i="0">
                <a:solidFill>
                  <a:srgbClr val="1F2937"/>
                </a:solidFill>
                <a:latin typeface="Calibri"/>
              </a:rPr>
              <a:t>Used most:</a:t>
            </a:r>
            <a:r>
              <a:rPr sz="1500" b="0" i="0">
                <a:solidFill>
                  <a:srgbClr val="1F2937"/>
                </a:solidFill>
                <a:latin typeface="Calibri"/>
              </a:rPr>
              <a:t> deepfake fraud against people, and prompt injection against AI assistants, the attack Google, Microsoft and Meta now build defenses for.</a:t>
            </a:r>
          </a:p>
          <a:p>
            <a:pPr marL="256032" indent="-256032">
              <a:lnSpc>
                <a:spcPct val="110000"/>
              </a:lnSpc>
              <a:spcAft>
                <a:spcPts val="600"/>
              </a:spcAft>
              <a:buClr>
                <a:srgbClr val="1F5FAD"/>
              </a:buClr>
              <a:buFont typeface="Arial"/>
              <a:buChar char="■"/>
            </a:pPr>
            <a:r>
              <a:rPr sz="1500" b="1" i="0">
                <a:solidFill>
                  <a:srgbClr val="1F2937"/>
                </a:solidFill>
                <a:latin typeface="Calibri"/>
              </a:rPr>
              <a:t>Most exposed:</a:t>
            </a:r>
            <a:r>
              <a:rPr sz="1500" b="0" i="0">
                <a:solidFill>
                  <a:srgbClr val="1F2937"/>
                </a:solidFill>
                <a:latin typeface="Calibri"/>
              </a:rPr>
              <a:t> autonomous vehicles, finance and, wherever models make clinical calls, healthcare.</a:t>
            </a:r>
          </a:p>
        </p:txBody>
      </p:sp>
      <p:cxnSp>
        <p:nvCxnSpPr>
          <p:cNvPr id="34" name="Connector 33"/>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Lalchand et al. (2024); Google GenAI Security Team (2025); Parisi (2019, Ch. 10).</a:t>
            </a:r>
          </a:p>
        </p:txBody>
      </p:sp>
      <p:sp>
        <p:nvSpPr>
          <p:cNvPr id="36" name="TextBox 35"/>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STEP 1 · CASE STUDIES</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Three real attacks that made headlines</a:t>
            </a:r>
          </a:p>
        </p:txBody>
      </p:sp>
      <p:sp>
        <p:nvSpPr>
          <p:cNvPr id="5" name="Rounded Rectangle 4"/>
          <p:cNvSpPr/>
          <p:nvPr/>
        </p:nvSpPr>
        <p:spPr>
          <a:xfrm>
            <a:off x="548640" y="1645920"/>
            <a:ext cx="3611880" cy="324612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48640" y="1645920"/>
            <a:ext cx="361188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7240" y="1874519"/>
            <a:ext cx="3154680" cy="274320"/>
          </a:xfrm>
          <a:prstGeom prst="rect">
            <a:avLst/>
          </a:prstGeom>
          <a:noFill/>
        </p:spPr>
        <p:txBody>
          <a:bodyPr wrap="square" lIns="0" tIns="0" rIns="0" bIns="0" anchor="t">
            <a:spAutoFit/>
          </a:bodyPr>
          <a:lstStyle/>
          <a:p>
            <a:pPr algn="l">
              <a:lnSpc>
                <a:spcPct val="110000"/>
              </a:lnSpc>
              <a:spcAft>
                <a:spcPts val="0"/>
              </a:spcAft>
            </a:pPr>
            <a:r>
              <a:rPr sz="1100" b="1" i="0">
                <a:solidFill>
                  <a:srgbClr val="1F5FAD"/>
                </a:solidFill>
                <a:latin typeface="Calibri"/>
              </a:rPr>
              <a:t>AUTONOMOUS VEHICLES · EVASION</a:t>
            </a:r>
          </a:p>
        </p:txBody>
      </p:sp>
      <p:sp>
        <p:nvSpPr>
          <p:cNvPr id="8" name="TextBox 7"/>
          <p:cNvSpPr txBox="1"/>
          <p:nvPr/>
        </p:nvSpPr>
        <p:spPr>
          <a:xfrm>
            <a:off x="777240" y="2148840"/>
            <a:ext cx="3154680" cy="685800"/>
          </a:xfrm>
          <a:prstGeom prst="rect">
            <a:avLst/>
          </a:prstGeom>
          <a:noFill/>
        </p:spPr>
        <p:txBody>
          <a:bodyPr wrap="square" lIns="0" tIns="0" rIns="0" bIns="0" anchor="t">
            <a:spAutoFit/>
          </a:bodyPr>
          <a:lstStyle/>
          <a:p>
            <a:pPr algn="l">
              <a:lnSpc>
                <a:spcPct val="100000"/>
              </a:lnSpc>
              <a:spcAft>
                <a:spcPts val="0"/>
              </a:spcAft>
            </a:pPr>
            <a:r>
              <a:rPr sz="1800" b="1" i="0">
                <a:solidFill>
                  <a:srgbClr val="0F1B2D"/>
                </a:solidFill>
                <a:latin typeface="Calibri"/>
              </a:rPr>
              <a:t>Tesla: tape on a speed sign</a:t>
            </a:r>
          </a:p>
        </p:txBody>
      </p:sp>
      <p:sp>
        <p:nvSpPr>
          <p:cNvPr id="9" name="TextBox 8"/>
          <p:cNvSpPr txBox="1"/>
          <p:nvPr/>
        </p:nvSpPr>
        <p:spPr>
          <a:xfrm>
            <a:off x="777240" y="2880360"/>
            <a:ext cx="3154680" cy="1874519"/>
          </a:xfrm>
          <a:prstGeom prst="rect">
            <a:avLst/>
          </a:prstGeom>
          <a:noFill/>
        </p:spPr>
        <p:txBody>
          <a:bodyPr wrap="square" lIns="0" tIns="0" rIns="0" bIns="0" anchor="t">
            <a:spAutoFit/>
          </a:bodyPr>
          <a:lstStyle/>
          <a:p>
            <a:pPr algn="l">
              <a:lnSpc>
                <a:spcPct val="110000"/>
              </a:lnSpc>
              <a:spcAft>
                <a:spcPts val="700"/>
              </a:spcAft>
            </a:pPr>
            <a:r>
              <a:rPr sz="1300" b="1" i="0">
                <a:solidFill>
                  <a:srgbClr val="1F2937"/>
                </a:solidFill>
                <a:latin typeface="Calibri"/>
              </a:rPr>
              <a:t>How:</a:t>
            </a:r>
            <a:r>
              <a:rPr sz="1300" b="0" i="0">
                <a:solidFill>
                  <a:srgbClr val="1F2937"/>
                </a:solidFill>
                <a:latin typeface="Calibri"/>
              </a:rPr>
              <a:t> About 5 cm of tape made the MobilEye camera read 35 mph as 85.</a:t>
            </a:r>
          </a:p>
          <a:p>
            <a:pPr algn="l">
              <a:lnSpc>
                <a:spcPct val="110000"/>
              </a:lnSpc>
              <a:spcAft>
                <a:spcPts val="700"/>
              </a:spcAft>
            </a:pPr>
            <a:r>
              <a:rPr sz="1300" b="1" i="0">
                <a:solidFill>
                  <a:srgbClr val="1F2937"/>
                </a:solidFill>
                <a:latin typeface="Calibri"/>
              </a:rPr>
              <a:t>Impact:</a:t>
            </a:r>
            <a:r>
              <a:rPr sz="1300" b="0" i="0">
                <a:solidFill>
                  <a:srgbClr val="1F2937"/>
                </a:solidFill>
                <a:latin typeface="Calibri"/>
              </a:rPr>
              <a:t> The car began accelerating toward 85 mph.</a:t>
            </a:r>
          </a:p>
          <a:p>
            <a:pPr algn="l">
              <a:lnSpc>
                <a:spcPct val="110000"/>
              </a:lnSpc>
              <a:spcAft>
                <a:spcPts val="700"/>
              </a:spcAft>
            </a:pPr>
            <a:r>
              <a:rPr sz="1300" b="1" i="0">
                <a:solidFill>
                  <a:srgbClr val="1F2937"/>
                </a:solidFill>
                <a:latin typeface="Calibri"/>
              </a:rPr>
              <a:t>Outcome:</a:t>
            </a:r>
            <a:r>
              <a:rPr sz="1300" b="0" i="0">
                <a:solidFill>
                  <a:srgbClr val="1F2937"/>
                </a:solidFill>
                <a:latin typeface="Calibri"/>
              </a:rPr>
              <a:t> A 2020 camera seemed immune; vulnerable ones remain in many Teslas.</a:t>
            </a:r>
          </a:p>
        </p:txBody>
      </p:sp>
      <p:sp>
        <p:nvSpPr>
          <p:cNvPr id="10" name="Rounded Rectangle 9"/>
          <p:cNvSpPr/>
          <p:nvPr/>
        </p:nvSpPr>
        <p:spPr>
          <a:xfrm>
            <a:off x="4325112" y="1645920"/>
            <a:ext cx="3611880" cy="324612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4325112" y="1645920"/>
            <a:ext cx="361188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553712" y="1874519"/>
            <a:ext cx="3154680" cy="274320"/>
          </a:xfrm>
          <a:prstGeom prst="rect">
            <a:avLst/>
          </a:prstGeom>
          <a:noFill/>
        </p:spPr>
        <p:txBody>
          <a:bodyPr wrap="square" lIns="0" tIns="0" rIns="0" bIns="0" anchor="t">
            <a:spAutoFit/>
          </a:bodyPr>
          <a:lstStyle/>
          <a:p>
            <a:pPr algn="l">
              <a:lnSpc>
                <a:spcPct val="110000"/>
              </a:lnSpc>
              <a:spcAft>
                <a:spcPts val="0"/>
              </a:spcAft>
            </a:pPr>
            <a:r>
              <a:rPr sz="1100" b="1" i="0">
                <a:solidFill>
                  <a:srgbClr val="C0392B"/>
                </a:solidFill>
                <a:latin typeface="Calibri"/>
              </a:rPr>
              <a:t>FINANCE · DEEPFAKE</a:t>
            </a:r>
          </a:p>
        </p:txBody>
      </p:sp>
      <p:sp>
        <p:nvSpPr>
          <p:cNvPr id="13" name="TextBox 12"/>
          <p:cNvSpPr txBox="1"/>
          <p:nvPr/>
        </p:nvSpPr>
        <p:spPr>
          <a:xfrm>
            <a:off x="4553712" y="2148840"/>
            <a:ext cx="3154680" cy="685800"/>
          </a:xfrm>
          <a:prstGeom prst="rect">
            <a:avLst/>
          </a:prstGeom>
          <a:noFill/>
        </p:spPr>
        <p:txBody>
          <a:bodyPr wrap="square" lIns="0" tIns="0" rIns="0" bIns="0" anchor="t">
            <a:spAutoFit/>
          </a:bodyPr>
          <a:lstStyle/>
          <a:p>
            <a:pPr algn="l">
              <a:lnSpc>
                <a:spcPct val="100000"/>
              </a:lnSpc>
              <a:spcAft>
                <a:spcPts val="0"/>
              </a:spcAft>
            </a:pPr>
            <a:r>
              <a:rPr sz="1800" b="1" i="0">
                <a:solidFill>
                  <a:srgbClr val="0F1B2D"/>
                </a:solidFill>
                <a:latin typeface="Calibri"/>
              </a:rPr>
              <a:t>Hong Kong: a fake CFO on video</a:t>
            </a:r>
          </a:p>
        </p:txBody>
      </p:sp>
      <p:sp>
        <p:nvSpPr>
          <p:cNvPr id="14" name="TextBox 13"/>
          <p:cNvSpPr txBox="1"/>
          <p:nvPr/>
        </p:nvSpPr>
        <p:spPr>
          <a:xfrm>
            <a:off x="4553712" y="2880360"/>
            <a:ext cx="3154680" cy="1874519"/>
          </a:xfrm>
          <a:prstGeom prst="rect">
            <a:avLst/>
          </a:prstGeom>
          <a:noFill/>
        </p:spPr>
        <p:txBody>
          <a:bodyPr wrap="square" lIns="0" tIns="0" rIns="0" bIns="0" anchor="t">
            <a:spAutoFit/>
          </a:bodyPr>
          <a:lstStyle/>
          <a:p>
            <a:pPr algn="l">
              <a:lnSpc>
                <a:spcPct val="110000"/>
              </a:lnSpc>
              <a:spcAft>
                <a:spcPts val="700"/>
              </a:spcAft>
            </a:pPr>
            <a:r>
              <a:rPr sz="1300" b="1" i="0">
                <a:solidFill>
                  <a:srgbClr val="1F2937"/>
                </a:solidFill>
                <a:latin typeface="Calibri"/>
              </a:rPr>
              <a:t>How:</a:t>
            </a:r>
            <a:r>
              <a:rPr sz="1300" b="0" i="0">
                <a:solidFill>
                  <a:srgbClr val="1F2937"/>
                </a:solidFill>
                <a:latin typeface="Calibri"/>
              </a:rPr>
              <a:t> Every other person on the video call was a deepfake.</a:t>
            </a:r>
          </a:p>
          <a:p>
            <a:pPr algn="l">
              <a:lnSpc>
                <a:spcPct val="110000"/>
              </a:lnSpc>
              <a:spcAft>
                <a:spcPts val="700"/>
              </a:spcAft>
            </a:pPr>
            <a:r>
              <a:rPr sz="1300" b="1" i="0">
                <a:solidFill>
                  <a:srgbClr val="1F2937"/>
                </a:solidFill>
                <a:latin typeface="Calibri"/>
              </a:rPr>
              <a:t>Impact:</a:t>
            </a:r>
            <a:r>
              <a:rPr sz="1300" b="0" i="0">
                <a:solidFill>
                  <a:srgbClr val="1F2937"/>
                </a:solidFill>
                <a:latin typeface="Calibri"/>
              </a:rPr>
              <a:t> </a:t>
            </a:r>
            <a:r>
              <a:rPr sz="1300" b="1" i="0">
                <a:solidFill>
                  <a:srgbClr val="1F2937"/>
                </a:solidFill>
                <a:latin typeface="Calibri"/>
              </a:rPr>
              <a:t>US$25 million</a:t>
            </a:r>
            <a:r>
              <a:rPr sz="1300" b="0" i="0">
                <a:solidFill>
                  <a:srgbClr val="1F2937"/>
                </a:solidFill>
                <a:latin typeface="Calibri"/>
              </a:rPr>
              <a:t> sent to fraudsters.</a:t>
            </a:r>
          </a:p>
          <a:p>
            <a:pPr algn="l">
              <a:lnSpc>
                <a:spcPct val="110000"/>
              </a:lnSpc>
              <a:spcAft>
                <a:spcPts val="700"/>
              </a:spcAft>
            </a:pPr>
            <a:r>
              <a:rPr sz="1300" b="1" i="0">
                <a:solidFill>
                  <a:srgbClr val="1F2937"/>
                </a:solidFill>
                <a:latin typeface="Calibri"/>
              </a:rPr>
              <a:t>Lesson:</a:t>
            </a:r>
            <a:r>
              <a:rPr sz="1300" b="0" i="0">
                <a:solidFill>
                  <a:srgbClr val="1F2937"/>
                </a:solidFill>
                <a:latin typeface="Calibri"/>
              </a:rPr>
              <a:t> A call-back check would have stopped it.</a:t>
            </a:r>
          </a:p>
        </p:txBody>
      </p:sp>
      <p:sp>
        <p:nvSpPr>
          <p:cNvPr id="15" name="Rounded Rectangle 14"/>
          <p:cNvSpPr/>
          <p:nvPr/>
        </p:nvSpPr>
        <p:spPr>
          <a:xfrm>
            <a:off x="8101583" y="1645920"/>
            <a:ext cx="3611880" cy="324612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101583" y="1645920"/>
            <a:ext cx="3611880" cy="8229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330183" y="1874519"/>
            <a:ext cx="3154680" cy="274320"/>
          </a:xfrm>
          <a:prstGeom prst="rect">
            <a:avLst/>
          </a:prstGeom>
          <a:noFill/>
        </p:spPr>
        <p:txBody>
          <a:bodyPr wrap="square" lIns="0" tIns="0" rIns="0" bIns="0" anchor="t">
            <a:spAutoFit/>
          </a:bodyPr>
          <a:lstStyle/>
          <a:p>
            <a:pPr algn="l">
              <a:lnSpc>
                <a:spcPct val="110000"/>
              </a:lnSpc>
              <a:spcAft>
                <a:spcPts val="0"/>
              </a:spcAft>
            </a:pPr>
            <a:r>
              <a:rPr sz="1100" b="1" i="0">
                <a:solidFill>
                  <a:srgbClr val="B7791F"/>
                </a:solidFill>
                <a:latin typeface="Calibri"/>
              </a:rPr>
              <a:t>ENTERPRISE AI · PROMPT INJECTION</a:t>
            </a:r>
          </a:p>
        </p:txBody>
      </p:sp>
      <p:sp>
        <p:nvSpPr>
          <p:cNvPr id="18" name="TextBox 17"/>
          <p:cNvSpPr txBox="1"/>
          <p:nvPr/>
        </p:nvSpPr>
        <p:spPr>
          <a:xfrm>
            <a:off x="8330183" y="2148840"/>
            <a:ext cx="3154680" cy="685800"/>
          </a:xfrm>
          <a:prstGeom prst="rect">
            <a:avLst/>
          </a:prstGeom>
          <a:noFill/>
        </p:spPr>
        <p:txBody>
          <a:bodyPr wrap="square" lIns="0" tIns="0" rIns="0" bIns="0" anchor="t">
            <a:spAutoFit/>
          </a:bodyPr>
          <a:lstStyle/>
          <a:p>
            <a:pPr algn="l">
              <a:lnSpc>
                <a:spcPct val="100000"/>
              </a:lnSpc>
              <a:spcAft>
                <a:spcPts val="0"/>
              </a:spcAft>
            </a:pPr>
            <a:r>
              <a:rPr sz="1800" b="1" i="0">
                <a:solidFill>
                  <a:srgbClr val="0F1B2D"/>
                </a:solidFill>
                <a:latin typeface="Calibri"/>
              </a:rPr>
              <a:t>Microsoft 365 Copilot</a:t>
            </a:r>
          </a:p>
        </p:txBody>
      </p:sp>
      <p:sp>
        <p:nvSpPr>
          <p:cNvPr id="19" name="TextBox 18"/>
          <p:cNvSpPr txBox="1"/>
          <p:nvPr/>
        </p:nvSpPr>
        <p:spPr>
          <a:xfrm>
            <a:off x="8330183" y="2880360"/>
            <a:ext cx="3154680" cy="1874519"/>
          </a:xfrm>
          <a:prstGeom prst="rect">
            <a:avLst/>
          </a:prstGeom>
          <a:noFill/>
        </p:spPr>
        <p:txBody>
          <a:bodyPr wrap="square" lIns="0" tIns="0" rIns="0" bIns="0" anchor="t">
            <a:spAutoFit/>
          </a:bodyPr>
          <a:lstStyle/>
          <a:p>
            <a:pPr algn="l">
              <a:lnSpc>
                <a:spcPct val="110000"/>
              </a:lnSpc>
              <a:spcAft>
                <a:spcPts val="700"/>
              </a:spcAft>
            </a:pPr>
            <a:r>
              <a:rPr sz="1300" b="1" i="0">
                <a:solidFill>
                  <a:srgbClr val="1F2937"/>
                </a:solidFill>
                <a:latin typeface="Calibri"/>
              </a:rPr>
              <a:t>How:</a:t>
            </a:r>
            <a:r>
              <a:rPr sz="1300" b="0" i="0">
                <a:solidFill>
                  <a:srgbClr val="1F2937"/>
                </a:solidFill>
                <a:latin typeface="Calibri"/>
              </a:rPr>
              <a:t> Injected instructions could make Copilot disclose data, with no user interaction.</a:t>
            </a:r>
          </a:p>
          <a:p>
            <a:pPr algn="l">
              <a:lnSpc>
                <a:spcPct val="110000"/>
              </a:lnSpc>
              <a:spcAft>
                <a:spcPts val="700"/>
              </a:spcAft>
            </a:pPr>
            <a:r>
              <a:rPr sz="1300" b="1" i="0">
                <a:solidFill>
                  <a:srgbClr val="1F2937"/>
                </a:solidFill>
                <a:latin typeface="Calibri"/>
              </a:rPr>
              <a:t>Impact:</a:t>
            </a:r>
            <a:r>
              <a:rPr sz="1300" b="0" i="0">
                <a:solidFill>
                  <a:srgbClr val="1F2937"/>
                </a:solidFill>
                <a:latin typeface="Calibri"/>
              </a:rPr>
              <a:t> Rated </a:t>
            </a:r>
            <a:r>
              <a:rPr sz="1300" b="1" i="0">
                <a:solidFill>
                  <a:srgbClr val="1F2937"/>
                </a:solidFill>
                <a:latin typeface="Calibri"/>
              </a:rPr>
              <a:t>9.3 Critical</a:t>
            </a:r>
            <a:r>
              <a:rPr sz="1300" b="0" i="0">
                <a:solidFill>
                  <a:srgbClr val="1F2937"/>
                </a:solidFill>
                <a:latin typeface="Calibri"/>
              </a:rPr>
              <a:t>.</a:t>
            </a:r>
          </a:p>
          <a:p>
            <a:pPr algn="l">
              <a:lnSpc>
                <a:spcPct val="110000"/>
              </a:lnSpc>
              <a:spcAft>
                <a:spcPts val="700"/>
              </a:spcAft>
            </a:pPr>
            <a:r>
              <a:rPr sz="1300" b="1" i="0">
                <a:solidFill>
                  <a:srgbClr val="1F2937"/>
                </a:solidFill>
                <a:latin typeface="Calibri"/>
              </a:rPr>
              <a:t>Stopped:</a:t>
            </a:r>
            <a:r>
              <a:rPr sz="1300" b="0" i="0">
                <a:solidFill>
                  <a:srgbClr val="1F2937"/>
                </a:solidFill>
                <a:latin typeface="Calibri"/>
              </a:rPr>
              <a:t> Microsoft fixed it server-side; no exploitation.</a:t>
            </a:r>
          </a:p>
        </p:txBody>
      </p:sp>
      <p:sp>
        <p:nvSpPr>
          <p:cNvPr id="20" name="TextBox 19"/>
          <p:cNvSpPr txBox="1"/>
          <p:nvPr/>
        </p:nvSpPr>
        <p:spPr>
          <a:xfrm>
            <a:off x="548640" y="5120640"/>
            <a:ext cx="11064240" cy="274320"/>
          </a:xfrm>
          <a:prstGeom prst="rect">
            <a:avLst/>
          </a:prstGeom>
          <a:noFill/>
        </p:spPr>
        <p:txBody>
          <a:bodyPr wrap="square" lIns="0" tIns="0" rIns="0" bIns="0" anchor="t">
            <a:spAutoFit/>
          </a:bodyPr>
          <a:lstStyle/>
          <a:p>
            <a:pPr algn="l">
              <a:lnSpc>
                <a:spcPct val="110000"/>
              </a:lnSpc>
              <a:spcAft>
                <a:spcPts val="0"/>
              </a:spcAft>
            </a:pPr>
            <a:r>
              <a:rPr sz="1200" b="1" i="0">
                <a:solidFill>
                  <a:srgbClr val="C0392B"/>
                </a:solidFill>
                <a:latin typeface="Calibri"/>
              </a:rPr>
              <a:t>WHY THEY MADE HEADLINES</a:t>
            </a:r>
          </a:p>
        </p:txBody>
      </p:sp>
      <p:sp>
        <p:nvSpPr>
          <p:cNvPr id="21" name="TextBox 20"/>
          <p:cNvSpPr txBox="1"/>
          <p:nvPr/>
        </p:nvSpPr>
        <p:spPr>
          <a:xfrm>
            <a:off x="548640" y="5440680"/>
            <a:ext cx="11064240" cy="548640"/>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None needed a break-in: each fooled a trusted AI, or a person, with crafted input.</a:t>
            </a:r>
          </a:p>
        </p:txBody>
      </p:sp>
      <p:cxnSp>
        <p:nvCxnSpPr>
          <p:cNvPr id="22" name="Connector 2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Povolny &amp; Trivedi (2020); Lalchand et al. (2024); Microsoft Security Response Center (2025).</a:t>
            </a:r>
          </a:p>
        </p:txBody>
      </p:sp>
      <p:sp>
        <p:nvSpPr>
          <p:cNvPr id="24" name="TextBox 23"/>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STEP 2 · CORPORATE DEFENSES</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How Microsoft, Google and Meta defend their AI</a:t>
            </a:r>
          </a:p>
        </p:txBody>
      </p:sp>
      <p:sp>
        <p:nvSpPr>
          <p:cNvPr id="5" name="Rounded Rectangle 4"/>
          <p:cNvSpPr/>
          <p:nvPr/>
        </p:nvSpPr>
        <p:spPr>
          <a:xfrm>
            <a:off x="548640" y="1645920"/>
            <a:ext cx="3611880" cy="26517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48640" y="1645920"/>
            <a:ext cx="361188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7240" y="1874519"/>
            <a:ext cx="3154680" cy="274320"/>
          </a:xfrm>
          <a:prstGeom prst="rect">
            <a:avLst/>
          </a:prstGeom>
          <a:noFill/>
        </p:spPr>
        <p:txBody>
          <a:bodyPr wrap="square" lIns="0" tIns="0" rIns="0" bIns="0" anchor="t">
            <a:spAutoFit/>
          </a:bodyPr>
          <a:lstStyle/>
          <a:p>
            <a:pPr algn="l">
              <a:lnSpc>
                <a:spcPct val="110000"/>
              </a:lnSpc>
              <a:spcAft>
                <a:spcPts val="0"/>
              </a:spcAft>
            </a:pPr>
            <a:r>
              <a:rPr sz="1100" b="1" i="0">
                <a:solidFill>
                  <a:srgbClr val="1F5FAD"/>
                </a:solidFill>
                <a:latin typeface="Calibri"/>
              </a:rPr>
              <a:t>MICROSOFT · RED TEAMING</a:t>
            </a:r>
          </a:p>
        </p:txBody>
      </p:sp>
      <p:sp>
        <p:nvSpPr>
          <p:cNvPr id="8" name="TextBox 7"/>
          <p:cNvSpPr txBox="1"/>
          <p:nvPr/>
        </p:nvSpPr>
        <p:spPr>
          <a:xfrm>
            <a:off x="777240" y="2148840"/>
            <a:ext cx="3154680" cy="685800"/>
          </a:xfrm>
          <a:prstGeom prst="rect">
            <a:avLst/>
          </a:prstGeom>
          <a:noFill/>
        </p:spPr>
        <p:txBody>
          <a:bodyPr wrap="square" lIns="0" tIns="0" rIns="0" bIns="0" anchor="t">
            <a:spAutoFit/>
          </a:bodyPr>
          <a:lstStyle/>
          <a:p>
            <a:pPr algn="l">
              <a:lnSpc>
                <a:spcPct val="100000"/>
              </a:lnSpc>
              <a:spcAft>
                <a:spcPts val="0"/>
              </a:spcAft>
            </a:pPr>
            <a:r>
              <a:rPr sz="1800" b="1" i="0">
                <a:solidFill>
                  <a:srgbClr val="0F1B2D"/>
                </a:solidFill>
                <a:latin typeface="Calibri"/>
              </a:rPr>
              <a:t>Attack it before attackers do</a:t>
            </a:r>
          </a:p>
        </p:txBody>
      </p:sp>
      <p:sp>
        <p:nvSpPr>
          <p:cNvPr id="9" name="TextBox 8"/>
          <p:cNvSpPr txBox="1"/>
          <p:nvPr/>
        </p:nvSpPr>
        <p:spPr>
          <a:xfrm>
            <a:off x="777240" y="2880360"/>
            <a:ext cx="3154680" cy="1280160"/>
          </a:xfrm>
          <a:prstGeom prst="rect">
            <a:avLst/>
          </a:prstGeom>
          <a:noFill/>
        </p:spPr>
        <p:txBody>
          <a:bodyPr wrap="square" lIns="0" tIns="0" rIns="0" bIns="0" anchor="t">
            <a:spAutoFit/>
          </a:bodyPr>
          <a:lstStyle/>
          <a:p>
            <a:pPr algn="l">
              <a:lnSpc>
                <a:spcPct val="110000"/>
              </a:lnSpc>
              <a:spcAft>
                <a:spcPts val="700"/>
              </a:spcAft>
            </a:pPr>
            <a:r>
              <a:rPr sz="1300" b="0" i="0">
                <a:solidFill>
                  <a:srgbClr val="1F2937"/>
                </a:solidFill>
                <a:latin typeface="Calibri"/>
              </a:rPr>
              <a:t>Red-teamed </a:t>
            </a:r>
            <a:r>
              <a:rPr sz="1300" b="1" i="0">
                <a:solidFill>
                  <a:srgbClr val="1F2937"/>
                </a:solidFill>
                <a:latin typeface="Calibri"/>
              </a:rPr>
              <a:t>100+</a:t>
            </a:r>
            <a:r>
              <a:rPr sz="1300" b="0" i="0">
                <a:solidFill>
                  <a:srgbClr val="1F2937"/>
                </a:solidFill>
                <a:latin typeface="Calibri"/>
              </a:rPr>
              <a:t> generative AI products.</a:t>
            </a:r>
          </a:p>
          <a:p>
            <a:pPr algn="l">
              <a:lnSpc>
                <a:spcPct val="110000"/>
              </a:lnSpc>
              <a:spcAft>
                <a:spcPts val="700"/>
              </a:spcAft>
            </a:pPr>
            <a:r>
              <a:rPr sz="1300" b="0" i="0">
                <a:solidFill>
                  <a:srgbClr val="1F2937"/>
                </a:solidFill>
                <a:latin typeface="Calibri"/>
              </a:rPr>
              <a:t>Humans stay crucial; the work is never finished.</a:t>
            </a:r>
          </a:p>
        </p:txBody>
      </p:sp>
      <p:sp>
        <p:nvSpPr>
          <p:cNvPr id="10" name="Rounded Rectangle 9"/>
          <p:cNvSpPr/>
          <p:nvPr/>
        </p:nvSpPr>
        <p:spPr>
          <a:xfrm>
            <a:off x="4325112" y="1645920"/>
            <a:ext cx="3611880" cy="26517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4325112" y="1645920"/>
            <a:ext cx="361188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553712" y="1874519"/>
            <a:ext cx="3154680" cy="274320"/>
          </a:xfrm>
          <a:prstGeom prst="rect">
            <a:avLst/>
          </a:prstGeom>
          <a:noFill/>
        </p:spPr>
        <p:txBody>
          <a:bodyPr wrap="square" lIns="0" tIns="0" rIns="0" bIns="0" anchor="t">
            <a:spAutoFit/>
          </a:bodyPr>
          <a:lstStyle/>
          <a:p>
            <a:pPr algn="l">
              <a:lnSpc>
                <a:spcPct val="110000"/>
              </a:lnSpc>
              <a:spcAft>
                <a:spcPts val="0"/>
              </a:spcAft>
            </a:pPr>
            <a:r>
              <a:rPr sz="1100" b="1" i="0">
                <a:solidFill>
                  <a:srgbClr val="1E846F"/>
                </a:solidFill>
                <a:latin typeface="Calibri"/>
              </a:rPr>
              <a:t>GOOGLE · ADVERSARIAL TRAINING</a:t>
            </a:r>
          </a:p>
        </p:txBody>
      </p:sp>
      <p:sp>
        <p:nvSpPr>
          <p:cNvPr id="13" name="TextBox 12"/>
          <p:cNvSpPr txBox="1"/>
          <p:nvPr/>
        </p:nvSpPr>
        <p:spPr>
          <a:xfrm>
            <a:off x="4553712" y="2148840"/>
            <a:ext cx="3154680" cy="685800"/>
          </a:xfrm>
          <a:prstGeom prst="rect">
            <a:avLst/>
          </a:prstGeom>
          <a:noFill/>
        </p:spPr>
        <p:txBody>
          <a:bodyPr wrap="square" lIns="0" tIns="0" rIns="0" bIns="0" anchor="t">
            <a:spAutoFit/>
          </a:bodyPr>
          <a:lstStyle/>
          <a:p>
            <a:pPr algn="l">
              <a:lnSpc>
                <a:spcPct val="100000"/>
              </a:lnSpc>
              <a:spcAft>
                <a:spcPts val="0"/>
              </a:spcAft>
            </a:pPr>
            <a:r>
              <a:rPr sz="1800" b="1" i="0">
                <a:solidFill>
                  <a:srgbClr val="0F1B2D"/>
                </a:solidFill>
                <a:latin typeface="Calibri"/>
              </a:rPr>
              <a:t>Layered defense for Gemini</a:t>
            </a:r>
          </a:p>
        </p:txBody>
      </p:sp>
      <p:sp>
        <p:nvSpPr>
          <p:cNvPr id="14" name="TextBox 13"/>
          <p:cNvSpPr txBox="1"/>
          <p:nvPr/>
        </p:nvSpPr>
        <p:spPr>
          <a:xfrm>
            <a:off x="4553712" y="2880360"/>
            <a:ext cx="3154680" cy="1280160"/>
          </a:xfrm>
          <a:prstGeom prst="rect">
            <a:avLst/>
          </a:prstGeom>
          <a:noFill/>
        </p:spPr>
        <p:txBody>
          <a:bodyPr wrap="square" lIns="0" tIns="0" rIns="0" bIns="0" anchor="t">
            <a:spAutoFit/>
          </a:bodyPr>
          <a:lstStyle/>
          <a:p>
            <a:pPr algn="l">
              <a:lnSpc>
                <a:spcPct val="110000"/>
              </a:lnSpc>
              <a:spcAft>
                <a:spcPts val="700"/>
              </a:spcAft>
            </a:pPr>
            <a:r>
              <a:rPr sz="1300" b="0" i="0">
                <a:solidFill>
                  <a:srgbClr val="1F2937"/>
                </a:solidFill>
                <a:latin typeface="Calibri"/>
              </a:rPr>
              <a:t>Training on adversarial data “significantly enhanced” its prompt-injection defenses.</a:t>
            </a:r>
          </a:p>
          <a:p>
            <a:pPr algn="l">
              <a:lnSpc>
                <a:spcPct val="110000"/>
              </a:lnSpc>
              <a:spcAft>
                <a:spcPts val="700"/>
              </a:spcAft>
            </a:pPr>
            <a:r>
              <a:rPr sz="1300" b="0" i="0">
                <a:solidFill>
                  <a:srgbClr val="1F2937"/>
                </a:solidFill>
                <a:latin typeface="Calibri"/>
              </a:rPr>
              <a:t>Plus classifiers and user confirmation.</a:t>
            </a:r>
          </a:p>
        </p:txBody>
      </p:sp>
      <p:sp>
        <p:nvSpPr>
          <p:cNvPr id="15" name="Rounded Rectangle 14"/>
          <p:cNvSpPr/>
          <p:nvPr/>
        </p:nvSpPr>
        <p:spPr>
          <a:xfrm>
            <a:off x="8101583" y="1645920"/>
            <a:ext cx="3611880" cy="26517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101583" y="1645920"/>
            <a:ext cx="361188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330183" y="1874519"/>
            <a:ext cx="3154680" cy="274320"/>
          </a:xfrm>
          <a:prstGeom prst="rect">
            <a:avLst/>
          </a:prstGeom>
          <a:noFill/>
        </p:spPr>
        <p:txBody>
          <a:bodyPr wrap="square" lIns="0" tIns="0" rIns="0" bIns="0" anchor="t">
            <a:spAutoFit/>
          </a:bodyPr>
          <a:lstStyle/>
          <a:p>
            <a:pPr algn="l">
              <a:lnSpc>
                <a:spcPct val="110000"/>
              </a:lnSpc>
              <a:spcAft>
                <a:spcPts val="0"/>
              </a:spcAft>
            </a:pPr>
            <a:r>
              <a:rPr sz="1100" b="1" i="0">
                <a:solidFill>
                  <a:srgbClr val="C0392B"/>
                </a:solidFill>
                <a:latin typeface="Calibri"/>
              </a:rPr>
              <a:t>META · OPEN GUARDRAILS</a:t>
            </a:r>
          </a:p>
        </p:txBody>
      </p:sp>
      <p:sp>
        <p:nvSpPr>
          <p:cNvPr id="18" name="TextBox 17"/>
          <p:cNvSpPr txBox="1"/>
          <p:nvPr/>
        </p:nvSpPr>
        <p:spPr>
          <a:xfrm>
            <a:off x="8330183" y="2148840"/>
            <a:ext cx="3154680" cy="685800"/>
          </a:xfrm>
          <a:prstGeom prst="rect">
            <a:avLst/>
          </a:prstGeom>
          <a:noFill/>
        </p:spPr>
        <p:txBody>
          <a:bodyPr wrap="square" lIns="0" tIns="0" rIns="0" bIns="0" anchor="t">
            <a:spAutoFit/>
          </a:bodyPr>
          <a:lstStyle/>
          <a:p>
            <a:pPr algn="l">
              <a:lnSpc>
                <a:spcPct val="100000"/>
              </a:lnSpc>
              <a:spcAft>
                <a:spcPts val="0"/>
              </a:spcAft>
            </a:pPr>
            <a:r>
              <a:rPr sz="1800" b="1" i="0">
                <a:solidFill>
                  <a:srgbClr val="0F1B2D"/>
                </a:solidFill>
                <a:latin typeface="Calibri"/>
              </a:rPr>
              <a:t>LlamaFirewall for AI agents</a:t>
            </a:r>
          </a:p>
        </p:txBody>
      </p:sp>
      <p:sp>
        <p:nvSpPr>
          <p:cNvPr id="19" name="TextBox 18"/>
          <p:cNvSpPr txBox="1"/>
          <p:nvPr/>
        </p:nvSpPr>
        <p:spPr>
          <a:xfrm>
            <a:off x="8330183" y="2880360"/>
            <a:ext cx="3154680" cy="1280160"/>
          </a:xfrm>
          <a:prstGeom prst="rect">
            <a:avLst/>
          </a:prstGeom>
          <a:noFill/>
        </p:spPr>
        <p:txBody>
          <a:bodyPr wrap="square" lIns="0" tIns="0" rIns="0" bIns="0" anchor="t">
            <a:spAutoFit/>
          </a:bodyPr>
          <a:lstStyle/>
          <a:p>
            <a:pPr algn="l">
              <a:lnSpc>
                <a:spcPct val="110000"/>
              </a:lnSpc>
              <a:spcAft>
                <a:spcPts val="700"/>
              </a:spcAft>
            </a:pPr>
            <a:r>
              <a:rPr sz="1300" b="1" i="0">
                <a:solidFill>
                  <a:srgbClr val="1F2937"/>
                </a:solidFill>
                <a:latin typeface="Calibri"/>
              </a:rPr>
              <a:t>PromptGuard 2</a:t>
            </a:r>
            <a:r>
              <a:rPr sz="1300" b="0" i="0">
                <a:solidFill>
                  <a:srgbClr val="1F2937"/>
                </a:solidFill>
                <a:latin typeface="Calibri"/>
              </a:rPr>
              <a:t> detects jailbreaks; </a:t>
            </a:r>
            <a:r>
              <a:rPr sz="1300" b="1" i="0">
                <a:solidFill>
                  <a:srgbClr val="1F2937"/>
                </a:solidFill>
                <a:latin typeface="Calibri"/>
              </a:rPr>
              <a:t>AlignmentCheck</a:t>
            </a:r>
            <a:r>
              <a:rPr sz="1300" b="0" i="0">
                <a:solidFill>
                  <a:srgbClr val="1F2937"/>
                </a:solidFill>
                <a:latin typeface="Calibri"/>
              </a:rPr>
              <a:t> audits agent reasoning.</a:t>
            </a:r>
          </a:p>
          <a:p>
            <a:pPr algn="l">
              <a:lnSpc>
                <a:spcPct val="110000"/>
              </a:lnSpc>
              <a:spcAft>
                <a:spcPts val="700"/>
              </a:spcAft>
            </a:pPr>
            <a:r>
              <a:rPr sz="1300" b="1" i="0">
                <a:solidFill>
                  <a:srgbClr val="1F2937"/>
                </a:solidFill>
                <a:latin typeface="Calibri"/>
              </a:rPr>
              <a:t>CodeShield</a:t>
            </a:r>
            <a:r>
              <a:rPr sz="1300" b="0" i="0">
                <a:solidFill>
                  <a:srgbClr val="1F2937"/>
                </a:solidFill>
                <a:latin typeface="Calibri"/>
              </a:rPr>
              <a:t> blocks insecure code.</a:t>
            </a:r>
          </a:p>
        </p:txBody>
      </p:sp>
      <p:sp>
        <p:nvSpPr>
          <p:cNvPr id="20" name="TextBox 19"/>
          <p:cNvSpPr txBox="1"/>
          <p:nvPr/>
        </p:nvSpPr>
        <p:spPr>
          <a:xfrm>
            <a:off x="548640" y="4526280"/>
            <a:ext cx="548640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F5FAD"/>
                </a:solidFill>
                <a:latin typeface="Calibri"/>
              </a:rPr>
              <a:t>HOW THEY TEST</a:t>
            </a:r>
          </a:p>
        </p:txBody>
      </p:sp>
      <p:sp>
        <p:nvSpPr>
          <p:cNvPr id="21" name="TextBox 20"/>
          <p:cNvSpPr txBox="1"/>
          <p:nvPr/>
        </p:nvSpPr>
        <p:spPr>
          <a:xfrm>
            <a:off x="548640" y="4846320"/>
            <a:ext cx="5394960" cy="1280160"/>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Red teams and automated attack tools probe models before release, then again after every change.</a:t>
            </a:r>
          </a:p>
        </p:txBody>
      </p:sp>
      <p:sp>
        <p:nvSpPr>
          <p:cNvPr id="22" name="TextBox 21"/>
          <p:cNvSpPr txBox="1"/>
          <p:nvPr/>
        </p:nvSpPr>
        <p:spPr>
          <a:xfrm>
            <a:off x="6400800" y="4526280"/>
            <a:ext cx="525780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E846F"/>
                </a:solidFill>
                <a:latin typeface="Calibri"/>
              </a:rPr>
              <a:t>WHAT IS PROVING MOST EFFECTIVE</a:t>
            </a:r>
          </a:p>
        </p:txBody>
      </p:sp>
      <p:sp>
        <p:nvSpPr>
          <p:cNvPr id="23" name="TextBox 22"/>
          <p:cNvSpPr txBox="1"/>
          <p:nvPr/>
        </p:nvSpPr>
        <p:spPr>
          <a:xfrm>
            <a:off x="6400800" y="4846320"/>
            <a:ext cx="5257800" cy="1280160"/>
          </a:xfrm>
          <a:prstGeom prst="rect">
            <a:avLst/>
          </a:prstGeom>
          <a:noFill/>
        </p:spPr>
        <p:txBody>
          <a:bodyPr wrap="square" lIns="0" tIns="0" rIns="0" bIns="0" anchor="t">
            <a:spAutoFit/>
          </a:bodyPr>
          <a:lstStyle/>
          <a:p>
            <a:pPr algn="l">
              <a:lnSpc>
                <a:spcPct val="110000"/>
              </a:lnSpc>
              <a:spcAft>
                <a:spcPts val="600"/>
              </a:spcAft>
            </a:pPr>
            <a:r>
              <a:rPr sz="1500" b="1" i="0">
                <a:solidFill>
                  <a:srgbClr val="1F2937"/>
                </a:solidFill>
                <a:latin typeface="Calibri"/>
              </a:rPr>
              <a:t>Layers, not one fix.</a:t>
            </a:r>
            <a:r>
              <a:rPr sz="1500" b="0" i="0">
                <a:solidFill>
                  <a:srgbClr val="1F2937"/>
                </a:solidFill>
                <a:latin typeface="Calibri"/>
              </a:rPr>
              <a:t> Microsoft stopped the Copilot flaw before exploitation; deepfake payments need a human check.</a:t>
            </a:r>
          </a:p>
        </p:txBody>
      </p:sp>
      <p:cxnSp>
        <p:nvCxnSpPr>
          <p:cNvPr id="24" name="Connector 23"/>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Bullwinkel et al. (2025); Google GenAI Security Team (2025); Chennabasappa et al. (2025).</a:t>
            </a:r>
          </a:p>
        </p:txBody>
      </p:sp>
      <p:sp>
        <p:nvSpPr>
          <p:cNvPr id="26" name="TextBox 25"/>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COMPARISON CHART</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Industry comparison: attack types vs. defense strategies</a:t>
            </a:r>
          </a:p>
        </p:txBody>
      </p:sp>
      <p:sp>
        <p:nvSpPr>
          <p:cNvPr id="5" name="Rectangle 4"/>
          <p:cNvSpPr/>
          <p:nvPr/>
        </p:nvSpPr>
        <p:spPr>
          <a:xfrm>
            <a:off x="548640" y="1600200"/>
            <a:ext cx="11064240" cy="6858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5800" y="1737360"/>
            <a:ext cx="1783080" cy="457200"/>
          </a:xfrm>
          <a:prstGeom prst="rect">
            <a:avLst/>
          </a:prstGeom>
          <a:noFill/>
        </p:spPr>
        <p:txBody>
          <a:bodyPr wrap="square" lIns="0" tIns="0" rIns="0" bIns="0" anchor="ctr">
            <a:spAutoFit/>
          </a:bodyPr>
          <a:lstStyle/>
          <a:p>
            <a:pPr algn="l">
              <a:lnSpc>
                <a:spcPct val="110000"/>
              </a:lnSpc>
              <a:spcAft>
                <a:spcPts val="600"/>
              </a:spcAft>
            </a:pPr>
            <a:r>
              <a:rPr sz="1300" b="1" i="0">
                <a:solidFill>
                  <a:srgbClr val="FFFFFF"/>
                </a:solidFill>
                <a:latin typeface="Calibri"/>
              </a:rPr>
              <a:t>Attack type</a:t>
            </a:r>
          </a:p>
        </p:txBody>
      </p:sp>
      <p:sp>
        <p:nvSpPr>
          <p:cNvPr id="7" name="TextBox 6"/>
          <p:cNvSpPr txBox="1"/>
          <p:nvPr/>
        </p:nvSpPr>
        <p:spPr>
          <a:xfrm>
            <a:off x="2606040" y="1737360"/>
            <a:ext cx="2057400" cy="457200"/>
          </a:xfrm>
          <a:prstGeom prst="rect">
            <a:avLst/>
          </a:prstGeom>
          <a:noFill/>
        </p:spPr>
        <p:txBody>
          <a:bodyPr wrap="square" lIns="0" tIns="0" rIns="0" bIns="0" anchor="ctr">
            <a:spAutoFit/>
          </a:bodyPr>
          <a:lstStyle/>
          <a:p>
            <a:pPr algn="l">
              <a:lnSpc>
                <a:spcPct val="110000"/>
              </a:lnSpc>
              <a:spcAft>
                <a:spcPts val="600"/>
              </a:spcAft>
            </a:pPr>
            <a:r>
              <a:rPr sz="1300" b="1" i="0">
                <a:solidFill>
                  <a:srgbClr val="FFFFFF"/>
                </a:solidFill>
                <a:latin typeface="Calibri"/>
              </a:rPr>
              <a:t>Industry most hit</a:t>
            </a:r>
          </a:p>
        </p:txBody>
      </p:sp>
      <p:sp>
        <p:nvSpPr>
          <p:cNvPr id="8" name="TextBox 7"/>
          <p:cNvSpPr txBox="1"/>
          <p:nvPr/>
        </p:nvSpPr>
        <p:spPr>
          <a:xfrm>
            <a:off x="4800600" y="1673352"/>
            <a:ext cx="1280160" cy="548640"/>
          </a:xfrm>
          <a:prstGeom prst="rect">
            <a:avLst/>
          </a:prstGeom>
          <a:noFill/>
        </p:spPr>
        <p:txBody>
          <a:bodyPr wrap="square" lIns="0" tIns="0" rIns="0" bIns="0" anchor="ctr">
            <a:spAutoFit/>
          </a:bodyPr>
          <a:lstStyle/>
          <a:p>
            <a:pPr algn="ctr">
              <a:lnSpc>
                <a:spcPct val="100000"/>
              </a:lnSpc>
              <a:spcAft>
                <a:spcPts val="0"/>
              </a:spcAft>
            </a:pPr>
            <a:r>
              <a:rPr sz="1200" b="1" i="0">
                <a:solidFill>
                  <a:srgbClr val="FFFFFF"/>
                </a:solidFill>
                <a:latin typeface="Calibri"/>
              </a:rPr>
              <a:t>Adversarial training</a:t>
            </a:r>
          </a:p>
        </p:txBody>
      </p:sp>
      <p:sp>
        <p:nvSpPr>
          <p:cNvPr id="9" name="TextBox 8"/>
          <p:cNvSpPr txBox="1"/>
          <p:nvPr/>
        </p:nvSpPr>
        <p:spPr>
          <a:xfrm>
            <a:off x="6172200" y="1673352"/>
            <a:ext cx="1280160" cy="548640"/>
          </a:xfrm>
          <a:prstGeom prst="rect">
            <a:avLst/>
          </a:prstGeom>
          <a:noFill/>
        </p:spPr>
        <p:txBody>
          <a:bodyPr wrap="square" lIns="0" tIns="0" rIns="0" bIns="0" anchor="ctr">
            <a:spAutoFit/>
          </a:bodyPr>
          <a:lstStyle/>
          <a:p>
            <a:pPr algn="ctr">
              <a:lnSpc>
                <a:spcPct val="100000"/>
              </a:lnSpc>
              <a:spcAft>
                <a:spcPts val="0"/>
              </a:spcAft>
            </a:pPr>
            <a:r>
              <a:rPr sz="1200" b="1" i="0">
                <a:solidFill>
                  <a:srgbClr val="FFFFFF"/>
                </a:solidFill>
                <a:latin typeface="Calibri"/>
              </a:rPr>
              <a:t>Red teaming &amp; testing</a:t>
            </a:r>
          </a:p>
        </p:txBody>
      </p:sp>
      <p:sp>
        <p:nvSpPr>
          <p:cNvPr id="10" name="TextBox 9"/>
          <p:cNvSpPr txBox="1"/>
          <p:nvPr/>
        </p:nvSpPr>
        <p:spPr>
          <a:xfrm>
            <a:off x="7543800" y="1673352"/>
            <a:ext cx="1280160" cy="548640"/>
          </a:xfrm>
          <a:prstGeom prst="rect">
            <a:avLst/>
          </a:prstGeom>
          <a:noFill/>
        </p:spPr>
        <p:txBody>
          <a:bodyPr wrap="square" lIns="0" tIns="0" rIns="0" bIns="0" anchor="ctr">
            <a:spAutoFit/>
          </a:bodyPr>
          <a:lstStyle/>
          <a:p>
            <a:pPr algn="ctr">
              <a:lnSpc>
                <a:spcPct val="100000"/>
              </a:lnSpc>
              <a:spcAft>
                <a:spcPts val="0"/>
              </a:spcAft>
            </a:pPr>
            <a:r>
              <a:rPr sz="1200" b="1" i="0">
                <a:solidFill>
                  <a:srgbClr val="FFFFFF"/>
                </a:solidFill>
                <a:latin typeface="Calibri"/>
              </a:rPr>
              <a:t>Input/output classifiers</a:t>
            </a:r>
          </a:p>
        </p:txBody>
      </p:sp>
      <p:sp>
        <p:nvSpPr>
          <p:cNvPr id="11" name="TextBox 10"/>
          <p:cNvSpPr txBox="1"/>
          <p:nvPr/>
        </p:nvSpPr>
        <p:spPr>
          <a:xfrm>
            <a:off x="8915400" y="1673352"/>
            <a:ext cx="1280160" cy="548640"/>
          </a:xfrm>
          <a:prstGeom prst="rect">
            <a:avLst/>
          </a:prstGeom>
          <a:noFill/>
        </p:spPr>
        <p:txBody>
          <a:bodyPr wrap="square" lIns="0" tIns="0" rIns="0" bIns="0" anchor="ctr">
            <a:spAutoFit/>
          </a:bodyPr>
          <a:lstStyle/>
          <a:p>
            <a:pPr algn="ctr">
              <a:lnSpc>
                <a:spcPct val="100000"/>
              </a:lnSpc>
              <a:spcAft>
                <a:spcPts val="0"/>
              </a:spcAft>
            </a:pPr>
            <a:r>
              <a:rPr sz="1200" b="1" i="0">
                <a:solidFill>
                  <a:srgbClr val="FFFFFF"/>
                </a:solidFill>
                <a:latin typeface="Calibri"/>
              </a:rPr>
              <a:t>Anomaly detection</a:t>
            </a:r>
          </a:p>
        </p:txBody>
      </p:sp>
      <p:sp>
        <p:nvSpPr>
          <p:cNvPr id="12" name="TextBox 11"/>
          <p:cNvSpPr txBox="1"/>
          <p:nvPr/>
        </p:nvSpPr>
        <p:spPr>
          <a:xfrm>
            <a:off x="10287000" y="1673352"/>
            <a:ext cx="1280160" cy="548640"/>
          </a:xfrm>
          <a:prstGeom prst="rect">
            <a:avLst/>
          </a:prstGeom>
          <a:noFill/>
        </p:spPr>
        <p:txBody>
          <a:bodyPr wrap="square" lIns="0" tIns="0" rIns="0" bIns="0" anchor="ctr">
            <a:spAutoFit/>
          </a:bodyPr>
          <a:lstStyle/>
          <a:p>
            <a:pPr algn="ctr">
              <a:lnSpc>
                <a:spcPct val="100000"/>
              </a:lnSpc>
              <a:spcAft>
                <a:spcPts val="0"/>
              </a:spcAft>
            </a:pPr>
            <a:r>
              <a:rPr sz="1200" b="1" i="0">
                <a:solidFill>
                  <a:srgbClr val="FFFFFF"/>
                </a:solidFill>
                <a:latin typeface="Calibri"/>
              </a:rPr>
              <a:t>Human verification</a:t>
            </a:r>
          </a:p>
        </p:txBody>
      </p:sp>
      <p:sp>
        <p:nvSpPr>
          <p:cNvPr id="13" name="Rectangle 12"/>
          <p:cNvSpPr/>
          <p:nvPr/>
        </p:nvSpPr>
        <p:spPr>
          <a:xfrm>
            <a:off x="548640" y="2286000"/>
            <a:ext cx="11064240" cy="67665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85800" y="2377440"/>
            <a:ext cx="1783080" cy="493776"/>
          </a:xfrm>
          <a:prstGeom prst="rect">
            <a:avLst/>
          </a:prstGeom>
          <a:noFill/>
        </p:spPr>
        <p:txBody>
          <a:bodyPr wrap="square" lIns="0" tIns="0" rIns="0" bIns="0" anchor="ctr">
            <a:spAutoFit/>
          </a:bodyPr>
          <a:lstStyle/>
          <a:p>
            <a:pPr algn="l">
              <a:lnSpc>
                <a:spcPct val="110000"/>
              </a:lnSpc>
              <a:spcAft>
                <a:spcPts val="600"/>
              </a:spcAft>
            </a:pPr>
            <a:r>
              <a:rPr sz="1500" b="1" i="0">
                <a:solidFill>
                  <a:srgbClr val="0F1B2D"/>
                </a:solidFill>
                <a:latin typeface="Calibri"/>
              </a:rPr>
              <a:t>Evasion</a:t>
            </a:r>
          </a:p>
        </p:txBody>
      </p:sp>
      <p:sp>
        <p:nvSpPr>
          <p:cNvPr id="15" name="TextBox 14"/>
          <p:cNvSpPr txBox="1"/>
          <p:nvPr/>
        </p:nvSpPr>
        <p:spPr>
          <a:xfrm>
            <a:off x="2606040" y="2377440"/>
            <a:ext cx="2057400" cy="493776"/>
          </a:xfrm>
          <a:prstGeom prst="rect">
            <a:avLst/>
          </a:prstGeom>
          <a:noFill/>
        </p:spPr>
        <p:txBody>
          <a:bodyPr wrap="square" lIns="0" tIns="0" rIns="0" bIns="0" anchor="ctr">
            <a:spAutoFit/>
          </a:bodyPr>
          <a:lstStyle/>
          <a:p>
            <a:pPr algn="l">
              <a:lnSpc>
                <a:spcPct val="110000"/>
              </a:lnSpc>
              <a:spcAft>
                <a:spcPts val="600"/>
              </a:spcAft>
            </a:pPr>
            <a:r>
              <a:rPr sz="1300" b="0" i="0">
                <a:solidFill>
                  <a:srgbClr val="1F2937"/>
                </a:solidFill>
                <a:latin typeface="Calibri"/>
              </a:rPr>
              <a:t>Autonomous vehicles</a:t>
            </a:r>
          </a:p>
        </p:txBody>
      </p:sp>
      <p:sp>
        <p:nvSpPr>
          <p:cNvPr id="16" name="Oval 15"/>
          <p:cNvSpPr/>
          <p:nvPr/>
        </p:nvSpPr>
        <p:spPr>
          <a:xfrm>
            <a:off x="5303520" y="2487168"/>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675120" y="2487168"/>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046719" y="2487168"/>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418319" y="2487168"/>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789919" y="2601468"/>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85800" y="3054096"/>
            <a:ext cx="1783080" cy="493776"/>
          </a:xfrm>
          <a:prstGeom prst="rect">
            <a:avLst/>
          </a:prstGeom>
          <a:noFill/>
        </p:spPr>
        <p:txBody>
          <a:bodyPr wrap="square" lIns="0" tIns="0" rIns="0" bIns="0" anchor="ctr">
            <a:spAutoFit/>
          </a:bodyPr>
          <a:lstStyle/>
          <a:p>
            <a:pPr algn="l">
              <a:lnSpc>
                <a:spcPct val="110000"/>
              </a:lnSpc>
              <a:spcAft>
                <a:spcPts val="600"/>
              </a:spcAft>
            </a:pPr>
            <a:r>
              <a:rPr sz="1500" b="1" i="0">
                <a:solidFill>
                  <a:srgbClr val="0F1B2D"/>
                </a:solidFill>
                <a:latin typeface="Calibri"/>
              </a:rPr>
              <a:t>Poisoning</a:t>
            </a:r>
          </a:p>
        </p:txBody>
      </p:sp>
      <p:sp>
        <p:nvSpPr>
          <p:cNvPr id="22" name="TextBox 21"/>
          <p:cNvSpPr txBox="1"/>
          <p:nvPr/>
        </p:nvSpPr>
        <p:spPr>
          <a:xfrm>
            <a:off x="2606040" y="3054096"/>
            <a:ext cx="2057400" cy="493776"/>
          </a:xfrm>
          <a:prstGeom prst="rect">
            <a:avLst/>
          </a:prstGeom>
          <a:noFill/>
        </p:spPr>
        <p:txBody>
          <a:bodyPr wrap="square" lIns="0" tIns="0" rIns="0" bIns="0" anchor="ctr">
            <a:spAutoFit/>
          </a:bodyPr>
          <a:lstStyle/>
          <a:p>
            <a:pPr algn="l">
              <a:lnSpc>
                <a:spcPct val="110000"/>
              </a:lnSpc>
              <a:spcAft>
                <a:spcPts val="600"/>
              </a:spcAft>
            </a:pPr>
            <a:r>
              <a:rPr sz="1300" b="0" i="0">
                <a:solidFill>
                  <a:srgbClr val="1F2937"/>
                </a:solidFill>
                <a:latin typeface="Calibri"/>
              </a:rPr>
              <a:t>Any model that retrains</a:t>
            </a:r>
          </a:p>
        </p:txBody>
      </p:sp>
      <p:sp>
        <p:nvSpPr>
          <p:cNvPr id="23" name="Oval 22"/>
          <p:cNvSpPr/>
          <p:nvPr/>
        </p:nvSpPr>
        <p:spPr>
          <a:xfrm>
            <a:off x="5303520" y="3163824"/>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675120" y="3163824"/>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046719" y="3278124"/>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9418319" y="3163824"/>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789919" y="3163824"/>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48640" y="3639312"/>
            <a:ext cx="11064240" cy="67665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85800" y="3730752"/>
            <a:ext cx="1783080" cy="493776"/>
          </a:xfrm>
          <a:prstGeom prst="rect">
            <a:avLst/>
          </a:prstGeom>
          <a:noFill/>
        </p:spPr>
        <p:txBody>
          <a:bodyPr wrap="square" lIns="0" tIns="0" rIns="0" bIns="0" anchor="ctr">
            <a:spAutoFit/>
          </a:bodyPr>
          <a:lstStyle/>
          <a:p>
            <a:pPr algn="l">
              <a:lnSpc>
                <a:spcPct val="110000"/>
              </a:lnSpc>
              <a:spcAft>
                <a:spcPts val="600"/>
              </a:spcAft>
            </a:pPr>
            <a:r>
              <a:rPr sz="1500" b="1" i="0">
                <a:solidFill>
                  <a:srgbClr val="0F1B2D"/>
                </a:solidFill>
                <a:latin typeface="Calibri"/>
              </a:rPr>
              <a:t>Prompt injection</a:t>
            </a:r>
          </a:p>
        </p:txBody>
      </p:sp>
      <p:sp>
        <p:nvSpPr>
          <p:cNvPr id="30" name="TextBox 29"/>
          <p:cNvSpPr txBox="1"/>
          <p:nvPr/>
        </p:nvSpPr>
        <p:spPr>
          <a:xfrm>
            <a:off x="2606040" y="3730752"/>
            <a:ext cx="2057400" cy="493776"/>
          </a:xfrm>
          <a:prstGeom prst="rect">
            <a:avLst/>
          </a:prstGeom>
          <a:noFill/>
        </p:spPr>
        <p:txBody>
          <a:bodyPr wrap="square" lIns="0" tIns="0" rIns="0" bIns="0" anchor="ctr">
            <a:spAutoFit/>
          </a:bodyPr>
          <a:lstStyle/>
          <a:p>
            <a:pPr algn="l">
              <a:lnSpc>
                <a:spcPct val="110000"/>
              </a:lnSpc>
              <a:spcAft>
                <a:spcPts val="600"/>
              </a:spcAft>
            </a:pPr>
            <a:r>
              <a:rPr sz="1300" b="0" i="0">
                <a:solidFill>
                  <a:srgbClr val="1F2937"/>
                </a:solidFill>
                <a:latin typeface="Calibri"/>
              </a:rPr>
              <a:t>Enterprise AI assistants</a:t>
            </a:r>
          </a:p>
        </p:txBody>
      </p:sp>
      <p:sp>
        <p:nvSpPr>
          <p:cNvPr id="31" name="Oval 30"/>
          <p:cNvSpPr/>
          <p:nvPr/>
        </p:nvSpPr>
        <p:spPr>
          <a:xfrm>
            <a:off x="5303520"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675120"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8046719"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418319" y="3840479"/>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10789919"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5800" y="4407407"/>
            <a:ext cx="1783080" cy="493776"/>
          </a:xfrm>
          <a:prstGeom prst="rect">
            <a:avLst/>
          </a:prstGeom>
          <a:noFill/>
        </p:spPr>
        <p:txBody>
          <a:bodyPr wrap="square" lIns="0" tIns="0" rIns="0" bIns="0" anchor="ctr">
            <a:spAutoFit/>
          </a:bodyPr>
          <a:lstStyle/>
          <a:p>
            <a:pPr algn="l">
              <a:lnSpc>
                <a:spcPct val="110000"/>
              </a:lnSpc>
              <a:spcAft>
                <a:spcPts val="600"/>
              </a:spcAft>
            </a:pPr>
            <a:r>
              <a:rPr sz="1500" b="1" i="0">
                <a:solidFill>
                  <a:srgbClr val="0F1B2D"/>
                </a:solidFill>
                <a:latin typeface="Calibri"/>
              </a:rPr>
              <a:t>Deepfakes</a:t>
            </a:r>
          </a:p>
        </p:txBody>
      </p:sp>
      <p:sp>
        <p:nvSpPr>
          <p:cNvPr id="37" name="TextBox 36"/>
          <p:cNvSpPr txBox="1"/>
          <p:nvPr/>
        </p:nvSpPr>
        <p:spPr>
          <a:xfrm>
            <a:off x="2606040" y="4407407"/>
            <a:ext cx="2057400" cy="493776"/>
          </a:xfrm>
          <a:prstGeom prst="rect">
            <a:avLst/>
          </a:prstGeom>
          <a:noFill/>
        </p:spPr>
        <p:txBody>
          <a:bodyPr wrap="square" lIns="0" tIns="0" rIns="0" bIns="0" anchor="ctr">
            <a:spAutoFit/>
          </a:bodyPr>
          <a:lstStyle/>
          <a:p>
            <a:pPr algn="l">
              <a:lnSpc>
                <a:spcPct val="110000"/>
              </a:lnSpc>
              <a:spcAft>
                <a:spcPts val="600"/>
              </a:spcAft>
            </a:pPr>
            <a:r>
              <a:rPr sz="1300" b="0" i="0">
                <a:solidFill>
                  <a:srgbClr val="1F2937"/>
                </a:solidFill>
                <a:latin typeface="Calibri"/>
              </a:rPr>
              <a:t>Finance</a:t>
            </a:r>
          </a:p>
        </p:txBody>
      </p:sp>
      <p:sp>
        <p:nvSpPr>
          <p:cNvPr id="38" name="Rectangle 37"/>
          <p:cNvSpPr/>
          <p:nvPr/>
        </p:nvSpPr>
        <p:spPr>
          <a:xfrm>
            <a:off x="5303520" y="4631436"/>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6675120" y="4517136"/>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8046719" y="4517136"/>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9418319" y="4517136"/>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789919" y="4517136"/>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594360" y="5221224"/>
            <a:ext cx="182880" cy="18288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5175504"/>
            <a:ext cx="1280160" cy="274320"/>
          </a:xfrm>
          <a:prstGeom prst="rect">
            <a:avLst/>
          </a:prstGeom>
          <a:noFill/>
        </p:spPr>
        <p:txBody>
          <a:bodyPr wrap="square" lIns="0" tIns="0" rIns="0" bIns="0" anchor="t">
            <a:spAutoFit/>
          </a:bodyPr>
          <a:lstStyle/>
          <a:p>
            <a:pPr algn="l">
              <a:lnSpc>
                <a:spcPct val="110000"/>
              </a:lnSpc>
              <a:spcAft>
                <a:spcPts val="600"/>
              </a:spcAft>
            </a:pPr>
            <a:r>
              <a:rPr sz="1200" b="0" i="0">
                <a:solidFill>
                  <a:srgbClr val="5B6472"/>
                </a:solidFill>
                <a:latin typeface="Calibri"/>
              </a:rPr>
              <a:t>strong fit</a:t>
            </a:r>
          </a:p>
        </p:txBody>
      </p:sp>
      <p:sp>
        <p:nvSpPr>
          <p:cNvPr id="45" name="Oval 44"/>
          <p:cNvSpPr/>
          <p:nvPr/>
        </p:nvSpPr>
        <p:spPr>
          <a:xfrm>
            <a:off x="2194560" y="5221224"/>
            <a:ext cx="182880" cy="18288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468880" y="5175504"/>
            <a:ext cx="1280160" cy="274320"/>
          </a:xfrm>
          <a:prstGeom prst="rect">
            <a:avLst/>
          </a:prstGeom>
          <a:noFill/>
        </p:spPr>
        <p:txBody>
          <a:bodyPr wrap="square" lIns="0" tIns="0" rIns="0" bIns="0" anchor="t">
            <a:spAutoFit/>
          </a:bodyPr>
          <a:lstStyle/>
          <a:p>
            <a:pPr algn="l">
              <a:lnSpc>
                <a:spcPct val="110000"/>
              </a:lnSpc>
              <a:spcAft>
                <a:spcPts val="600"/>
              </a:spcAft>
            </a:pPr>
            <a:r>
              <a:rPr sz="1200" b="0" i="0">
                <a:solidFill>
                  <a:srgbClr val="5B6472"/>
                </a:solidFill>
                <a:latin typeface="Calibri"/>
              </a:rPr>
              <a:t>partial fit</a:t>
            </a:r>
          </a:p>
        </p:txBody>
      </p:sp>
      <p:sp>
        <p:nvSpPr>
          <p:cNvPr id="47" name="Rectangle 46"/>
          <p:cNvSpPr/>
          <p:nvPr/>
        </p:nvSpPr>
        <p:spPr>
          <a:xfrm>
            <a:off x="3749039" y="5289804"/>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4069080" y="5175504"/>
            <a:ext cx="1280160" cy="274320"/>
          </a:xfrm>
          <a:prstGeom prst="rect">
            <a:avLst/>
          </a:prstGeom>
          <a:noFill/>
        </p:spPr>
        <p:txBody>
          <a:bodyPr wrap="square" lIns="0" tIns="0" rIns="0" bIns="0" anchor="t">
            <a:spAutoFit/>
          </a:bodyPr>
          <a:lstStyle/>
          <a:p>
            <a:pPr algn="l">
              <a:lnSpc>
                <a:spcPct val="110000"/>
              </a:lnSpc>
              <a:spcAft>
                <a:spcPts val="600"/>
              </a:spcAft>
            </a:pPr>
            <a:r>
              <a:rPr sz="1200" b="0" i="0">
                <a:solidFill>
                  <a:srgbClr val="5B6472"/>
                </a:solidFill>
                <a:latin typeface="Calibri"/>
              </a:rPr>
              <a:t>little effect</a:t>
            </a:r>
          </a:p>
        </p:txBody>
      </p:sp>
      <p:sp>
        <p:nvSpPr>
          <p:cNvPr id="49" name="TextBox 48"/>
          <p:cNvSpPr txBox="1"/>
          <p:nvPr/>
        </p:nvSpPr>
        <p:spPr>
          <a:xfrm>
            <a:off x="5486400" y="5175504"/>
            <a:ext cx="6126480" cy="274320"/>
          </a:xfrm>
          <a:prstGeom prst="rect">
            <a:avLst/>
          </a:prstGeom>
          <a:noFill/>
        </p:spPr>
        <p:txBody>
          <a:bodyPr wrap="square" lIns="0" tIns="0" rIns="0" bIns="0" anchor="t">
            <a:spAutoFit/>
          </a:bodyPr>
          <a:lstStyle/>
          <a:p>
            <a:pPr algn="l">
              <a:lnSpc>
                <a:spcPct val="110000"/>
              </a:lnSpc>
              <a:spcAft>
                <a:spcPts val="600"/>
              </a:spcAft>
            </a:pPr>
            <a:r>
              <a:rPr sz="1200" b="0" i="1">
                <a:solidFill>
                  <a:srgbClr val="5B6472"/>
                </a:solidFill>
                <a:latin typeface="Calibri"/>
              </a:rPr>
              <a:t>Author's assessment from the cases and defenses on slides 3–4.</a:t>
            </a:r>
          </a:p>
        </p:txBody>
      </p:sp>
      <p:sp>
        <p:nvSpPr>
          <p:cNvPr id="50" name="TextBox 49"/>
          <p:cNvSpPr txBox="1"/>
          <p:nvPr/>
        </p:nvSpPr>
        <p:spPr>
          <a:xfrm>
            <a:off x="548640" y="5632704"/>
            <a:ext cx="11064240" cy="548640"/>
          </a:xfrm>
          <a:prstGeom prst="rect">
            <a:avLst/>
          </a:prstGeom>
          <a:noFill/>
        </p:spPr>
        <p:txBody>
          <a:bodyPr wrap="square" lIns="0" tIns="0" rIns="0" bIns="0" anchor="t">
            <a:spAutoFit/>
          </a:bodyPr>
          <a:lstStyle/>
          <a:p>
            <a:pPr algn="l">
              <a:lnSpc>
                <a:spcPct val="110000"/>
              </a:lnSpc>
              <a:spcAft>
                <a:spcPts val="600"/>
              </a:spcAft>
            </a:pPr>
            <a:r>
              <a:rPr sz="1400" b="1" i="0">
                <a:solidFill>
                  <a:srgbClr val="1F2937"/>
                </a:solidFill>
                <a:latin typeface="Calibri"/>
              </a:rPr>
              <a:t>Takeaway:</a:t>
            </a:r>
            <a:r>
              <a:rPr sz="1400" b="0" i="0">
                <a:solidFill>
                  <a:srgbClr val="1F2937"/>
                </a:solidFill>
                <a:latin typeface="Calibri"/>
              </a:rPr>
              <a:t> in this assessment, red teaming and anomaly detection help against every attack type; deepfakes need process checks.</a:t>
            </a:r>
          </a:p>
        </p:txBody>
      </p:sp>
      <p:cxnSp>
        <p:nvCxnSpPr>
          <p:cNvPr id="51" name="Connector 50"/>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Google GenAI Security Team (2025); Bullwinkel et al. (2025); Chennabasappa et al. (2025); Parisi (2019, Ch. 5).</a:t>
            </a:r>
          </a:p>
        </p:txBody>
      </p:sp>
      <p:sp>
        <p:nvSpPr>
          <p:cNvPr id="53" name="TextBox 52"/>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AI CONCEPTS · CURRENT TREND</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Applying Chapter 5, and the governance trend that requires it</a:t>
            </a:r>
          </a:p>
        </p:txBody>
      </p:sp>
      <p:sp>
        <p:nvSpPr>
          <p:cNvPr id="5" name="TextBox 4"/>
          <p:cNvSpPr txBox="1"/>
          <p:nvPr/>
        </p:nvSpPr>
        <p:spPr>
          <a:xfrm>
            <a:off x="548640" y="1645920"/>
            <a:ext cx="548640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E846F"/>
                </a:solidFill>
                <a:latin typeface="Calibri"/>
              </a:rPr>
              <a:t>CHAPTER 5: ANOMALY DETECTION AS A DEFENSE</a:t>
            </a:r>
          </a:p>
        </p:txBody>
      </p:sp>
      <p:sp>
        <p:nvSpPr>
          <p:cNvPr id="6" name="TextBox 5"/>
          <p:cNvSpPr txBox="1"/>
          <p:nvPr/>
        </p:nvSpPr>
        <p:spPr>
          <a:xfrm>
            <a:off x="548640" y="1965960"/>
            <a:ext cx="5486400" cy="548640"/>
          </a:xfrm>
          <a:prstGeom prst="rect">
            <a:avLst/>
          </a:prstGeom>
          <a:noFill/>
        </p:spPr>
        <p:txBody>
          <a:bodyPr wrap="square" lIns="0" tIns="0" rIns="0" bIns="0" anchor="t">
            <a:spAutoFit/>
          </a:bodyPr>
          <a:lstStyle/>
          <a:p>
            <a:pPr algn="l">
              <a:lnSpc>
                <a:spcPct val="110000"/>
              </a:lnSpc>
              <a:spcAft>
                <a:spcPts val="600"/>
              </a:spcAft>
            </a:pPr>
            <a:r>
              <a:rPr sz="1500" b="0" i="1">
                <a:solidFill>
                  <a:srgbClr val="1F2937"/>
                </a:solidFill>
                <a:latin typeface="Calibri"/>
              </a:rPr>
              <a:t>Learn what normal looks like; flag what does not fit.</a:t>
            </a:r>
          </a:p>
        </p:txBody>
      </p:sp>
      <p:sp>
        <p:nvSpPr>
          <p:cNvPr id="7" name="TextBox 6"/>
          <p:cNvSpPr txBox="1"/>
          <p:nvPr/>
        </p:nvSpPr>
        <p:spPr>
          <a:xfrm>
            <a:off x="548640" y="2468880"/>
            <a:ext cx="5486400" cy="3566160"/>
          </a:xfrm>
          <a:prstGeom prst="rect">
            <a:avLst/>
          </a:prstGeom>
          <a:noFill/>
        </p:spPr>
        <p:txBody>
          <a:bodyPr wrap="square" lIns="0" tIns="0" rIns="0" bIns="0">
            <a:spAutoFit/>
          </a:bodyPr>
          <a:lstStyle/>
          <a:p>
            <a:pPr marL="256032" indent="-256032">
              <a:lnSpc>
                <a:spcPct val="110000"/>
              </a:lnSpc>
              <a:spcAft>
                <a:spcPts val="1000"/>
              </a:spcAft>
              <a:buClr>
                <a:srgbClr val="1E846F"/>
              </a:buClr>
              <a:buFont typeface="Arial"/>
              <a:buChar char="■"/>
            </a:pPr>
            <a:r>
              <a:rPr sz="1500" b="1" i="0">
                <a:solidFill>
                  <a:srgbClr val="1F2937"/>
                </a:solidFill>
                <a:latin typeface="Calibri"/>
              </a:rPr>
              <a:t>Inputs:</a:t>
            </a:r>
            <a:r>
              <a:rPr sz="1500" b="0" i="0">
                <a:solidFill>
                  <a:srgbClr val="1F2937"/>
                </a:solidFill>
                <a:latin typeface="Calibri"/>
              </a:rPr>
              <a:t> 85 mph on a 35 mph road is out of range → slow down.</a:t>
            </a:r>
          </a:p>
          <a:p>
            <a:pPr marL="256032" indent="-256032">
              <a:lnSpc>
                <a:spcPct val="110000"/>
              </a:lnSpc>
              <a:spcAft>
                <a:spcPts val="1000"/>
              </a:spcAft>
              <a:buClr>
                <a:srgbClr val="1E846F"/>
              </a:buClr>
              <a:buFont typeface="Arial"/>
              <a:buChar char="■"/>
            </a:pPr>
            <a:r>
              <a:rPr sz="1500" b="1" i="0">
                <a:solidFill>
                  <a:srgbClr val="1F2937"/>
                </a:solidFill>
                <a:latin typeface="Calibri"/>
              </a:rPr>
              <a:t>Payments:</a:t>
            </a:r>
            <a:r>
              <a:rPr sz="1500" b="0" i="0">
                <a:solidFill>
                  <a:srgbClr val="1F2937"/>
                </a:solidFill>
                <a:latin typeface="Calibri"/>
              </a:rPr>
              <a:t> a large, urgent transfer after one video call → hold and call back.</a:t>
            </a:r>
          </a:p>
          <a:p>
            <a:pPr marL="256032" indent="-256032">
              <a:lnSpc>
                <a:spcPct val="110000"/>
              </a:lnSpc>
              <a:spcAft>
                <a:spcPts val="1000"/>
              </a:spcAft>
              <a:buClr>
                <a:srgbClr val="1E846F"/>
              </a:buClr>
              <a:buFont typeface="Arial"/>
              <a:buChar char="■"/>
            </a:pPr>
            <a:r>
              <a:rPr sz="1500" b="1" i="0">
                <a:solidFill>
                  <a:srgbClr val="1F2937"/>
                </a:solidFill>
                <a:latin typeface="Calibri"/>
              </a:rPr>
              <a:t>Training data:</a:t>
            </a:r>
            <a:r>
              <a:rPr sz="1500" b="0" i="0">
                <a:solidFill>
                  <a:srgbClr val="1F2937"/>
                </a:solidFill>
                <a:latin typeface="Calibri"/>
              </a:rPr>
              <a:t> screen outliers before retraining → blocks poisoning.</a:t>
            </a:r>
          </a:p>
          <a:p>
            <a:pPr marL="256032" indent="-256032">
              <a:lnSpc>
                <a:spcPct val="110000"/>
              </a:lnSpc>
              <a:spcAft>
                <a:spcPts val="1000"/>
              </a:spcAft>
              <a:buClr>
                <a:srgbClr val="1E846F"/>
              </a:buClr>
              <a:buFont typeface="Arial"/>
              <a:buChar char="■"/>
            </a:pPr>
            <a:r>
              <a:rPr sz="1500" b="1" i="0">
                <a:solidFill>
                  <a:srgbClr val="1F2937"/>
                </a:solidFill>
                <a:latin typeface="Calibri"/>
              </a:rPr>
              <a:t>AI agents:</a:t>
            </a:r>
            <a:r>
              <a:rPr sz="1500" b="0" i="0">
                <a:solidFill>
                  <a:srgbClr val="1F2937"/>
                </a:solidFill>
                <a:latin typeface="Calibri"/>
              </a:rPr>
              <a:t> an assistant suddenly sending data outside → block it.</a:t>
            </a:r>
          </a:p>
        </p:txBody>
      </p:sp>
      <p:sp>
        <p:nvSpPr>
          <p:cNvPr id="8" name="Rounded Rectangle 7"/>
          <p:cNvSpPr/>
          <p:nvPr/>
        </p:nvSpPr>
        <p:spPr>
          <a:xfrm>
            <a:off x="6400800" y="1645920"/>
            <a:ext cx="5257800" cy="32918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675120" y="1828800"/>
            <a:ext cx="475488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F5FAD"/>
                </a:solidFill>
                <a:latin typeface="Calibri"/>
              </a:rPr>
              <a:t>TREND: AI GOVERNANCE MAKES ROBUSTNESS LAW</a:t>
            </a:r>
          </a:p>
        </p:txBody>
      </p:sp>
      <p:sp>
        <p:nvSpPr>
          <p:cNvPr id="10" name="TextBox 9"/>
          <p:cNvSpPr txBox="1"/>
          <p:nvPr/>
        </p:nvSpPr>
        <p:spPr>
          <a:xfrm>
            <a:off x="6675120" y="2194560"/>
            <a:ext cx="4754880" cy="3657600"/>
          </a:xfrm>
          <a:prstGeom prst="rect">
            <a:avLst/>
          </a:prstGeom>
          <a:noFill/>
        </p:spPr>
        <p:txBody>
          <a:bodyPr wrap="square" lIns="0" tIns="0" rIns="0" bIns="0" anchor="t">
            <a:spAutoFit/>
          </a:bodyPr>
          <a:lstStyle/>
          <a:p>
            <a:pPr algn="l">
              <a:lnSpc>
                <a:spcPct val="110000"/>
              </a:lnSpc>
              <a:spcAft>
                <a:spcPts val="1200"/>
              </a:spcAft>
            </a:pPr>
            <a:r>
              <a:rPr sz="1500" b="1" i="0">
                <a:solidFill>
                  <a:srgbClr val="1F2937"/>
                </a:solidFill>
                <a:latin typeface="Calibri"/>
              </a:rPr>
              <a:t>EU AI Act, Article 15:</a:t>
            </a:r>
            <a:r>
              <a:rPr sz="1500" b="0" i="0">
                <a:solidFill>
                  <a:srgbClr val="1F2937"/>
                </a:solidFill>
                <a:latin typeface="Calibri"/>
              </a:rPr>
              <a:t> high-risk AI must be “resilient against attempts by unauthorised third parties to alter their use, outputs or performance.”</a:t>
            </a:r>
          </a:p>
          <a:p>
            <a:pPr algn="l">
              <a:lnSpc>
                <a:spcPct val="110000"/>
              </a:lnSpc>
              <a:spcAft>
                <a:spcPts val="1200"/>
              </a:spcAft>
            </a:pPr>
            <a:r>
              <a:rPr sz="1500" b="0" i="0">
                <a:solidFill>
                  <a:srgbClr val="1F2937"/>
                </a:solidFill>
                <a:latin typeface="Calibri"/>
              </a:rPr>
              <a:t>It names data poisoning, model poisoning and adversarial examples, and requires measures to “prevent, detect, respond to” them.</a:t>
            </a:r>
          </a:p>
          <a:p>
            <a:pPr algn="l">
              <a:lnSpc>
                <a:spcPct val="110000"/>
              </a:lnSpc>
              <a:spcAft>
                <a:spcPts val="1200"/>
              </a:spcAft>
            </a:pPr>
            <a:r>
              <a:rPr sz="1500" b="1" i="0">
                <a:solidFill>
                  <a:srgbClr val="1F2937"/>
                </a:solidFill>
                <a:latin typeface="Calibri"/>
              </a:rPr>
              <a:t>Effect:</a:t>
            </a:r>
            <a:r>
              <a:rPr sz="1500" b="0" i="0">
                <a:solidFill>
                  <a:srgbClr val="1F2937"/>
                </a:solidFill>
                <a:latin typeface="Calibri"/>
              </a:rPr>
              <a:t> robustness testing and anomaly detection become legal duties.</a:t>
            </a:r>
          </a:p>
        </p:txBody>
      </p:sp>
      <p:cxnSp>
        <p:nvCxnSpPr>
          <p:cNvPr id="11" name="Connector 10"/>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Parisi (2019, Ch. 5); Regulation (EU) 2024/1689 (2024, Art. 15).</a:t>
            </a:r>
          </a:p>
        </p:txBody>
      </p:sp>
      <p:sp>
        <p:nvSpPr>
          <p:cNvPr id="13" name="TextBox 12"/>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WHAT I LEARNED · APA 7TH EDITION</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Reflection and references</a:t>
            </a:r>
          </a:p>
        </p:txBody>
      </p:sp>
      <p:sp>
        <p:nvSpPr>
          <p:cNvPr id="5" name="Rounded Rectangle 4"/>
          <p:cNvSpPr/>
          <p:nvPr/>
        </p:nvSpPr>
        <p:spPr>
          <a:xfrm>
            <a:off x="548640" y="1554480"/>
            <a:ext cx="11109960" cy="86868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22959" y="1664208"/>
            <a:ext cx="10607040" cy="731520"/>
          </a:xfrm>
          <a:prstGeom prst="rect">
            <a:avLst/>
          </a:prstGeom>
          <a:noFill/>
        </p:spPr>
        <p:txBody>
          <a:bodyPr wrap="square" lIns="0" tIns="0" rIns="0" bIns="0" anchor="t">
            <a:spAutoFit/>
          </a:bodyPr>
          <a:lstStyle/>
          <a:p>
            <a:pPr algn="l">
              <a:lnSpc>
                <a:spcPct val="110000"/>
              </a:lnSpc>
              <a:spcAft>
                <a:spcPts val="600"/>
              </a:spcAft>
            </a:pPr>
            <a:r>
              <a:rPr sz="1400" b="1" i="0">
                <a:solidFill>
                  <a:srgbClr val="1F2937"/>
                </a:solidFill>
                <a:latin typeface="Calibri"/>
              </a:rPr>
              <a:t>Reflection.</a:t>
            </a:r>
            <a:r>
              <a:rPr sz="1400" b="0" i="0">
                <a:solidFill>
                  <a:srgbClr val="1F2937"/>
                </a:solidFill>
                <a:latin typeface="Calibri"/>
              </a:rPr>
              <a:t> In Modules 3–5 I built an anomaly detector, a fraud model and a phishing filter and judged them by accuracy; this module showed the detector itself is a target. I want to build AI defenses that are red-teamed before release, watched by anomaly checks, and that let a human confirm high-stakes actions.</a:t>
            </a:r>
          </a:p>
        </p:txBody>
      </p:sp>
      <p:sp>
        <p:nvSpPr>
          <p:cNvPr id="7" name="TextBox 6"/>
          <p:cNvSpPr txBox="1"/>
          <p:nvPr/>
        </p:nvSpPr>
        <p:spPr>
          <a:xfrm>
            <a:off x="548640" y="2606040"/>
            <a:ext cx="11094415" cy="3657600"/>
          </a:xfrm>
          <a:prstGeom prst="rect">
            <a:avLst/>
          </a:prstGeom>
          <a:noFill/>
        </p:spPr>
        <p:txBody>
          <a:bodyPr wrap="square" lIns="0" tIns="0" rIns="0" bIns="0" anchor="t">
            <a:spAutoFit/>
          </a:bodyPr>
          <a:lstStyle/>
          <a:p>
            <a:pPr marL="320040" indent="-320040" algn="l">
              <a:lnSpc>
                <a:spcPct val="100000"/>
              </a:lnSpc>
              <a:spcAft>
                <a:spcPts val="400"/>
              </a:spcAft>
            </a:pPr>
            <a:r>
              <a:rPr sz="1100" b="0" i="0">
                <a:solidFill>
                  <a:srgbClr val="1F2937"/>
                </a:solidFill>
                <a:latin typeface="Calibri"/>
              </a:rPr>
              <a:t>Bullwinkel, B., Minnich, A., Chawla, S., Lopez, G., Pouliot, M., Maxwell, W., de Gruyter, J., Pratt, K., Qi, S., Chikanov, N., Lutz, R., Dheekonda, R. S. R., Jagdagdorj, B.-E., Kim, E., Song, J., Hines, K., Jones, D., Severi, G., Lundeen, R., . . . Russinovich, M. (2025). </a:t>
            </a:r>
            <a:r>
              <a:rPr sz="1100" b="0" i="1">
                <a:solidFill>
                  <a:srgbClr val="1F2937"/>
                </a:solidFill>
                <a:latin typeface="Calibri"/>
              </a:rPr>
              <a:t>Lessons from red teaming 100 generative AI products</a:t>
            </a:r>
            <a:r>
              <a:rPr sz="1100" b="0" i="0">
                <a:solidFill>
                  <a:srgbClr val="1F2937"/>
                </a:solidFill>
                <a:latin typeface="Calibri"/>
              </a:rPr>
              <a:t> (arXiv:2501.07238). arXiv. https://arxiv.org/abs/2501.07238</a:t>
            </a:r>
          </a:p>
          <a:p>
            <a:pPr marL="320040" indent="-320040" algn="l">
              <a:lnSpc>
                <a:spcPct val="100000"/>
              </a:lnSpc>
              <a:spcAft>
                <a:spcPts val="400"/>
              </a:spcAft>
            </a:pPr>
            <a:r>
              <a:rPr sz="1100" b="0" i="0">
                <a:solidFill>
                  <a:srgbClr val="1F2937"/>
                </a:solidFill>
                <a:latin typeface="Calibri"/>
              </a:rPr>
              <a:t>Chennabasappa, S., Nikolaidis, C., Song, D., Molnar, D., Ding, S., Wan, S., Whitman, S., Deason, L., Doucette, N., Montilla, A., Gampa, A., de Paola, B., Gabi, D., Crnkovich, J., Testud, J.-C., He, K., Chaturvedi, R., Zhou, W., &amp; Saxe, J. (2025). </a:t>
            </a:r>
            <a:r>
              <a:rPr sz="1100" b="0" i="1">
                <a:solidFill>
                  <a:srgbClr val="1F2937"/>
                </a:solidFill>
                <a:latin typeface="Calibri"/>
              </a:rPr>
              <a:t>LlamaFirewall: An open source guardrail system for building secure AI agents</a:t>
            </a:r>
            <a:r>
              <a:rPr sz="1100" b="0" i="0">
                <a:solidFill>
                  <a:srgbClr val="1F2937"/>
                </a:solidFill>
                <a:latin typeface="Calibri"/>
              </a:rPr>
              <a:t> (arXiv:2505.03574). arXiv. https://arxiv.org/abs/2505.03574</a:t>
            </a:r>
          </a:p>
          <a:p>
            <a:pPr marL="320040" indent="-320040" algn="l">
              <a:lnSpc>
                <a:spcPct val="100000"/>
              </a:lnSpc>
              <a:spcAft>
                <a:spcPts val="400"/>
              </a:spcAft>
            </a:pPr>
            <a:r>
              <a:rPr sz="1100" b="0" i="0">
                <a:solidFill>
                  <a:srgbClr val="1F2937"/>
                </a:solidFill>
                <a:latin typeface="Calibri"/>
              </a:rPr>
              <a:t>Google GenAI Security Team. (2025, June 13). </a:t>
            </a:r>
            <a:r>
              <a:rPr sz="1100" b="0" i="1">
                <a:solidFill>
                  <a:srgbClr val="1F2937"/>
                </a:solidFill>
                <a:latin typeface="Calibri"/>
              </a:rPr>
              <a:t>Mitigating prompt injection attacks with a layered defense strategy</a:t>
            </a:r>
            <a:r>
              <a:rPr sz="1100" b="0" i="0">
                <a:solidFill>
                  <a:srgbClr val="1F2937"/>
                </a:solidFill>
                <a:latin typeface="Calibri"/>
              </a:rPr>
              <a:t>. Google. https://blog.google/security/mitigating-prompt-injection-attacks/</a:t>
            </a:r>
          </a:p>
          <a:p>
            <a:pPr marL="320040" indent="-320040" algn="l">
              <a:lnSpc>
                <a:spcPct val="100000"/>
              </a:lnSpc>
              <a:spcAft>
                <a:spcPts val="400"/>
              </a:spcAft>
            </a:pPr>
            <a:r>
              <a:rPr sz="1100" b="0" i="0">
                <a:solidFill>
                  <a:srgbClr val="1F2937"/>
                </a:solidFill>
                <a:latin typeface="Calibri"/>
              </a:rPr>
              <a:t>Lalchand, S., Srinivas, V., Maggiore, B., &amp; Henderson, J. (2024, May 29). </a:t>
            </a:r>
            <a:r>
              <a:rPr sz="1100" b="0" i="1">
                <a:solidFill>
                  <a:srgbClr val="1F2937"/>
                </a:solidFill>
                <a:latin typeface="Calibri"/>
              </a:rPr>
              <a:t>Generative AI is expected to magnify the risk of deepfakes and other fraud in banking</a:t>
            </a:r>
            <a:r>
              <a:rPr sz="1100" b="0" i="0">
                <a:solidFill>
                  <a:srgbClr val="1F2937"/>
                </a:solidFill>
                <a:latin typeface="Calibri"/>
              </a:rPr>
              <a:t>. Deloitte Insights. https://www.deloitte.com/us/en/insights/industry/financial-services/deepfake-banking-fraud-risk-on-the-rise.html</a:t>
            </a:r>
          </a:p>
          <a:p>
            <a:pPr marL="320040" indent="-320040" algn="l">
              <a:lnSpc>
                <a:spcPct val="100000"/>
              </a:lnSpc>
              <a:spcAft>
                <a:spcPts val="400"/>
              </a:spcAft>
            </a:pPr>
            <a:r>
              <a:rPr sz="1100" b="0" i="0">
                <a:solidFill>
                  <a:srgbClr val="1F2937"/>
                </a:solidFill>
                <a:latin typeface="Calibri"/>
              </a:rPr>
              <a:t>Microsoft Security Response Center. (2025, June 11). </a:t>
            </a:r>
            <a:r>
              <a:rPr sz="1100" b="0" i="1">
                <a:solidFill>
                  <a:srgbClr val="1F2937"/>
                </a:solidFill>
                <a:latin typeface="Calibri"/>
              </a:rPr>
              <a:t>CVE-2025-32711: M365 Copilot information disclosure vulnerability</a:t>
            </a:r>
            <a:r>
              <a:rPr sz="1100" b="0" i="0">
                <a:solidFill>
                  <a:srgbClr val="1F2937"/>
                </a:solidFill>
                <a:latin typeface="Calibri"/>
              </a:rPr>
              <a:t>. https://msrc.microsoft.com/update-guide/vulnerability/CVE-2025-32711</a:t>
            </a:r>
          </a:p>
          <a:p>
            <a:pPr marL="320040" indent="-320040" algn="l">
              <a:lnSpc>
                <a:spcPct val="100000"/>
              </a:lnSpc>
              <a:spcAft>
                <a:spcPts val="400"/>
              </a:spcAft>
            </a:pPr>
            <a:r>
              <a:rPr sz="1100" b="0" i="0">
                <a:solidFill>
                  <a:srgbClr val="1F2937"/>
                </a:solidFill>
                <a:latin typeface="Calibri"/>
              </a:rPr>
              <a:t>Parisi, A. (2019). </a:t>
            </a:r>
            <a:r>
              <a:rPr sz="1100" b="0" i="1">
                <a:solidFill>
                  <a:srgbClr val="1F2937"/>
                </a:solidFill>
                <a:latin typeface="Calibri"/>
              </a:rPr>
              <a:t>Hands-on artificial intelligence for cybersecurity: Implement smart AI systems for preventing cyber attacks and detecting threats and network anomalies</a:t>
            </a:r>
            <a:r>
              <a:rPr sz="1100" b="0" i="0">
                <a:solidFill>
                  <a:srgbClr val="1F2937"/>
                </a:solidFill>
                <a:latin typeface="Calibri"/>
              </a:rPr>
              <a:t>. Packt Publishing.</a:t>
            </a:r>
          </a:p>
          <a:p>
            <a:pPr marL="320040" indent="-320040" algn="l">
              <a:lnSpc>
                <a:spcPct val="100000"/>
              </a:lnSpc>
              <a:spcAft>
                <a:spcPts val="400"/>
              </a:spcAft>
            </a:pPr>
            <a:r>
              <a:rPr sz="1100" b="0" i="0">
                <a:solidFill>
                  <a:srgbClr val="1F2937"/>
                </a:solidFill>
                <a:latin typeface="Calibri"/>
              </a:rPr>
              <a:t>Povolny, S., &amp; Trivedi, S. (2020, February 19). </a:t>
            </a:r>
            <a:r>
              <a:rPr sz="1100" b="0" i="1">
                <a:solidFill>
                  <a:srgbClr val="1F2937"/>
                </a:solidFill>
                <a:latin typeface="Calibri"/>
              </a:rPr>
              <a:t>Model hacking ADAS to pave safer roads for autonomous vehicles</a:t>
            </a:r>
            <a:r>
              <a:rPr sz="1100" b="0" i="0">
                <a:solidFill>
                  <a:srgbClr val="1F2937"/>
                </a:solidFill>
                <a:latin typeface="Calibri"/>
              </a:rPr>
              <a:t>. McAfee Blogs. https://www.mcafee.com/blogs/other-blogs/mcafee-labs/model-hacking-adas-to-pave-safer-roads-for-autonomous-vehicles/</a:t>
            </a:r>
          </a:p>
          <a:p>
            <a:pPr marL="320040" indent="-320040" algn="l">
              <a:lnSpc>
                <a:spcPct val="100000"/>
              </a:lnSpc>
              <a:spcAft>
                <a:spcPts val="400"/>
              </a:spcAft>
            </a:pPr>
            <a:r>
              <a:rPr sz="1100" b="0" i="0">
                <a:solidFill>
                  <a:srgbClr val="1F2937"/>
                </a:solidFill>
                <a:latin typeface="Calibri"/>
              </a:rPr>
              <a:t>Regulation (EU) 2024/1689 of the European Parliament and of the Council of 13 June 2024 laying down harmonised rules on artificial intelligence (Artificial Intelligence Act). (2024). </a:t>
            </a:r>
            <a:r>
              <a:rPr sz="1100" b="0" i="1">
                <a:solidFill>
                  <a:srgbClr val="1F2937"/>
                </a:solidFill>
                <a:latin typeface="Calibri"/>
              </a:rPr>
              <a:t>Official Journal of the European Union</a:t>
            </a:r>
            <a:r>
              <a:rPr sz="1100" b="0" i="0">
                <a:solidFill>
                  <a:srgbClr val="1F2937"/>
                </a:solidFill>
                <a:latin typeface="Calibri"/>
              </a:rPr>
              <a:t>, L 2024/1689. http://data.europa.eu/eli/reg/2024/1689/oj</a:t>
            </a:r>
          </a:p>
        </p:txBody>
      </p:sp>
      <p:cxnSp>
        <p:nvCxnSpPr>
          <p:cNvPr id="8" name="Connector 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Chapter citations: Parisi (2019), Chapter 5 “Network Anomaly Detection with AI” and Chapter 10 “Assessing your AI Arsenal.”</a:t>
            </a:r>
          </a:p>
        </p:txBody>
      </p:sp>
      <p:sp>
        <p:nvSpPr>
          <p:cNvPr id="10" name="TextBox 9"/>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2439</Words>
  <Application>Microsoft Macintosh PowerPoint</Application>
  <PresentationFormat>Widescreen</PresentationFormat>
  <Paragraphs>125</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Ruthvik Nath Bandari</cp:lastModifiedBy>
  <cp:revision>2</cp:revision>
  <dcterms:created xsi:type="dcterms:W3CDTF">2013-01-27T09:14:16Z</dcterms:created>
  <dcterms:modified xsi:type="dcterms:W3CDTF">2026-10-19T01:07:16Z</dcterms:modified>
  <cp:category/>
</cp:coreProperties>
</file>