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0F1B2D"/>
                </a:solidFill>
                <a:latin typeface="Calibri"/>
              </a:rPr>
              <a:t>Share of attacks detected, by family</a:t>
            </a:r>
          </a:p>
        </c:rich>
      </c:tx>
      <c:layout/>
      <c:overlay val="0"/>
    </c:title>
    <c:autoTitleDeleted val="0"/>
    <c:plotArea>
      <c:barChart>
        <c:barDir val="col"/>
        <c:grouping val="clustered"/>
        <c:ser>
          <c:idx val="0"/>
          <c:order val="0"/>
          <c:tx>
            <c:strRef>
              <c:f>Sheet1!$B$1</c:f>
              <c:strCache>
                <c:ptCount val="1"/>
                <c:pt idx="0">
                  <c:v>Held-out split (known attacks)</c:v>
                </c:pt>
              </c:strCache>
            </c:strRef>
          </c:tx>
          <c:spPr>
            <a:solidFill>
              <a:srgbClr val="1F5FAD"/>
            </a:solidFill>
          </c:spPr>
          <c:cat>
            <c:strRef>
              <c:f>Sheet1!$A$2:$A$5</c:f>
              <c:strCache>
                <c:ptCount val="4"/>
                <c:pt idx="0">
                  <c:v>DoS</c:v>
                </c:pt>
                <c:pt idx="1">
                  <c:v>Probe</c:v>
                </c:pt>
                <c:pt idx="2">
                  <c:v>R2L</c:v>
                </c:pt>
                <c:pt idx="3">
                  <c:v>U2R</c:v>
                </c:pt>
              </c:strCache>
            </c:strRef>
          </c:cat>
          <c:val>
            <c:numRef>
              <c:f>Sheet1!$B$2:$B$5</c:f>
              <c:numCache>
                <c:formatCode>General</c:formatCode>
                <c:ptCount val="4"/>
                <c:pt idx="0">
                  <c:v>0.999890170236134</c:v>
                </c:pt>
                <c:pt idx="1">
                  <c:v>0.9974884889074926</c:v>
                </c:pt>
                <c:pt idx="2">
                  <c:v>0.9557522123893806</c:v>
                </c:pt>
                <c:pt idx="3">
                  <c:v>1.0</c:v>
                </c:pt>
              </c:numCache>
            </c:numRef>
          </c:val>
        </c:ser>
        <c:ser>
          <c:idx val="1"/>
          <c:order val="1"/>
          <c:tx>
            <c:strRef>
              <c:f>Sheet1!$C$1</c:f>
              <c:strCache>
                <c:ptCount val="1"/>
                <c:pt idx="0">
                  <c:v>Official test (includes new attacks)</c:v>
                </c:pt>
              </c:strCache>
            </c:strRef>
          </c:tx>
          <c:spPr>
            <a:solidFill>
              <a:srgbClr val="C0392B"/>
            </a:solidFill>
          </c:spPr>
          <c:cat>
            <c:strRef>
              <c:f>Sheet1!$A$2:$A$5</c:f>
              <c:strCache>
                <c:ptCount val="4"/>
                <c:pt idx="0">
                  <c:v>DoS</c:v>
                </c:pt>
                <c:pt idx="1">
                  <c:v>Probe</c:v>
                </c:pt>
                <c:pt idx="2">
                  <c:v>R2L</c:v>
                </c:pt>
                <c:pt idx="3">
                  <c:v>U2R</c:v>
                </c:pt>
              </c:strCache>
            </c:strRef>
          </c:cat>
          <c:val>
            <c:numRef>
              <c:f>Sheet1!$C$2:$C$5</c:f>
              <c:numCache>
                <c:formatCode>General</c:formatCode>
                <c:ptCount val="4"/>
                <c:pt idx="0">
                  <c:v>0.7889514615178332</c:v>
                </c:pt>
                <c:pt idx="1">
                  <c:v>0.7352333746385791</c:v>
                </c:pt>
                <c:pt idx="2">
                  <c:v>0.05628177196804648</c:v>
                </c:pt>
                <c:pt idx="3">
                  <c:v>0.135</c:v>
                </c:pt>
              </c:numCache>
            </c:numRef>
          </c:val>
        </c:ser>
        <c:dLbls>
          <c:numFmt formatCode="0%" sourceLinked="0"/>
          <c:txPr>
            <a:bodyPr/>
            <a:lstStyle/>
            <a:p>
              <a:pPr>
                <a:defRPr sz="1200" b="1">
                  <a:latin typeface="Calibri"/>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D5DAE1"/>
            </a:solidFill>
          </a:ln>
        </c:spPr>
        <c:txPr>
          <a:bodyPr/>
          <a:lstStyle/>
          <a:p>
            <a:pPr>
              <a:defRPr sz="1300">
                <a:latin typeface="Calibri"/>
              </a:defRPr>
            </a:pPr>
          </a:p>
        </c:txPr>
        <c:crossAx val="-2113994440"/>
        <c:crosses val="autoZero"/>
        <c:auto val="1"/>
        <c:lblAlgn val="ctr"/>
        <c:lblOffset val="100"/>
        <c:noMultiLvlLbl val="0"/>
      </c:catAx>
      <c:valAx>
        <c:axId val="-2113994440"/>
        <c:scaling>
          <c:max val="1.15"/>
          <c:min val="0.0"/>
        </c:scaling>
        <c:delete/>
        <c:axPos val="l"/>
        <c:majorTickMark val="out"/>
        <c:minorTickMark val="none"/>
        <c:tickLblPos val="nextTo"/>
        <c:crossAx val="-2068027336"/>
        <c:crosses val="autoZero"/>
      </c:valAx>
    </c:plotArea>
    <c:legend>
      <c:legendPos val="b"/>
      <c:overlay val="0"/>
      <c:txPr>
        <a:bodyPr/>
        <a:lstStyle/>
        <a:p>
          <a:pPr>
            <a:defRPr sz="1200">
              <a:latin typeface="Calibri"/>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0F1B2D"/>
                </a:solidFill>
                <a:latin typeface="Calibri"/>
              </a:rPr>
              <a:t>What the Random Forest relies on (importance)</a:t>
            </a:r>
          </a:p>
        </c:rich>
      </c:tx>
      <c:layout/>
      <c:overlay val="0"/>
    </c:title>
    <c:autoTitleDeleted val="0"/>
    <c:plotArea>
      <c:barChart>
        <c:barDir val="bar"/>
        <c:grouping val="clustered"/>
        <c:ser>
          <c:idx val="0"/>
          <c:order val="0"/>
          <c:tx>
            <c:strRef>
              <c:f>Sheet1!$B$1</c:f>
              <c:strCache>
                <c:ptCount val="1"/>
                <c:pt idx="0">
                  <c:v>What the Random Forest relies on (importance)</c:v>
                </c:pt>
              </c:strCache>
            </c:strRef>
          </c:tx>
          <c:spPr>
            <a:solidFill>
              <a:srgbClr val="1E846F"/>
            </a:solidFill>
          </c:spPr>
          <c:cat>
            <c:strRef>
              <c:f>Sheet1!$A$2:$A$9</c:f>
              <c:strCache>
                <c:ptCount val="8"/>
                <c:pt idx="0">
                  <c:v>count</c:v>
                </c:pt>
                <c:pt idx="1">
                  <c:v>diff_srv_rate</c:v>
                </c:pt>
                <c:pt idx="2">
                  <c:v>dst_host_srv_count</c:v>
                </c:pt>
                <c:pt idx="3">
                  <c:v>dst_host_same_srv_rate</c:v>
                </c:pt>
                <c:pt idx="4">
                  <c:v>same_srv_rate</c:v>
                </c:pt>
                <c:pt idx="5">
                  <c:v>flag_SF</c:v>
                </c:pt>
                <c:pt idx="6">
                  <c:v>src_bytes</c:v>
                </c:pt>
                <c:pt idx="7">
                  <c:v>dst_bytes</c:v>
                </c:pt>
              </c:strCache>
            </c:strRef>
          </c:cat>
          <c:val>
            <c:numRef>
              <c:f>Sheet1!$B$2:$B$9</c:f>
              <c:numCache>
                <c:formatCode>General</c:formatCode>
                <c:ptCount val="8"/>
                <c:pt idx="0">
                  <c:v>0.0371</c:v>
                </c:pt>
                <c:pt idx="1">
                  <c:v>0.0448</c:v>
                </c:pt>
                <c:pt idx="2">
                  <c:v>0.0451</c:v>
                </c:pt>
                <c:pt idx="3">
                  <c:v>0.0485</c:v>
                </c:pt>
                <c:pt idx="4">
                  <c:v>0.0521</c:v>
                </c:pt>
                <c:pt idx="5">
                  <c:v>0.0599</c:v>
                </c:pt>
                <c:pt idx="6">
                  <c:v>0.1323</c:v>
                </c:pt>
                <c:pt idx="7">
                  <c:v>0.1391</c:v>
                </c:pt>
              </c:numCache>
            </c:numRef>
          </c:val>
        </c:ser>
        <c:dLbls>
          <c:numFmt formatCode="0.000" sourceLinked="0"/>
          <c:txPr>
            <a:bodyPr/>
            <a:lstStyle/>
            <a:p>
              <a:pPr>
                <a:defRPr sz="1100">
                  <a:latin typeface="Calibri"/>
                </a:defRPr>
              </a:pPr>
            </a:p>
          </c:txPr>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D5DAE1"/>
            </a:solidFill>
          </a:ln>
        </c:spPr>
        <c:txPr>
          <a:bodyPr/>
          <a:lstStyle/>
          <a:p>
            <a:pPr>
              <a:defRPr sz="1200">
                <a:latin typeface="Calibri"/>
              </a:defRPr>
            </a:pPr>
          </a:p>
        </c:txPr>
        <c:crossAx val="-2113994440"/>
        <c:crosses val="autoZero"/>
        <c:auto val="1"/>
        <c:lblAlgn val="ctr"/>
        <c:lblOffset val="100"/>
        <c:noMultiLvlLbl val="0"/>
      </c:catAx>
      <c:valAx>
        <c:axId val="-2113994440"/>
        <c:scaling>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reports an AI threat detector I built in Google Colab: a Random Forest ensemble trained on the NSL-KDD network intrusion dataset. I focus on one threat, denial-of-service attacks, show how the detector performs, where it fails, and how a company in 2025 should deploy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 threat I focus on is denial of service. A DoS or distributed DoS attack floods a server with traffic until legitimate users cannot reach it. Cloudflare reported blocking 47.1 million DDoS attacks in 2025, more than double the year before, including a record 31.4 terabit-per-second attack. The business impact is direct financial loss: ITIC's 2024 survey found that a single hour of downtime costs more than 300,000 dollars for over 90 percent of mid-size and large enterprises. A recent example is the August 2026 attack on the Threema messaging service, which was unavailable or only partly available for an evening and the next morning; the attacks also targeted its colocation partner, Nine. In the NSL-KDD dataset I used, DoS is the largest attack family, about 36% of the training connections.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follows the workflow in Chapter 5 of Parisi's Hands-On Artificial Intelligence for Cybersecurity, Network Anomaly Detection with AI. I loaded 125,973 labelled connections, checked for missing values, duplicates and impossible values, dropped one constant column, and one-hot encoded the text fields, giving 121 features. I then trained a Random Forest, an ensemble of 200 decision trees that each see a random sample of the data and vote. Chapter 5 contrasts two approaches to network intrusion detection. Supervised classification, which I used here, learns from labelled attacks. Anomaly detection, which I used in Modules 1 and 3, learns only what normal traffic looks like and flags anything unusual. The results on the next slides show why both are needed.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accuracy did my AI achieve? On a random 20 percent of the training file it reached 99.90% accuracy, with only 7 false alarms among 13,469 normal connections. That number is flattering, because the test connections come from the same attacks the model trained on. NSL-KDD's official test file contains 17 attack types that never appear in training, and there accuracy falls to 76.7%. New attack types were detected only 23% of the time, against 77% for known ones. The chart shows the drop for every family; DoS holds up best.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threats does it detect best? Denial of service. A flood is statistically loud: the median DoS connection is one of 172 connections to the same host in the previous two seconds, against 4 for normal traffic, and nearly all of them end in SYN errors because the attacker never completes the handshake. The Random Forest picks this up mainly through byte counts, the connection-status flag and connection-pattern features such as count and same-service rate, shown on the right. That is why DoS stayed the best-detected family on the official test set, at 78.9%.</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Which network activities are most dangerous? The ones the model misses. For our threat, the danger is new DoS variants: processtable and apache2 never appear in training, and most of them slipped through. Quieter attacks were missed too; the most-missed type overall was password guessing, and the R2L family was caught only 5.6% of the time. A supervised model only recognises what it was trained on. Chapter 5 suggests the mitigation: combine the classifier with anomaly detection, which models normal traffic and flags anything that departs from it, including attacks with no label.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could this help a real company in 2025? The current trend in DDoS defence is autonomous mitigation. Cloudflare reports blocking roughly 5,343 network-layer attacks per hour in the first half of 2026, with systems that detect and mitigate without human intervention, because an attack is usually over before an alert could reach an analyst. My detector fits that model for floods: DoS is its strongest family, so clear cases can be blocked automatically. But on the official test set it also flagged 2.7% of normal connections as attacks, and it missed most new attack types. So the responsible design automates only high-confidence decisions, sends uncertain ones to analysts, adds anomaly detection for the unknown, and retrains regularly.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first result looked like a finished project, but the official test set showed that the model only knew the attacks it had already seen. My anomaly detectors in Modules 1 and 3 had the opposite strengths, catching new behaviour but with more false alarms. The lesson I take into my career is that a detector should be judged by what it misses, and that the best systems combine automated speed with human judgement on uncertain cases.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References in APA 7th edition, including Chapter 5 of Parisi (2019) and recent Cloudflare threat reports.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48640" y="1417320"/>
            <a:ext cx="82296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1645920"/>
            <a:ext cx="10972800" cy="1554480"/>
          </a:xfrm>
          <a:prstGeom prst="rect">
            <a:avLst/>
          </a:prstGeom>
          <a:noFill/>
        </p:spPr>
        <p:txBody>
          <a:bodyPr wrap="square" lIns="0" rIns="0" tIns="0" bIns="0" anchor="t">
            <a:spAutoFit/>
          </a:bodyPr>
          <a:lstStyle/>
          <a:p>
            <a:pPr algn="l">
              <a:lnSpc>
                <a:spcPct val="100000"/>
              </a:lnSpc>
              <a:spcAft>
                <a:spcPts val="0"/>
              </a:spcAft>
            </a:pPr>
            <a:r>
              <a:rPr sz="4400" b="1" i="0">
                <a:solidFill>
                  <a:srgbClr val="FFFFFF"/>
                </a:solidFill>
                <a:latin typeface="Calibri"/>
              </a:rPr>
              <a:t>Catching Denial-of-Service Attacks</a:t>
            </a:r>
          </a:p>
          <a:p>
            <a:pPr algn="l">
              <a:lnSpc>
                <a:spcPct val="100000"/>
              </a:lnSpc>
              <a:spcAft>
                <a:spcPts val="0"/>
              </a:spcAft>
            </a:pPr>
            <a:r>
              <a:rPr sz="4400" b="1" i="0">
                <a:solidFill>
                  <a:srgbClr val="FFFFFF"/>
                </a:solidFill>
                <a:latin typeface="Calibri"/>
              </a:rPr>
              <a:t>With an AI Threat Detector</a:t>
            </a:r>
          </a:p>
        </p:txBody>
      </p:sp>
      <p:sp>
        <p:nvSpPr>
          <p:cNvPr id="5" name="TextBox 4"/>
          <p:cNvSpPr txBox="1"/>
          <p:nvPr/>
        </p:nvSpPr>
        <p:spPr>
          <a:xfrm>
            <a:off x="548640" y="3291840"/>
            <a:ext cx="10972800" cy="914400"/>
          </a:xfrm>
          <a:prstGeom prst="rect">
            <a:avLst/>
          </a:prstGeom>
          <a:noFill/>
        </p:spPr>
        <p:txBody>
          <a:bodyPr wrap="square" lIns="0" rIns="0" tIns="0" bIns="0" anchor="t">
            <a:spAutoFit/>
          </a:bodyPr>
          <a:lstStyle/>
          <a:p>
            <a:pPr algn="l">
              <a:lnSpc>
                <a:spcPct val="110000"/>
              </a:lnSpc>
              <a:spcAft>
                <a:spcPts val="600"/>
              </a:spcAft>
            </a:pPr>
            <a:r>
              <a:rPr sz="2100" b="0" i="0">
                <a:solidFill>
                  <a:srgbClr val="C9D3E0"/>
                </a:solidFill>
                <a:latin typeface="Calibri"/>
              </a:rPr>
              <a:t>A Random Forest ensemble trained on NSL-KDD network traffic: what it catches, what it misses, and how a 2025 company should use it</a:t>
            </a:r>
          </a:p>
        </p:txBody>
      </p:sp>
      <p:sp>
        <p:nvSpPr>
          <p:cNvPr id="6" name="TextBox 5"/>
          <p:cNvSpPr txBox="1"/>
          <p:nvPr/>
        </p:nvSpPr>
        <p:spPr>
          <a:xfrm>
            <a:off x="548640" y="4800600"/>
            <a:ext cx="10972800" cy="1280160"/>
          </a:xfrm>
          <a:prstGeom prst="rect">
            <a:avLst/>
          </a:prstGeom>
          <a:noFill/>
        </p:spPr>
        <p:txBody>
          <a:bodyPr wrap="square" lIns="0" rIns="0" tIns="0" bIns="0" anchor="t">
            <a:spAutoFit/>
          </a:bodyPr>
          <a:lstStyle/>
          <a:p>
            <a:pPr algn="l">
              <a:lnSpc>
                <a:spcPct val="110000"/>
              </a:lnSpc>
              <a:spcAft>
                <a:spcPts val="400"/>
              </a:spcAft>
            </a:pPr>
            <a:r>
              <a:rPr sz="1600" b="0" i="0">
                <a:solidFill>
                  <a:srgbClr val="C9D3E0"/>
                </a:solidFill>
                <a:latin typeface="Calibri"/>
              </a:rPr>
              <a:t>Ruthvik Nath Bandari</a:t>
            </a:r>
          </a:p>
          <a:p>
            <a:pPr algn="l">
              <a:lnSpc>
                <a:spcPct val="110000"/>
              </a:lnSpc>
              <a:spcAft>
                <a:spcPts val="400"/>
              </a:spcAft>
            </a:pPr>
            <a:r>
              <a:rPr sz="1600" b="0" i="0">
                <a:solidFill>
                  <a:srgbClr val="C9D3E0"/>
                </a:solidFill>
                <a:latin typeface="Calibri"/>
              </a:rPr>
              <a:t>AAI6680: AI for Cybersecurity · Northeastern University · Mimoza Dimodugno, PhD</a:t>
            </a:r>
          </a:p>
          <a:p>
            <a:pPr algn="l">
              <a:lnSpc>
                <a:spcPct val="110000"/>
              </a:lnSpc>
              <a:spcAft>
                <a:spcPts val="400"/>
              </a:spcAft>
            </a:pPr>
            <a:r>
              <a:rPr sz="1600" b="0" i="0">
                <a:solidFill>
                  <a:srgbClr val="C9D3E0"/>
                </a:solidFill>
                <a:latin typeface="Calibri"/>
              </a:rPr>
              <a:t>October 11,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1094415"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1F5FAD"/>
                </a:solidFill>
                <a:latin typeface="Calibri"/>
              </a:rPr>
              <a:t>THE THREAT AND ITS IMPACT</a:t>
            </a:r>
          </a:p>
        </p:txBody>
      </p:sp>
      <p:sp>
        <p:nvSpPr>
          <p:cNvPr id="4" name="TextBox 3"/>
          <p:cNvSpPr txBox="1"/>
          <p:nvPr/>
        </p:nvSpPr>
        <p:spPr>
          <a:xfrm>
            <a:off x="548640" y="658368"/>
            <a:ext cx="11094415" cy="731520"/>
          </a:xfrm>
          <a:prstGeom prst="rect">
            <a:avLst/>
          </a:prstGeom>
          <a:noFill/>
        </p:spPr>
        <p:txBody>
          <a:bodyPr wrap="square" lIns="0" rIns="0" tIns="0" bIns="0" anchor="t">
            <a:spAutoFit/>
          </a:bodyPr>
          <a:lstStyle/>
          <a:p>
            <a:pPr algn="l">
              <a:lnSpc>
                <a:spcPct val="100000"/>
              </a:lnSpc>
              <a:spcAft>
                <a:spcPts val="600"/>
              </a:spcAft>
            </a:pPr>
            <a:r>
              <a:rPr sz="3000" b="1" i="0">
                <a:solidFill>
                  <a:srgbClr val="0F1B2D"/>
                </a:solidFill>
                <a:latin typeface="Calibri"/>
              </a:rPr>
              <a:t>The threat: denial-of-service floods that take businesses offline</a:t>
            </a:r>
          </a:p>
        </p:txBody>
      </p:sp>
      <p:sp>
        <p:nvSpPr>
          <p:cNvPr id="5" name="TextBox 4"/>
          <p:cNvSpPr txBox="1"/>
          <p:nvPr/>
        </p:nvSpPr>
        <p:spPr>
          <a:xfrm>
            <a:off x="548640" y="1691640"/>
            <a:ext cx="6400800" cy="4206240"/>
          </a:xfrm>
          <a:prstGeom prst="rect">
            <a:avLst/>
          </a:prstGeom>
          <a:noFill/>
        </p:spPr>
        <p:txBody>
          <a:bodyPr wrap="square" lIns="0" rIns="0" tIns="0" bIns="0">
            <a:spAutoFit/>
          </a:bodyPr>
          <a:lstStyle/>
          <a:p>
            <a:pPr marL="256032" indent="-256032">
              <a:lnSpc>
                <a:spcPct val="110000"/>
              </a:lnSpc>
              <a:spcAft>
                <a:spcPts val="1400"/>
              </a:spcAft>
              <a:buClr>
                <a:srgbClr val="1F5FAD"/>
              </a:buClr>
              <a:buFont typeface="Arial"/>
              <a:buChar char="■"/>
            </a:pPr>
            <a:r>
              <a:rPr sz="1700" b="1" i="0">
                <a:solidFill>
                  <a:srgbClr val="1F2937"/>
                </a:solidFill>
                <a:latin typeface="Calibri"/>
              </a:rPr>
              <a:t>What it is:</a:t>
            </a:r>
            <a:r>
              <a:rPr sz="1700" b="0" i="0">
                <a:solidFill>
                  <a:srgbClr val="1F2937"/>
                </a:solidFill>
                <a:latin typeface="Calibri"/>
              </a:rPr>
              <a:t> a flood of traffic that overwhelms a server so real customers cannot get in.</a:t>
            </a:r>
          </a:p>
          <a:p>
            <a:pPr marL="256032" indent="-256032">
              <a:lnSpc>
                <a:spcPct val="110000"/>
              </a:lnSpc>
              <a:spcAft>
                <a:spcPts val="1400"/>
              </a:spcAft>
              <a:buClr>
                <a:srgbClr val="1F5FAD"/>
              </a:buClr>
              <a:buFont typeface="Arial"/>
              <a:buChar char="■"/>
            </a:pPr>
            <a:r>
              <a:rPr sz="1700" b="1" i="0">
                <a:solidFill>
                  <a:srgbClr val="1F2937"/>
                </a:solidFill>
                <a:latin typeface="Calibri"/>
              </a:rPr>
              <a:t>Scale:</a:t>
            </a:r>
            <a:r>
              <a:rPr sz="1700" b="0" i="0">
                <a:solidFill>
                  <a:srgbClr val="1F2937"/>
                </a:solidFill>
                <a:latin typeface="Calibri"/>
              </a:rPr>
              <a:t> Cloudflare blocked </a:t>
            </a:r>
            <a:r>
              <a:rPr sz="1700" b="1" i="0">
                <a:solidFill>
                  <a:srgbClr val="1F2937"/>
                </a:solidFill>
                <a:latin typeface="Calibri"/>
              </a:rPr>
              <a:t>47.1 million</a:t>
            </a:r>
            <a:r>
              <a:rPr sz="1700" b="0" i="0">
                <a:solidFill>
                  <a:srgbClr val="1F2937"/>
                </a:solidFill>
                <a:latin typeface="Calibri"/>
              </a:rPr>
              <a:t> DDoS attacks in 2025, more than double 2024; the largest reached </a:t>
            </a:r>
            <a:r>
              <a:rPr sz="1700" b="1" i="0">
                <a:solidFill>
                  <a:srgbClr val="1F2937"/>
                </a:solidFill>
                <a:latin typeface="Calibri"/>
              </a:rPr>
              <a:t>31.4 Tbps</a:t>
            </a:r>
            <a:r>
              <a:rPr sz="1700" b="0" i="0">
                <a:solidFill>
                  <a:srgbClr val="1F2937"/>
                </a:solidFill>
                <a:latin typeface="Calibri"/>
              </a:rPr>
              <a:t>.</a:t>
            </a:r>
          </a:p>
          <a:p>
            <a:pPr marL="256032" indent="-256032">
              <a:lnSpc>
                <a:spcPct val="110000"/>
              </a:lnSpc>
              <a:spcAft>
                <a:spcPts val="1400"/>
              </a:spcAft>
              <a:buClr>
                <a:srgbClr val="1F5FAD"/>
              </a:buClr>
              <a:buFont typeface="Arial"/>
              <a:buChar char="■"/>
            </a:pPr>
            <a:r>
              <a:rPr sz="1700" b="1" i="0">
                <a:solidFill>
                  <a:srgbClr val="1F2937"/>
                </a:solidFill>
                <a:latin typeface="Calibri"/>
              </a:rPr>
              <a:t>Financial impact:</a:t>
            </a:r>
            <a:r>
              <a:rPr sz="1700" b="0" i="0">
                <a:solidFill>
                  <a:srgbClr val="1F2937"/>
                </a:solidFill>
                <a:latin typeface="Calibri"/>
              </a:rPr>
              <a:t> an hour of downtime costs </a:t>
            </a:r>
            <a:r>
              <a:rPr sz="1700" b="1" i="0">
                <a:solidFill>
                  <a:srgbClr val="1F2937"/>
                </a:solidFill>
                <a:latin typeface="Calibri"/>
              </a:rPr>
              <a:t>over $300,000</a:t>
            </a:r>
            <a:r>
              <a:rPr sz="1700" b="0" i="0">
                <a:solidFill>
                  <a:srgbClr val="1F2937"/>
                </a:solidFill>
                <a:latin typeface="Calibri"/>
              </a:rPr>
              <a:t> for more than 90% of mid-size and large firms.</a:t>
            </a:r>
          </a:p>
          <a:p>
            <a:pPr marL="256032" indent="-256032">
              <a:lnSpc>
                <a:spcPct val="110000"/>
              </a:lnSpc>
              <a:spcAft>
                <a:spcPts val="1400"/>
              </a:spcAft>
              <a:buClr>
                <a:srgbClr val="1F5FAD"/>
              </a:buClr>
              <a:buFont typeface="Arial"/>
              <a:buChar char="■"/>
            </a:pPr>
            <a:r>
              <a:rPr sz="1700" b="1" i="0">
                <a:solidFill>
                  <a:srgbClr val="1F2937"/>
                </a:solidFill>
                <a:latin typeface="Calibri"/>
              </a:rPr>
              <a:t>In the data:</a:t>
            </a:r>
            <a:r>
              <a:rPr sz="1700" b="0" i="0">
                <a:solidFill>
                  <a:srgbClr val="1F2937"/>
                </a:solidFill>
                <a:latin typeface="Calibri"/>
              </a:rPr>
              <a:t> DoS is </a:t>
            </a:r>
            <a:r>
              <a:rPr sz="1700" b="1" i="0">
                <a:solidFill>
                  <a:srgbClr val="1F2937"/>
                </a:solidFill>
                <a:latin typeface="Calibri"/>
              </a:rPr>
              <a:t>36%</a:t>
            </a:r>
            <a:r>
              <a:rPr sz="1700" b="0" i="0">
                <a:solidFill>
                  <a:srgbClr val="1F2937"/>
                </a:solidFill>
                <a:latin typeface="Calibri"/>
              </a:rPr>
              <a:t> of NSL-KDD training traffic, the largest attack family.</a:t>
            </a:r>
          </a:p>
        </p:txBody>
      </p:sp>
      <p:sp>
        <p:nvSpPr>
          <p:cNvPr id="6" name="Rounded Rectangle 5"/>
          <p:cNvSpPr/>
          <p:nvPr/>
        </p:nvSpPr>
        <p:spPr>
          <a:xfrm>
            <a:off x="7498079" y="1691640"/>
            <a:ext cx="4160520" cy="251460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498079" y="1691640"/>
            <a:ext cx="4160520" cy="8229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0" y="1965960"/>
            <a:ext cx="3657600" cy="274320"/>
          </a:xfrm>
          <a:prstGeom prst="rect">
            <a:avLst/>
          </a:prstGeom>
          <a:noFill/>
        </p:spPr>
        <p:txBody>
          <a:bodyPr wrap="square" lIns="0" rIns="0" tIns="0" bIns="0" anchor="t">
            <a:spAutoFit/>
          </a:bodyPr>
          <a:lstStyle/>
          <a:p>
            <a:pPr algn="l">
              <a:lnSpc>
                <a:spcPct val="110000"/>
              </a:lnSpc>
              <a:spcAft>
                <a:spcPts val="0"/>
              </a:spcAft>
            </a:pPr>
            <a:r>
              <a:rPr sz="1200" b="1" i="0">
                <a:solidFill>
                  <a:srgbClr val="C0392B"/>
                </a:solidFill>
                <a:latin typeface="Calibri"/>
              </a:rPr>
              <a:t>RECENT EXAMPLE</a:t>
            </a:r>
          </a:p>
        </p:txBody>
      </p:sp>
      <p:sp>
        <p:nvSpPr>
          <p:cNvPr id="9" name="TextBox 8"/>
          <p:cNvSpPr txBox="1"/>
          <p:nvPr/>
        </p:nvSpPr>
        <p:spPr>
          <a:xfrm>
            <a:off x="7772400" y="2331720"/>
            <a:ext cx="3657600" cy="3383280"/>
          </a:xfrm>
          <a:prstGeom prst="rect">
            <a:avLst/>
          </a:prstGeom>
          <a:noFill/>
        </p:spPr>
        <p:txBody>
          <a:bodyPr wrap="square" lIns="0" rIns="0" tIns="0" bIns="0" anchor="t">
            <a:spAutoFit/>
          </a:bodyPr>
          <a:lstStyle/>
          <a:p>
            <a:pPr algn="l">
              <a:lnSpc>
                <a:spcPct val="110000"/>
              </a:lnSpc>
              <a:spcAft>
                <a:spcPts val="1200"/>
              </a:spcAft>
            </a:pPr>
            <a:r>
              <a:rPr sz="1500" b="1" i="0">
                <a:solidFill>
                  <a:srgbClr val="1F2937"/>
                </a:solidFill>
                <a:latin typeface="Calibri"/>
              </a:rPr>
              <a:t>Threema, August 2026.</a:t>
            </a:r>
            <a:r>
              <a:rPr sz="1500" b="0" i="0">
                <a:solidFill>
                  <a:srgbClr val="1F2937"/>
                </a:solidFill>
                <a:latin typeface="Calibri"/>
              </a:rPr>
              <a:t> DDoS attacks left the messaging service unavailable or only partly available for an evening and the next morning, and also targeted its colocation partner, Nine.</a:t>
            </a:r>
          </a:p>
        </p:txBody>
      </p:sp>
      <p:cxnSp>
        <p:nvCxnSpPr>
          <p:cNvPr id="10" name="Connector 9"/>
          <p:cNvCxnSpPr/>
          <p:nvPr/>
        </p:nvCxnSpPr>
        <p:spPr>
          <a:xfrm>
            <a:off x="548640" y="6355080"/>
            <a:ext cx="11094415"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48640" y="6446520"/>
            <a:ext cx="10545775" cy="274320"/>
          </a:xfrm>
          <a:prstGeom prst="rect">
            <a:avLst/>
          </a:prstGeom>
          <a:noFill/>
        </p:spPr>
        <p:txBody>
          <a:bodyPr wrap="square" lIns="0" rIns="0" tIns="0" bIns="0" anchor="t">
            <a:spAutoFit/>
          </a:bodyPr>
          <a:lstStyle/>
          <a:p>
            <a:pPr algn="l">
              <a:lnSpc>
                <a:spcPct val="110000"/>
              </a:lnSpc>
              <a:spcAft>
                <a:spcPts val="600"/>
              </a:spcAft>
            </a:pPr>
            <a:r>
              <a:rPr sz="1000" b="0" i="0">
                <a:solidFill>
                  <a:srgbClr val="5B6472"/>
                </a:solidFill>
                <a:latin typeface="Calibri"/>
              </a:rPr>
              <a:t>Sources: Yoachimik et al. (2026); DiDio (2024); Ilascu (2026); Tavallaee et al. (2009).</a:t>
            </a:r>
          </a:p>
        </p:txBody>
      </p:sp>
      <p:sp>
        <p:nvSpPr>
          <p:cNvPr id="12" name="TextBox 11"/>
          <p:cNvSpPr txBox="1"/>
          <p:nvPr/>
        </p:nvSpPr>
        <p:spPr>
          <a:xfrm>
            <a:off x="11185855" y="6446520"/>
            <a:ext cx="45720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5B6472"/>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1094415"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1F5FAD"/>
                </a:solidFill>
                <a:latin typeface="Calibri"/>
              </a:rPr>
              <a:t>APPROACH</a:t>
            </a:r>
          </a:p>
        </p:txBody>
      </p:sp>
      <p:sp>
        <p:nvSpPr>
          <p:cNvPr id="4" name="TextBox 3"/>
          <p:cNvSpPr txBox="1"/>
          <p:nvPr/>
        </p:nvSpPr>
        <p:spPr>
          <a:xfrm>
            <a:off x="548640" y="658368"/>
            <a:ext cx="11094415" cy="731520"/>
          </a:xfrm>
          <a:prstGeom prst="rect">
            <a:avLst/>
          </a:prstGeom>
          <a:noFill/>
        </p:spPr>
        <p:txBody>
          <a:bodyPr wrap="square" lIns="0" rIns="0" tIns="0" bIns="0" anchor="t">
            <a:spAutoFit/>
          </a:bodyPr>
          <a:lstStyle/>
          <a:p>
            <a:pPr algn="l">
              <a:lnSpc>
                <a:spcPct val="100000"/>
              </a:lnSpc>
              <a:spcAft>
                <a:spcPts val="600"/>
              </a:spcAft>
            </a:pPr>
            <a:r>
              <a:rPr sz="3000" b="1" i="0">
                <a:solidFill>
                  <a:srgbClr val="0F1B2D"/>
                </a:solidFill>
                <a:latin typeface="Calibri"/>
              </a:rPr>
              <a:t>Applying Chapter 5: network anomaly detection with AI</a:t>
            </a:r>
          </a:p>
        </p:txBody>
      </p:sp>
      <p:sp>
        <p:nvSpPr>
          <p:cNvPr id="5" name="Rounded Rectangle 4"/>
          <p:cNvSpPr/>
          <p:nvPr/>
        </p:nvSpPr>
        <p:spPr>
          <a:xfrm>
            <a:off x="548640" y="1783080"/>
            <a:ext cx="2606040" cy="141732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1947672"/>
            <a:ext cx="2240280" cy="365760"/>
          </a:xfrm>
          <a:prstGeom prst="rect">
            <a:avLst/>
          </a:prstGeom>
          <a:noFill/>
        </p:spPr>
        <p:txBody>
          <a:bodyPr wrap="square" lIns="0" rIns="0" tIns="0" bIns="0" anchor="t">
            <a:spAutoFit/>
          </a:bodyPr>
          <a:lstStyle/>
          <a:p>
            <a:pPr algn="l">
              <a:lnSpc>
                <a:spcPct val="110000"/>
              </a:lnSpc>
              <a:spcAft>
                <a:spcPts val="0"/>
              </a:spcAft>
            </a:pPr>
            <a:r>
              <a:rPr sz="1700" b="1" i="0">
                <a:solidFill>
                  <a:srgbClr val="1F5FAD"/>
                </a:solidFill>
                <a:latin typeface="Calibri"/>
              </a:rPr>
              <a:t>1  Load</a:t>
            </a:r>
          </a:p>
        </p:txBody>
      </p:sp>
      <p:sp>
        <p:nvSpPr>
          <p:cNvPr id="7" name="TextBox 6"/>
          <p:cNvSpPr txBox="1"/>
          <p:nvPr/>
        </p:nvSpPr>
        <p:spPr>
          <a:xfrm>
            <a:off x="731520" y="2350008"/>
            <a:ext cx="2240280" cy="822960"/>
          </a:xfrm>
          <a:prstGeom prst="rect">
            <a:avLst/>
          </a:prstGeom>
          <a:noFill/>
        </p:spPr>
        <p:txBody>
          <a:bodyPr wrap="square" lIns="0" rIns="0" tIns="0" bIns="0" anchor="t">
            <a:spAutoFit/>
          </a:bodyPr>
          <a:lstStyle/>
          <a:p>
            <a:pPr algn="l">
              <a:lnSpc>
                <a:spcPct val="110000"/>
              </a:lnSpc>
              <a:spcAft>
                <a:spcPts val="0"/>
              </a:spcAft>
            </a:pPr>
            <a:r>
              <a:rPr sz="1350" b="0" i="0">
                <a:solidFill>
                  <a:srgbClr val="1F2937"/>
                </a:solidFill>
                <a:latin typeface="Calibri"/>
              </a:rPr>
              <a:t>125,973 labelled connections (NSL-KDD)</a:t>
            </a:r>
          </a:p>
        </p:txBody>
      </p:sp>
      <p:sp>
        <p:nvSpPr>
          <p:cNvPr id="8" name="TextBox 7"/>
          <p:cNvSpPr txBox="1"/>
          <p:nvPr/>
        </p:nvSpPr>
        <p:spPr>
          <a:xfrm>
            <a:off x="3172968" y="2240280"/>
            <a:ext cx="228600" cy="457200"/>
          </a:xfrm>
          <a:prstGeom prst="rect">
            <a:avLst/>
          </a:prstGeom>
          <a:noFill/>
        </p:spPr>
        <p:txBody>
          <a:bodyPr wrap="square" lIns="0" rIns="0" tIns="0" bIns="0" anchor="t">
            <a:spAutoFit/>
          </a:bodyPr>
          <a:lstStyle/>
          <a:p>
            <a:pPr algn="ctr">
              <a:lnSpc>
                <a:spcPct val="110000"/>
              </a:lnSpc>
              <a:spcAft>
                <a:spcPts val="600"/>
              </a:spcAft>
            </a:pPr>
            <a:r>
              <a:rPr sz="2600" b="0" i="0">
                <a:solidFill>
                  <a:srgbClr val="9AA3AF"/>
                </a:solidFill>
                <a:latin typeface="Calibri"/>
              </a:rPr>
              <a:t>›</a:t>
            </a:r>
          </a:p>
        </p:txBody>
      </p:sp>
      <p:sp>
        <p:nvSpPr>
          <p:cNvPr id="9" name="Rounded Rectangle 8"/>
          <p:cNvSpPr/>
          <p:nvPr/>
        </p:nvSpPr>
        <p:spPr>
          <a:xfrm>
            <a:off x="3401568" y="1783080"/>
            <a:ext cx="2606040" cy="141732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584448" y="1947672"/>
            <a:ext cx="2240280" cy="365760"/>
          </a:xfrm>
          <a:prstGeom prst="rect">
            <a:avLst/>
          </a:prstGeom>
          <a:noFill/>
        </p:spPr>
        <p:txBody>
          <a:bodyPr wrap="square" lIns="0" rIns="0" tIns="0" bIns="0" anchor="t">
            <a:spAutoFit/>
          </a:bodyPr>
          <a:lstStyle/>
          <a:p>
            <a:pPr algn="l">
              <a:lnSpc>
                <a:spcPct val="110000"/>
              </a:lnSpc>
              <a:spcAft>
                <a:spcPts val="0"/>
              </a:spcAft>
            </a:pPr>
            <a:r>
              <a:rPr sz="1700" b="1" i="0">
                <a:solidFill>
                  <a:srgbClr val="1F5FAD"/>
                </a:solidFill>
                <a:latin typeface="Calibri"/>
              </a:rPr>
              <a:t>2  Clean</a:t>
            </a:r>
          </a:p>
        </p:txBody>
      </p:sp>
      <p:sp>
        <p:nvSpPr>
          <p:cNvPr id="11" name="TextBox 10"/>
          <p:cNvSpPr txBox="1"/>
          <p:nvPr/>
        </p:nvSpPr>
        <p:spPr>
          <a:xfrm>
            <a:off x="3584448" y="2350008"/>
            <a:ext cx="2240280" cy="822960"/>
          </a:xfrm>
          <a:prstGeom prst="rect">
            <a:avLst/>
          </a:prstGeom>
          <a:noFill/>
        </p:spPr>
        <p:txBody>
          <a:bodyPr wrap="square" lIns="0" rIns="0" tIns="0" bIns="0" anchor="t">
            <a:spAutoFit/>
          </a:bodyPr>
          <a:lstStyle/>
          <a:p>
            <a:pPr algn="l">
              <a:lnSpc>
                <a:spcPct val="110000"/>
              </a:lnSpc>
              <a:spcAft>
                <a:spcPts val="0"/>
              </a:spcAft>
            </a:pPr>
            <a:r>
              <a:rPr sz="1350" b="0" i="0">
                <a:solidFill>
                  <a:srgbClr val="1F2937"/>
                </a:solidFill>
                <a:latin typeface="Calibri"/>
              </a:rPr>
              <a:t>No missing or duplicate rows; constant column dropped; 121 features</a:t>
            </a:r>
          </a:p>
        </p:txBody>
      </p:sp>
      <p:sp>
        <p:nvSpPr>
          <p:cNvPr id="12" name="TextBox 11"/>
          <p:cNvSpPr txBox="1"/>
          <p:nvPr/>
        </p:nvSpPr>
        <p:spPr>
          <a:xfrm>
            <a:off x="6025896" y="2240280"/>
            <a:ext cx="228600" cy="457200"/>
          </a:xfrm>
          <a:prstGeom prst="rect">
            <a:avLst/>
          </a:prstGeom>
          <a:noFill/>
        </p:spPr>
        <p:txBody>
          <a:bodyPr wrap="square" lIns="0" rIns="0" tIns="0" bIns="0" anchor="t">
            <a:spAutoFit/>
          </a:bodyPr>
          <a:lstStyle/>
          <a:p>
            <a:pPr algn="ctr">
              <a:lnSpc>
                <a:spcPct val="110000"/>
              </a:lnSpc>
              <a:spcAft>
                <a:spcPts val="600"/>
              </a:spcAft>
            </a:pPr>
            <a:r>
              <a:rPr sz="2600" b="0" i="0">
                <a:solidFill>
                  <a:srgbClr val="9AA3AF"/>
                </a:solidFill>
                <a:latin typeface="Calibri"/>
              </a:rPr>
              <a:t>›</a:t>
            </a:r>
          </a:p>
        </p:txBody>
      </p:sp>
      <p:sp>
        <p:nvSpPr>
          <p:cNvPr id="13" name="Rounded Rectangle 12"/>
          <p:cNvSpPr/>
          <p:nvPr/>
        </p:nvSpPr>
        <p:spPr>
          <a:xfrm>
            <a:off x="6254496" y="1783080"/>
            <a:ext cx="2606040" cy="141732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7376" y="1947672"/>
            <a:ext cx="2240280" cy="365760"/>
          </a:xfrm>
          <a:prstGeom prst="rect">
            <a:avLst/>
          </a:prstGeom>
          <a:noFill/>
        </p:spPr>
        <p:txBody>
          <a:bodyPr wrap="square" lIns="0" rIns="0" tIns="0" bIns="0" anchor="t">
            <a:spAutoFit/>
          </a:bodyPr>
          <a:lstStyle/>
          <a:p>
            <a:pPr algn="l">
              <a:lnSpc>
                <a:spcPct val="110000"/>
              </a:lnSpc>
              <a:spcAft>
                <a:spcPts val="0"/>
              </a:spcAft>
            </a:pPr>
            <a:r>
              <a:rPr sz="1700" b="1" i="0">
                <a:solidFill>
                  <a:srgbClr val="1F5FAD"/>
                </a:solidFill>
                <a:latin typeface="Calibri"/>
              </a:rPr>
              <a:t>3  Train</a:t>
            </a:r>
          </a:p>
        </p:txBody>
      </p:sp>
      <p:sp>
        <p:nvSpPr>
          <p:cNvPr id="15" name="TextBox 14"/>
          <p:cNvSpPr txBox="1"/>
          <p:nvPr/>
        </p:nvSpPr>
        <p:spPr>
          <a:xfrm>
            <a:off x="6437376" y="2350008"/>
            <a:ext cx="2240280" cy="822960"/>
          </a:xfrm>
          <a:prstGeom prst="rect">
            <a:avLst/>
          </a:prstGeom>
          <a:noFill/>
        </p:spPr>
        <p:txBody>
          <a:bodyPr wrap="square" lIns="0" rIns="0" tIns="0" bIns="0" anchor="t">
            <a:spAutoFit/>
          </a:bodyPr>
          <a:lstStyle/>
          <a:p>
            <a:pPr algn="l">
              <a:lnSpc>
                <a:spcPct val="110000"/>
              </a:lnSpc>
              <a:spcAft>
                <a:spcPts val="0"/>
              </a:spcAft>
            </a:pPr>
            <a:r>
              <a:rPr sz="1350" b="0" i="0">
                <a:solidFill>
                  <a:srgbClr val="1F2937"/>
                </a:solidFill>
                <a:latin typeface="Calibri"/>
              </a:rPr>
              <a:t>Random Forest: 200 decision trees vote on each connection</a:t>
            </a:r>
          </a:p>
        </p:txBody>
      </p:sp>
      <p:sp>
        <p:nvSpPr>
          <p:cNvPr id="16" name="TextBox 15"/>
          <p:cNvSpPr txBox="1"/>
          <p:nvPr/>
        </p:nvSpPr>
        <p:spPr>
          <a:xfrm>
            <a:off x="8878824" y="2240280"/>
            <a:ext cx="228600" cy="457200"/>
          </a:xfrm>
          <a:prstGeom prst="rect">
            <a:avLst/>
          </a:prstGeom>
          <a:noFill/>
        </p:spPr>
        <p:txBody>
          <a:bodyPr wrap="square" lIns="0" rIns="0" tIns="0" bIns="0" anchor="t">
            <a:spAutoFit/>
          </a:bodyPr>
          <a:lstStyle/>
          <a:p>
            <a:pPr algn="ctr">
              <a:lnSpc>
                <a:spcPct val="110000"/>
              </a:lnSpc>
              <a:spcAft>
                <a:spcPts val="600"/>
              </a:spcAft>
            </a:pPr>
            <a:r>
              <a:rPr sz="2600" b="0" i="0">
                <a:solidFill>
                  <a:srgbClr val="9AA3AF"/>
                </a:solidFill>
                <a:latin typeface="Calibri"/>
              </a:rPr>
              <a:t>›</a:t>
            </a:r>
          </a:p>
        </p:txBody>
      </p:sp>
      <p:sp>
        <p:nvSpPr>
          <p:cNvPr id="17" name="Rounded Rectangle 16"/>
          <p:cNvSpPr/>
          <p:nvPr/>
        </p:nvSpPr>
        <p:spPr>
          <a:xfrm>
            <a:off x="9107424" y="1783080"/>
            <a:ext cx="2606040" cy="141732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290303" y="1947672"/>
            <a:ext cx="2240280" cy="365760"/>
          </a:xfrm>
          <a:prstGeom prst="rect">
            <a:avLst/>
          </a:prstGeom>
          <a:noFill/>
        </p:spPr>
        <p:txBody>
          <a:bodyPr wrap="square" lIns="0" rIns="0" tIns="0" bIns="0" anchor="t">
            <a:spAutoFit/>
          </a:bodyPr>
          <a:lstStyle/>
          <a:p>
            <a:pPr algn="l">
              <a:lnSpc>
                <a:spcPct val="110000"/>
              </a:lnSpc>
              <a:spcAft>
                <a:spcPts val="0"/>
              </a:spcAft>
            </a:pPr>
            <a:r>
              <a:rPr sz="1700" b="1" i="0">
                <a:solidFill>
                  <a:srgbClr val="1F5FAD"/>
                </a:solidFill>
                <a:latin typeface="Calibri"/>
              </a:rPr>
              <a:t>4  Test</a:t>
            </a:r>
          </a:p>
        </p:txBody>
      </p:sp>
      <p:sp>
        <p:nvSpPr>
          <p:cNvPr id="19" name="TextBox 18"/>
          <p:cNvSpPr txBox="1"/>
          <p:nvPr/>
        </p:nvSpPr>
        <p:spPr>
          <a:xfrm>
            <a:off x="9290303" y="2350008"/>
            <a:ext cx="2240280" cy="822960"/>
          </a:xfrm>
          <a:prstGeom prst="rect">
            <a:avLst/>
          </a:prstGeom>
          <a:noFill/>
        </p:spPr>
        <p:txBody>
          <a:bodyPr wrap="square" lIns="0" rIns="0" tIns="0" bIns="0" anchor="t">
            <a:spAutoFit/>
          </a:bodyPr>
          <a:lstStyle/>
          <a:p>
            <a:pPr algn="l">
              <a:lnSpc>
                <a:spcPct val="110000"/>
              </a:lnSpc>
              <a:spcAft>
                <a:spcPts val="0"/>
              </a:spcAft>
            </a:pPr>
            <a:r>
              <a:rPr sz="1350" b="0" i="0">
                <a:solidFill>
                  <a:srgbClr val="1F2937"/>
                </a:solidFill>
                <a:latin typeface="Calibri"/>
              </a:rPr>
              <a:t>80/20 split, then the official test file with new attacks</a:t>
            </a:r>
          </a:p>
        </p:txBody>
      </p:sp>
      <p:sp>
        <p:nvSpPr>
          <p:cNvPr id="20" name="TextBox 19"/>
          <p:cNvSpPr txBox="1"/>
          <p:nvPr/>
        </p:nvSpPr>
        <p:spPr>
          <a:xfrm>
            <a:off x="548640" y="3520440"/>
            <a:ext cx="5486400" cy="274320"/>
          </a:xfrm>
          <a:prstGeom prst="rect">
            <a:avLst/>
          </a:prstGeom>
          <a:noFill/>
        </p:spPr>
        <p:txBody>
          <a:bodyPr wrap="square" lIns="0" rIns="0" tIns="0" bIns="0" anchor="t">
            <a:spAutoFit/>
          </a:bodyPr>
          <a:lstStyle/>
          <a:p>
            <a:pPr algn="l">
              <a:lnSpc>
                <a:spcPct val="110000"/>
              </a:lnSpc>
              <a:spcAft>
                <a:spcPts val="0"/>
              </a:spcAft>
            </a:pPr>
            <a:r>
              <a:rPr sz="1200" b="1" i="0">
                <a:solidFill>
                  <a:srgbClr val="1E846F"/>
                </a:solidFill>
                <a:latin typeface="Calibri"/>
              </a:rPr>
              <a:t>TWO CHAPTER 5 APPROACHES</a:t>
            </a:r>
          </a:p>
        </p:txBody>
      </p:sp>
      <p:sp>
        <p:nvSpPr>
          <p:cNvPr id="21" name="TextBox 20"/>
          <p:cNvSpPr txBox="1"/>
          <p:nvPr/>
        </p:nvSpPr>
        <p:spPr>
          <a:xfrm>
            <a:off x="548640" y="3886200"/>
            <a:ext cx="5486400" cy="2103120"/>
          </a:xfrm>
          <a:prstGeom prst="rect">
            <a:avLst/>
          </a:prstGeom>
          <a:noFill/>
        </p:spPr>
        <p:txBody>
          <a:bodyPr wrap="square" lIns="0" rIns="0" tIns="0" bIns="0">
            <a:spAutoFit/>
          </a:bodyPr>
          <a:lstStyle/>
          <a:p>
            <a:pPr marL="256032" indent="-256032">
              <a:lnSpc>
                <a:spcPct val="110000"/>
              </a:lnSpc>
              <a:spcAft>
                <a:spcPts val="1000"/>
              </a:spcAft>
              <a:buClr>
                <a:srgbClr val="1E846F"/>
              </a:buClr>
              <a:buFont typeface="Arial"/>
              <a:buChar char="■"/>
            </a:pPr>
            <a:r>
              <a:rPr sz="1500" b="1" i="0">
                <a:solidFill>
                  <a:srgbClr val="1F2937"/>
                </a:solidFill>
                <a:latin typeface="Calibri"/>
              </a:rPr>
              <a:t>Supervised classification</a:t>
            </a:r>
            <a:r>
              <a:rPr sz="1500" b="0" i="0">
                <a:solidFill>
                  <a:srgbClr val="1F2937"/>
                </a:solidFill>
                <a:latin typeface="Calibri"/>
              </a:rPr>
              <a:t> (this project): learns labelled attacks; excellent on known threats.</a:t>
            </a:r>
          </a:p>
          <a:p>
            <a:pPr marL="256032" indent="-256032">
              <a:lnSpc>
                <a:spcPct val="110000"/>
              </a:lnSpc>
              <a:spcAft>
                <a:spcPts val="1000"/>
              </a:spcAft>
              <a:buClr>
                <a:srgbClr val="1E846F"/>
              </a:buClr>
              <a:buFont typeface="Arial"/>
              <a:buChar char="■"/>
            </a:pPr>
            <a:r>
              <a:rPr sz="1500" b="1" i="0">
                <a:solidFill>
                  <a:srgbClr val="1F2937"/>
                </a:solidFill>
                <a:latin typeface="Calibri"/>
              </a:rPr>
              <a:t>Anomaly detection</a:t>
            </a:r>
            <a:r>
              <a:rPr sz="1500" b="0" i="0">
                <a:solidFill>
                  <a:srgbClr val="1F2937"/>
                </a:solidFill>
                <a:latin typeface="Calibri"/>
              </a:rPr>
              <a:t> (Modules 1 and 3): learns normal traffic only; flags anything unusual, including new attacks.</a:t>
            </a:r>
          </a:p>
        </p:txBody>
      </p:sp>
      <p:sp>
        <p:nvSpPr>
          <p:cNvPr id="22" name="TextBox 21"/>
          <p:cNvSpPr txBox="1"/>
          <p:nvPr/>
        </p:nvSpPr>
        <p:spPr>
          <a:xfrm>
            <a:off x="6400800" y="3520440"/>
            <a:ext cx="5257800" cy="274320"/>
          </a:xfrm>
          <a:prstGeom prst="rect">
            <a:avLst/>
          </a:prstGeom>
          <a:noFill/>
        </p:spPr>
        <p:txBody>
          <a:bodyPr wrap="square" lIns="0" rIns="0" tIns="0" bIns="0" anchor="t">
            <a:spAutoFit/>
          </a:bodyPr>
          <a:lstStyle/>
          <a:p>
            <a:pPr algn="l">
              <a:lnSpc>
                <a:spcPct val="110000"/>
              </a:lnSpc>
              <a:spcAft>
                <a:spcPts val="0"/>
              </a:spcAft>
            </a:pPr>
            <a:r>
              <a:rPr sz="1200" b="1" i="0">
                <a:solidFill>
                  <a:srgbClr val="1F5FAD"/>
                </a:solidFill>
                <a:latin typeface="Calibri"/>
              </a:rPr>
              <a:t>WHY A RANDOM FOREST</a:t>
            </a:r>
          </a:p>
        </p:txBody>
      </p:sp>
      <p:sp>
        <p:nvSpPr>
          <p:cNvPr id="23" name="TextBox 22"/>
          <p:cNvSpPr txBox="1"/>
          <p:nvPr/>
        </p:nvSpPr>
        <p:spPr>
          <a:xfrm>
            <a:off x="6400800" y="3886200"/>
            <a:ext cx="5257800" cy="2103120"/>
          </a:xfrm>
          <a:prstGeom prst="rect">
            <a:avLst/>
          </a:prstGeom>
          <a:noFill/>
        </p:spPr>
        <p:txBody>
          <a:bodyPr wrap="square" lIns="0" rIns="0" tIns="0" bIns="0">
            <a:spAutoFit/>
          </a:bodyPr>
          <a:lstStyle/>
          <a:p>
            <a:pPr marL="256032" indent="-256032">
              <a:lnSpc>
                <a:spcPct val="110000"/>
              </a:lnSpc>
              <a:spcAft>
                <a:spcPts val="1000"/>
              </a:spcAft>
              <a:buClr>
                <a:srgbClr val="1F5FAD"/>
              </a:buClr>
              <a:buFont typeface="Arial"/>
              <a:buChar char="■"/>
            </a:pPr>
            <a:r>
              <a:rPr sz="1500" b="0" i="0">
                <a:solidFill>
                  <a:srgbClr val="1F2937"/>
                </a:solidFill>
                <a:latin typeface="Calibri"/>
              </a:rPr>
              <a:t>An </a:t>
            </a:r>
            <a:r>
              <a:rPr sz="1500" b="1" i="0">
                <a:solidFill>
                  <a:srgbClr val="1F2937"/>
                </a:solidFill>
                <a:latin typeface="Calibri"/>
              </a:rPr>
              <a:t>ensemble</a:t>
            </a:r>
            <a:r>
              <a:rPr sz="1500" b="0" i="0">
                <a:solidFill>
                  <a:srgbClr val="1F2937"/>
                </a:solidFill>
                <a:latin typeface="Calibri"/>
              </a:rPr>
              <a:t> of many trees is more accurate and stable than one tree, and it shows </a:t>
            </a:r>
            <a:r>
              <a:rPr sz="1500" b="1" i="0">
                <a:solidFill>
                  <a:srgbClr val="1F2937"/>
                </a:solidFill>
                <a:latin typeface="Calibri"/>
              </a:rPr>
              <a:t>which features</a:t>
            </a:r>
            <a:r>
              <a:rPr sz="1500" b="0" i="0">
                <a:solidFill>
                  <a:srgbClr val="1F2937"/>
                </a:solidFill>
                <a:latin typeface="Calibri"/>
              </a:rPr>
              <a:t> drive decisions.</a:t>
            </a:r>
          </a:p>
        </p:txBody>
      </p:sp>
      <p:cxnSp>
        <p:nvCxnSpPr>
          <p:cNvPr id="24" name="Connector 23"/>
          <p:cNvCxnSpPr/>
          <p:nvPr/>
        </p:nvCxnSpPr>
        <p:spPr>
          <a:xfrm>
            <a:off x="548640" y="6355080"/>
            <a:ext cx="11094415"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48640" y="6446520"/>
            <a:ext cx="10545775" cy="274320"/>
          </a:xfrm>
          <a:prstGeom prst="rect">
            <a:avLst/>
          </a:prstGeom>
          <a:noFill/>
        </p:spPr>
        <p:txBody>
          <a:bodyPr wrap="square" lIns="0" rIns="0" tIns="0" bIns="0" anchor="t">
            <a:spAutoFit/>
          </a:bodyPr>
          <a:lstStyle/>
          <a:p>
            <a:pPr algn="l">
              <a:lnSpc>
                <a:spcPct val="110000"/>
              </a:lnSpc>
              <a:spcAft>
                <a:spcPts val="600"/>
              </a:spcAft>
            </a:pPr>
            <a:r>
              <a:rPr sz="1000" b="0" i="0">
                <a:solidFill>
                  <a:srgbClr val="5B6472"/>
                </a:solidFill>
                <a:latin typeface="Calibri"/>
              </a:rPr>
              <a:t>Sources: Parisi (2019, Chapter 5); Tavallaee et al. (2009).</a:t>
            </a:r>
          </a:p>
        </p:txBody>
      </p:sp>
      <p:sp>
        <p:nvSpPr>
          <p:cNvPr id="26" name="TextBox 25"/>
          <p:cNvSpPr txBox="1"/>
          <p:nvPr/>
        </p:nvSpPr>
        <p:spPr>
          <a:xfrm>
            <a:off x="11185855" y="6446520"/>
            <a:ext cx="45720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5B6472"/>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1094415"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1F5FAD"/>
                </a:solidFill>
                <a:latin typeface="Calibri"/>
              </a:rPr>
              <a:t>RESULTS · Q1: ACCURACY</a:t>
            </a:r>
          </a:p>
        </p:txBody>
      </p:sp>
      <p:sp>
        <p:nvSpPr>
          <p:cNvPr id="4" name="TextBox 3"/>
          <p:cNvSpPr txBox="1"/>
          <p:nvPr/>
        </p:nvSpPr>
        <p:spPr>
          <a:xfrm>
            <a:off x="548640" y="658368"/>
            <a:ext cx="11094415" cy="731520"/>
          </a:xfrm>
          <a:prstGeom prst="rect">
            <a:avLst/>
          </a:prstGeom>
          <a:noFill/>
        </p:spPr>
        <p:txBody>
          <a:bodyPr wrap="square" lIns="0" rIns="0" tIns="0" bIns="0" anchor="t">
            <a:spAutoFit/>
          </a:bodyPr>
          <a:lstStyle/>
          <a:p>
            <a:pPr algn="l">
              <a:lnSpc>
                <a:spcPct val="100000"/>
              </a:lnSpc>
              <a:spcAft>
                <a:spcPts val="600"/>
              </a:spcAft>
            </a:pPr>
            <a:r>
              <a:rPr sz="3000" b="1" i="0">
                <a:solidFill>
                  <a:srgbClr val="0F1B2D"/>
                </a:solidFill>
                <a:latin typeface="Calibri"/>
              </a:rPr>
              <a:t>99.90% accurate on familiar traffic, 76.7% with new attacks</a:t>
            </a:r>
          </a:p>
        </p:txBody>
      </p:sp>
      <p:sp>
        <p:nvSpPr>
          <p:cNvPr id="5" name="TextBox 4"/>
          <p:cNvSpPr txBox="1"/>
          <p:nvPr/>
        </p:nvSpPr>
        <p:spPr>
          <a:xfrm>
            <a:off x="548640" y="1783080"/>
            <a:ext cx="4023360" cy="4114800"/>
          </a:xfrm>
          <a:prstGeom prst="rect">
            <a:avLst/>
          </a:prstGeom>
          <a:noFill/>
        </p:spPr>
        <p:txBody>
          <a:bodyPr wrap="square" lIns="0" rIns="0" tIns="0" bIns="0">
            <a:spAutoFit/>
          </a:bodyPr>
          <a:lstStyle/>
          <a:p>
            <a:pPr marL="256032" indent="-256032">
              <a:lnSpc>
                <a:spcPct val="110000"/>
              </a:lnSpc>
              <a:spcAft>
                <a:spcPts val="1600"/>
              </a:spcAft>
              <a:buClr>
                <a:srgbClr val="1F5FAD"/>
              </a:buClr>
              <a:buFont typeface="Arial"/>
              <a:buChar char="■"/>
            </a:pPr>
            <a:r>
              <a:rPr sz="1600" b="1" i="0">
                <a:solidFill>
                  <a:srgbClr val="1F2937"/>
                </a:solidFill>
                <a:latin typeface="Calibri"/>
              </a:rPr>
              <a:t>Held-out split:</a:t>
            </a:r>
            <a:r>
              <a:rPr sz="1600" b="0" i="0">
                <a:solidFill>
                  <a:srgbClr val="1F2937"/>
                </a:solidFill>
                <a:latin typeface="Calibri"/>
              </a:rPr>
              <a:t> 99.90% accuracy, 7 false alarms in 13,469 normal connections.</a:t>
            </a:r>
          </a:p>
          <a:p>
            <a:pPr marL="256032" indent="-256032">
              <a:lnSpc>
                <a:spcPct val="110000"/>
              </a:lnSpc>
              <a:spcAft>
                <a:spcPts val="1600"/>
              </a:spcAft>
              <a:buClr>
                <a:srgbClr val="1F5FAD"/>
              </a:buClr>
              <a:buFont typeface="Arial"/>
              <a:buChar char="■"/>
            </a:pPr>
            <a:r>
              <a:rPr sz="1600" b="1" i="0">
                <a:solidFill>
                  <a:srgbClr val="1F2937"/>
                </a:solidFill>
                <a:latin typeface="Calibri"/>
              </a:rPr>
              <a:t>Official test set</a:t>
            </a:r>
            <a:r>
              <a:rPr sz="1600" b="0" i="0">
                <a:solidFill>
                  <a:srgbClr val="1F2937"/>
                </a:solidFill>
                <a:latin typeface="Calibri"/>
              </a:rPr>
              <a:t> (17 unseen attack types): 76.7% accuracy overall.</a:t>
            </a:r>
          </a:p>
          <a:p>
            <a:pPr marL="256032" indent="-256032">
              <a:lnSpc>
                <a:spcPct val="110000"/>
              </a:lnSpc>
              <a:spcAft>
                <a:spcPts val="1600"/>
              </a:spcAft>
              <a:buClr>
                <a:srgbClr val="1F5FAD"/>
              </a:buClr>
              <a:buFont typeface="Arial"/>
              <a:buChar char="■"/>
            </a:pPr>
            <a:r>
              <a:rPr sz="1600" b="1" i="0">
                <a:solidFill>
                  <a:srgbClr val="1F2937"/>
                </a:solidFill>
                <a:latin typeface="Calibri"/>
              </a:rPr>
              <a:t>New attack types</a:t>
            </a:r>
            <a:r>
              <a:rPr sz="1600" b="0" i="0">
                <a:solidFill>
                  <a:srgbClr val="1F2937"/>
                </a:solidFill>
                <a:latin typeface="Calibri"/>
              </a:rPr>
              <a:t> caught only 23% of the time, against 77% for known ones.</a:t>
            </a:r>
          </a:p>
        </p:txBody>
      </p:sp>
      <p:graphicFrame>
        <p:nvGraphicFramePr>
          <p:cNvPr id="6" name="Chart 5"/>
          <p:cNvGraphicFramePr>
            <a:graphicFrameLocks noGrp="1"/>
          </p:cNvGraphicFramePr>
          <p:nvPr/>
        </p:nvGraphicFramePr>
        <p:xfrm>
          <a:off x="4846320" y="1600200"/>
          <a:ext cx="6812280" cy="4434840"/>
        </p:xfrm>
        <a:graphic>
          <a:graphicData uri="http://schemas.openxmlformats.org/drawingml/2006/chart">
            <c:chart xmlns:c="http://schemas.openxmlformats.org/drawingml/2006/chart" r:id="rId2"/>
          </a:graphicData>
        </a:graphic>
      </p:graphicFrame>
      <p:cxnSp>
        <p:nvCxnSpPr>
          <p:cNvPr id="7" name="Connector 6"/>
          <p:cNvCxnSpPr/>
          <p:nvPr/>
        </p:nvCxnSpPr>
        <p:spPr>
          <a:xfrm>
            <a:off x="548640" y="6355080"/>
            <a:ext cx="11094415"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6446520"/>
            <a:ext cx="10545775" cy="274320"/>
          </a:xfrm>
          <a:prstGeom prst="rect">
            <a:avLst/>
          </a:prstGeom>
          <a:noFill/>
        </p:spPr>
        <p:txBody>
          <a:bodyPr wrap="square" lIns="0" rIns="0" tIns="0" bIns="0" anchor="t">
            <a:spAutoFit/>
          </a:bodyPr>
          <a:lstStyle/>
          <a:p>
            <a:pPr algn="l">
              <a:lnSpc>
                <a:spcPct val="110000"/>
              </a:lnSpc>
              <a:spcAft>
                <a:spcPts val="600"/>
              </a:spcAft>
            </a:pPr>
            <a:r>
              <a:rPr sz="1000" b="0" i="0">
                <a:solidFill>
                  <a:srgbClr val="5B6472"/>
                </a:solidFill>
                <a:latin typeface="Calibri"/>
              </a:rPr>
              <a:t>Source: author's analysis of NSL-KDD (Tavallaee et al., 2009). Held-out U2R bar rests on only 6 connections.</a:t>
            </a:r>
          </a:p>
        </p:txBody>
      </p:sp>
      <p:sp>
        <p:nvSpPr>
          <p:cNvPr id="9" name="TextBox 8"/>
          <p:cNvSpPr txBox="1"/>
          <p:nvPr/>
        </p:nvSpPr>
        <p:spPr>
          <a:xfrm>
            <a:off x="11185855" y="6446520"/>
            <a:ext cx="45720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5B6472"/>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1094415"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1F5FAD"/>
                </a:solidFill>
                <a:latin typeface="Calibri"/>
              </a:rPr>
              <a:t>RESULTS · Q2: THREATS DETECTED BEST</a:t>
            </a:r>
          </a:p>
        </p:txBody>
      </p:sp>
      <p:sp>
        <p:nvSpPr>
          <p:cNvPr id="4" name="TextBox 3"/>
          <p:cNvSpPr txBox="1"/>
          <p:nvPr/>
        </p:nvSpPr>
        <p:spPr>
          <a:xfrm>
            <a:off x="548640" y="658368"/>
            <a:ext cx="11094415" cy="731520"/>
          </a:xfrm>
          <a:prstGeom prst="rect">
            <a:avLst/>
          </a:prstGeom>
          <a:noFill/>
        </p:spPr>
        <p:txBody>
          <a:bodyPr wrap="square" lIns="0" rIns="0" tIns="0" bIns="0" anchor="t">
            <a:spAutoFit/>
          </a:bodyPr>
          <a:lstStyle/>
          <a:p>
            <a:pPr algn="l">
              <a:lnSpc>
                <a:spcPct val="100000"/>
              </a:lnSpc>
              <a:spcAft>
                <a:spcPts val="600"/>
              </a:spcAft>
            </a:pPr>
            <a:r>
              <a:rPr sz="3000" b="1" i="0">
                <a:solidFill>
                  <a:srgbClr val="0F1B2D"/>
                </a:solidFill>
                <a:latin typeface="Calibri"/>
              </a:rPr>
              <a:t>Why floods are easy to catch: they look nothing like normal traffic</a:t>
            </a:r>
          </a:p>
        </p:txBody>
      </p:sp>
      <p:sp>
        <p:nvSpPr>
          <p:cNvPr id="5" name="TextBox 4"/>
          <p:cNvSpPr txBox="1"/>
          <p:nvPr/>
        </p:nvSpPr>
        <p:spPr>
          <a:xfrm>
            <a:off x="548640" y="1691640"/>
            <a:ext cx="5120640" cy="274320"/>
          </a:xfrm>
          <a:prstGeom prst="rect">
            <a:avLst/>
          </a:prstGeom>
          <a:noFill/>
        </p:spPr>
        <p:txBody>
          <a:bodyPr wrap="square" lIns="0" rIns="0" tIns="0" bIns="0" anchor="t">
            <a:spAutoFit/>
          </a:bodyPr>
          <a:lstStyle/>
          <a:p>
            <a:pPr algn="l">
              <a:lnSpc>
                <a:spcPct val="110000"/>
              </a:lnSpc>
              <a:spcAft>
                <a:spcPts val="0"/>
              </a:spcAft>
            </a:pPr>
            <a:r>
              <a:rPr sz="1200" b="1" i="0">
                <a:solidFill>
                  <a:srgbClr val="C0392B"/>
                </a:solidFill>
                <a:latin typeface="Calibri"/>
              </a:rPr>
              <a:t>DOS VS NORMAL (MEDIAN PER CONNECTION)</a:t>
            </a:r>
          </a:p>
        </p:txBody>
      </p:sp>
      <p:sp>
        <p:nvSpPr>
          <p:cNvPr id="6" name="TextBox 5"/>
          <p:cNvSpPr txBox="1"/>
          <p:nvPr/>
        </p:nvSpPr>
        <p:spPr>
          <a:xfrm>
            <a:off x="548640" y="2103120"/>
            <a:ext cx="3017520" cy="457200"/>
          </a:xfrm>
          <a:prstGeom prst="rect">
            <a:avLst/>
          </a:prstGeom>
          <a:noFill/>
        </p:spPr>
        <p:txBody>
          <a:bodyPr wrap="square" lIns="0" rIns="0" tIns="0" bIns="0" anchor="t">
            <a:spAutoFit/>
          </a:bodyPr>
          <a:lstStyle/>
          <a:p>
            <a:pPr algn="l">
              <a:lnSpc>
                <a:spcPct val="110000"/>
              </a:lnSpc>
              <a:spcAft>
                <a:spcPts val="600"/>
              </a:spcAft>
            </a:pPr>
          </a:p>
        </p:txBody>
      </p:sp>
      <p:sp>
        <p:nvSpPr>
          <p:cNvPr id="7" name="TextBox 6"/>
          <p:cNvSpPr txBox="1"/>
          <p:nvPr/>
        </p:nvSpPr>
        <p:spPr>
          <a:xfrm>
            <a:off x="3657600" y="2103120"/>
            <a:ext cx="1005840" cy="457200"/>
          </a:xfrm>
          <a:prstGeom prst="rect">
            <a:avLst/>
          </a:prstGeom>
          <a:noFill/>
        </p:spPr>
        <p:txBody>
          <a:bodyPr wrap="square" lIns="0" rIns="0" tIns="0" bIns="0" anchor="t">
            <a:spAutoFit/>
          </a:bodyPr>
          <a:lstStyle/>
          <a:p>
            <a:pPr algn="r">
              <a:lnSpc>
                <a:spcPct val="110000"/>
              </a:lnSpc>
              <a:spcAft>
                <a:spcPts val="600"/>
              </a:spcAft>
            </a:pPr>
            <a:r>
              <a:rPr sz="1500" b="1" i="0">
                <a:solidFill>
                  <a:srgbClr val="5B6472"/>
                </a:solidFill>
                <a:latin typeface="Calibri"/>
              </a:rPr>
              <a:t>DoS</a:t>
            </a:r>
          </a:p>
        </p:txBody>
      </p:sp>
      <p:sp>
        <p:nvSpPr>
          <p:cNvPr id="8" name="TextBox 7"/>
          <p:cNvSpPr txBox="1"/>
          <p:nvPr/>
        </p:nvSpPr>
        <p:spPr>
          <a:xfrm>
            <a:off x="4754879" y="2103120"/>
            <a:ext cx="1005840" cy="457200"/>
          </a:xfrm>
          <a:prstGeom prst="rect">
            <a:avLst/>
          </a:prstGeom>
          <a:noFill/>
        </p:spPr>
        <p:txBody>
          <a:bodyPr wrap="square" lIns="0" rIns="0" tIns="0" bIns="0" anchor="t">
            <a:spAutoFit/>
          </a:bodyPr>
          <a:lstStyle/>
          <a:p>
            <a:pPr algn="r">
              <a:lnSpc>
                <a:spcPct val="110000"/>
              </a:lnSpc>
              <a:spcAft>
                <a:spcPts val="600"/>
              </a:spcAft>
            </a:pPr>
            <a:r>
              <a:rPr sz="1500" b="1" i="0">
                <a:solidFill>
                  <a:srgbClr val="5B6472"/>
                </a:solidFill>
                <a:latin typeface="Calibri"/>
              </a:rPr>
              <a:t>Normal</a:t>
            </a:r>
          </a:p>
        </p:txBody>
      </p:sp>
      <p:sp>
        <p:nvSpPr>
          <p:cNvPr id="9" name="TextBox 8"/>
          <p:cNvSpPr txBox="1"/>
          <p:nvPr/>
        </p:nvSpPr>
        <p:spPr>
          <a:xfrm>
            <a:off x="548640" y="2670048"/>
            <a:ext cx="3017520" cy="457200"/>
          </a:xfrm>
          <a:prstGeom prst="rect">
            <a:avLst/>
          </a:prstGeom>
          <a:noFill/>
        </p:spPr>
        <p:txBody>
          <a:bodyPr wrap="square" lIns="0" rIns="0" tIns="0" bIns="0" anchor="t">
            <a:spAutoFit/>
          </a:bodyPr>
          <a:lstStyle/>
          <a:p>
            <a:pPr algn="l">
              <a:lnSpc>
                <a:spcPct val="110000"/>
              </a:lnSpc>
              <a:spcAft>
                <a:spcPts val="600"/>
              </a:spcAft>
            </a:pPr>
            <a:r>
              <a:rPr sz="1500" b="0" i="0">
                <a:solidFill>
                  <a:srgbClr val="5B6472"/>
                </a:solidFill>
                <a:latin typeface="Calibri"/>
              </a:rPr>
              <a:t>Connections to same host in 2 s</a:t>
            </a:r>
          </a:p>
        </p:txBody>
      </p:sp>
      <p:sp>
        <p:nvSpPr>
          <p:cNvPr id="10" name="TextBox 9"/>
          <p:cNvSpPr txBox="1"/>
          <p:nvPr/>
        </p:nvSpPr>
        <p:spPr>
          <a:xfrm>
            <a:off x="3657600" y="2670048"/>
            <a:ext cx="1005840" cy="457200"/>
          </a:xfrm>
          <a:prstGeom prst="rect">
            <a:avLst/>
          </a:prstGeom>
          <a:noFill/>
        </p:spPr>
        <p:txBody>
          <a:bodyPr wrap="square" lIns="0" rIns="0" tIns="0" bIns="0" anchor="t">
            <a:spAutoFit/>
          </a:bodyPr>
          <a:lstStyle/>
          <a:p>
            <a:pPr algn="r">
              <a:lnSpc>
                <a:spcPct val="110000"/>
              </a:lnSpc>
              <a:spcAft>
                <a:spcPts val="600"/>
              </a:spcAft>
            </a:pPr>
            <a:r>
              <a:rPr sz="1500" b="1" i="0">
                <a:solidFill>
                  <a:srgbClr val="C0392B"/>
                </a:solidFill>
                <a:latin typeface="Calibri"/>
              </a:rPr>
              <a:t>172</a:t>
            </a:r>
          </a:p>
        </p:txBody>
      </p:sp>
      <p:sp>
        <p:nvSpPr>
          <p:cNvPr id="11" name="TextBox 10"/>
          <p:cNvSpPr txBox="1"/>
          <p:nvPr/>
        </p:nvSpPr>
        <p:spPr>
          <a:xfrm>
            <a:off x="4754879" y="2670048"/>
            <a:ext cx="1005840" cy="457200"/>
          </a:xfrm>
          <a:prstGeom prst="rect">
            <a:avLst/>
          </a:prstGeom>
          <a:noFill/>
        </p:spPr>
        <p:txBody>
          <a:bodyPr wrap="square" lIns="0" rIns="0" tIns="0" bIns="0" anchor="t">
            <a:spAutoFit/>
          </a:bodyPr>
          <a:lstStyle/>
          <a:p>
            <a:pPr algn="r">
              <a:lnSpc>
                <a:spcPct val="110000"/>
              </a:lnSpc>
              <a:spcAft>
                <a:spcPts val="600"/>
              </a:spcAft>
            </a:pPr>
            <a:r>
              <a:rPr sz="1500" b="0" i="0">
                <a:solidFill>
                  <a:srgbClr val="1F2937"/>
                </a:solidFill>
                <a:latin typeface="Calibri"/>
              </a:rPr>
              <a:t>4</a:t>
            </a:r>
          </a:p>
        </p:txBody>
      </p:sp>
      <p:cxnSp>
        <p:nvCxnSpPr>
          <p:cNvPr id="12" name="Connector 11"/>
          <p:cNvCxnSpPr/>
          <p:nvPr/>
        </p:nvCxnSpPr>
        <p:spPr>
          <a:xfrm>
            <a:off x="548640" y="3145536"/>
            <a:ext cx="5212080"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48640" y="3236976"/>
            <a:ext cx="3017520" cy="457200"/>
          </a:xfrm>
          <a:prstGeom prst="rect">
            <a:avLst/>
          </a:prstGeom>
          <a:noFill/>
        </p:spPr>
        <p:txBody>
          <a:bodyPr wrap="square" lIns="0" rIns="0" tIns="0" bIns="0" anchor="t">
            <a:spAutoFit/>
          </a:bodyPr>
          <a:lstStyle/>
          <a:p>
            <a:pPr algn="l">
              <a:lnSpc>
                <a:spcPct val="110000"/>
              </a:lnSpc>
              <a:spcAft>
                <a:spcPts val="600"/>
              </a:spcAft>
            </a:pPr>
            <a:r>
              <a:rPr sz="1500" b="0" i="0">
                <a:solidFill>
                  <a:srgbClr val="5B6472"/>
                </a:solidFill>
                <a:latin typeface="Calibri"/>
              </a:rPr>
              <a:t>Share with SYN errors</a:t>
            </a:r>
          </a:p>
        </p:txBody>
      </p:sp>
      <p:sp>
        <p:nvSpPr>
          <p:cNvPr id="14" name="TextBox 13"/>
          <p:cNvSpPr txBox="1"/>
          <p:nvPr/>
        </p:nvSpPr>
        <p:spPr>
          <a:xfrm>
            <a:off x="3657600" y="3236976"/>
            <a:ext cx="1005840" cy="457200"/>
          </a:xfrm>
          <a:prstGeom prst="rect">
            <a:avLst/>
          </a:prstGeom>
          <a:noFill/>
        </p:spPr>
        <p:txBody>
          <a:bodyPr wrap="square" lIns="0" rIns="0" tIns="0" bIns="0" anchor="t">
            <a:spAutoFit/>
          </a:bodyPr>
          <a:lstStyle/>
          <a:p>
            <a:pPr algn="r">
              <a:lnSpc>
                <a:spcPct val="110000"/>
              </a:lnSpc>
              <a:spcAft>
                <a:spcPts val="600"/>
              </a:spcAft>
            </a:pPr>
            <a:r>
              <a:rPr sz="1500" b="1" i="0">
                <a:solidFill>
                  <a:srgbClr val="C0392B"/>
                </a:solidFill>
                <a:latin typeface="Calibri"/>
              </a:rPr>
              <a:t>100%</a:t>
            </a:r>
          </a:p>
        </p:txBody>
      </p:sp>
      <p:sp>
        <p:nvSpPr>
          <p:cNvPr id="15" name="TextBox 14"/>
          <p:cNvSpPr txBox="1"/>
          <p:nvPr/>
        </p:nvSpPr>
        <p:spPr>
          <a:xfrm>
            <a:off x="4754879" y="3236976"/>
            <a:ext cx="1005840" cy="457200"/>
          </a:xfrm>
          <a:prstGeom prst="rect">
            <a:avLst/>
          </a:prstGeom>
          <a:noFill/>
        </p:spPr>
        <p:txBody>
          <a:bodyPr wrap="square" lIns="0" rIns="0" tIns="0" bIns="0" anchor="t">
            <a:spAutoFit/>
          </a:bodyPr>
          <a:lstStyle/>
          <a:p>
            <a:pPr algn="r">
              <a:lnSpc>
                <a:spcPct val="110000"/>
              </a:lnSpc>
              <a:spcAft>
                <a:spcPts val="600"/>
              </a:spcAft>
            </a:pPr>
            <a:r>
              <a:rPr sz="1500" b="0" i="0">
                <a:solidFill>
                  <a:srgbClr val="1F2937"/>
                </a:solidFill>
                <a:latin typeface="Calibri"/>
              </a:rPr>
              <a:t>0%</a:t>
            </a:r>
          </a:p>
        </p:txBody>
      </p:sp>
      <p:cxnSp>
        <p:nvCxnSpPr>
          <p:cNvPr id="16" name="Connector 15"/>
          <p:cNvCxnSpPr/>
          <p:nvPr/>
        </p:nvCxnSpPr>
        <p:spPr>
          <a:xfrm>
            <a:off x="548640" y="3712464"/>
            <a:ext cx="5212080"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3803904"/>
            <a:ext cx="3017520" cy="457200"/>
          </a:xfrm>
          <a:prstGeom prst="rect">
            <a:avLst/>
          </a:prstGeom>
          <a:noFill/>
        </p:spPr>
        <p:txBody>
          <a:bodyPr wrap="square" lIns="0" rIns="0" tIns="0" bIns="0" anchor="t">
            <a:spAutoFit/>
          </a:bodyPr>
          <a:lstStyle/>
          <a:p>
            <a:pPr algn="l">
              <a:lnSpc>
                <a:spcPct val="110000"/>
              </a:lnSpc>
              <a:spcAft>
                <a:spcPts val="600"/>
              </a:spcAft>
            </a:pPr>
            <a:r>
              <a:rPr sz="1500" b="0" i="0">
                <a:solidFill>
                  <a:srgbClr val="5B6472"/>
                </a:solidFill>
                <a:latin typeface="Calibri"/>
              </a:rPr>
              <a:t>Share to the same service</a:t>
            </a:r>
          </a:p>
        </p:txBody>
      </p:sp>
      <p:sp>
        <p:nvSpPr>
          <p:cNvPr id="18" name="TextBox 17"/>
          <p:cNvSpPr txBox="1"/>
          <p:nvPr/>
        </p:nvSpPr>
        <p:spPr>
          <a:xfrm>
            <a:off x="3657600" y="3803904"/>
            <a:ext cx="1005840" cy="457200"/>
          </a:xfrm>
          <a:prstGeom prst="rect">
            <a:avLst/>
          </a:prstGeom>
          <a:noFill/>
        </p:spPr>
        <p:txBody>
          <a:bodyPr wrap="square" lIns="0" rIns="0" tIns="0" bIns="0" anchor="t">
            <a:spAutoFit/>
          </a:bodyPr>
          <a:lstStyle/>
          <a:p>
            <a:pPr algn="r">
              <a:lnSpc>
                <a:spcPct val="110000"/>
              </a:lnSpc>
              <a:spcAft>
                <a:spcPts val="600"/>
              </a:spcAft>
            </a:pPr>
            <a:r>
              <a:rPr sz="1500" b="1" i="0">
                <a:solidFill>
                  <a:srgbClr val="C0392B"/>
                </a:solidFill>
                <a:latin typeface="Calibri"/>
              </a:rPr>
              <a:t>7%</a:t>
            </a:r>
          </a:p>
        </p:txBody>
      </p:sp>
      <p:sp>
        <p:nvSpPr>
          <p:cNvPr id="19" name="TextBox 18"/>
          <p:cNvSpPr txBox="1"/>
          <p:nvPr/>
        </p:nvSpPr>
        <p:spPr>
          <a:xfrm>
            <a:off x="4754879" y="3803904"/>
            <a:ext cx="1005840" cy="457200"/>
          </a:xfrm>
          <a:prstGeom prst="rect">
            <a:avLst/>
          </a:prstGeom>
          <a:noFill/>
        </p:spPr>
        <p:txBody>
          <a:bodyPr wrap="square" lIns="0" rIns="0" tIns="0" bIns="0" anchor="t">
            <a:spAutoFit/>
          </a:bodyPr>
          <a:lstStyle/>
          <a:p>
            <a:pPr algn="r">
              <a:lnSpc>
                <a:spcPct val="110000"/>
              </a:lnSpc>
              <a:spcAft>
                <a:spcPts val="600"/>
              </a:spcAft>
            </a:pPr>
            <a:r>
              <a:rPr sz="1500" b="0" i="0">
                <a:solidFill>
                  <a:srgbClr val="1F2937"/>
                </a:solidFill>
                <a:latin typeface="Calibri"/>
              </a:rPr>
              <a:t>100%</a:t>
            </a:r>
          </a:p>
        </p:txBody>
      </p:sp>
      <p:cxnSp>
        <p:nvCxnSpPr>
          <p:cNvPr id="20" name="Connector 19"/>
          <p:cNvCxnSpPr/>
          <p:nvPr/>
        </p:nvCxnSpPr>
        <p:spPr>
          <a:xfrm>
            <a:off x="548640" y="4279392"/>
            <a:ext cx="5212080"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48640" y="4370831"/>
            <a:ext cx="3017520" cy="457200"/>
          </a:xfrm>
          <a:prstGeom prst="rect">
            <a:avLst/>
          </a:prstGeom>
          <a:noFill/>
        </p:spPr>
        <p:txBody>
          <a:bodyPr wrap="square" lIns="0" rIns="0" tIns="0" bIns="0" anchor="t">
            <a:spAutoFit/>
          </a:bodyPr>
          <a:lstStyle/>
          <a:p>
            <a:pPr algn="l">
              <a:lnSpc>
                <a:spcPct val="110000"/>
              </a:lnSpc>
              <a:spcAft>
                <a:spcPts val="600"/>
              </a:spcAft>
            </a:pPr>
            <a:r>
              <a:rPr sz="1500" b="0" i="0">
                <a:solidFill>
                  <a:srgbClr val="5B6472"/>
                </a:solidFill>
                <a:latin typeface="Calibri"/>
              </a:rPr>
              <a:t>Bytes sent by source</a:t>
            </a:r>
          </a:p>
        </p:txBody>
      </p:sp>
      <p:sp>
        <p:nvSpPr>
          <p:cNvPr id="22" name="TextBox 21"/>
          <p:cNvSpPr txBox="1"/>
          <p:nvPr/>
        </p:nvSpPr>
        <p:spPr>
          <a:xfrm>
            <a:off x="3657600" y="4370831"/>
            <a:ext cx="1005840" cy="457200"/>
          </a:xfrm>
          <a:prstGeom prst="rect">
            <a:avLst/>
          </a:prstGeom>
          <a:noFill/>
        </p:spPr>
        <p:txBody>
          <a:bodyPr wrap="square" lIns="0" rIns="0" tIns="0" bIns="0" anchor="t">
            <a:spAutoFit/>
          </a:bodyPr>
          <a:lstStyle/>
          <a:p>
            <a:pPr algn="r">
              <a:lnSpc>
                <a:spcPct val="110000"/>
              </a:lnSpc>
              <a:spcAft>
                <a:spcPts val="600"/>
              </a:spcAft>
            </a:pPr>
            <a:r>
              <a:rPr sz="1500" b="1" i="0">
                <a:solidFill>
                  <a:srgbClr val="C0392B"/>
                </a:solidFill>
                <a:latin typeface="Calibri"/>
              </a:rPr>
              <a:t>0</a:t>
            </a:r>
          </a:p>
        </p:txBody>
      </p:sp>
      <p:sp>
        <p:nvSpPr>
          <p:cNvPr id="23" name="TextBox 22"/>
          <p:cNvSpPr txBox="1"/>
          <p:nvPr/>
        </p:nvSpPr>
        <p:spPr>
          <a:xfrm>
            <a:off x="4754879" y="4370831"/>
            <a:ext cx="1005840" cy="457200"/>
          </a:xfrm>
          <a:prstGeom prst="rect">
            <a:avLst/>
          </a:prstGeom>
          <a:noFill/>
        </p:spPr>
        <p:txBody>
          <a:bodyPr wrap="square" lIns="0" rIns="0" tIns="0" bIns="0" anchor="t">
            <a:spAutoFit/>
          </a:bodyPr>
          <a:lstStyle/>
          <a:p>
            <a:pPr algn="r">
              <a:lnSpc>
                <a:spcPct val="110000"/>
              </a:lnSpc>
              <a:spcAft>
                <a:spcPts val="600"/>
              </a:spcAft>
            </a:pPr>
            <a:r>
              <a:rPr sz="1500" b="0" i="0">
                <a:solidFill>
                  <a:srgbClr val="1F2937"/>
                </a:solidFill>
                <a:latin typeface="Calibri"/>
              </a:rPr>
              <a:t>233</a:t>
            </a:r>
          </a:p>
        </p:txBody>
      </p:sp>
      <p:cxnSp>
        <p:nvCxnSpPr>
          <p:cNvPr id="24" name="Connector 23"/>
          <p:cNvCxnSpPr/>
          <p:nvPr/>
        </p:nvCxnSpPr>
        <p:spPr>
          <a:xfrm>
            <a:off x="548640" y="4846319"/>
            <a:ext cx="5212080"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48640" y="5074920"/>
            <a:ext cx="5212080" cy="822960"/>
          </a:xfrm>
          <a:prstGeom prst="rect">
            <a:avLst/>
          </a:prstGeom>
          <a:noFill/>
        </p:spPr>
        <p:txBody>
          <a:bodyPr wrap="square" lIns="0" rIns="0" tIns="0" bIns="0" anchor="t">
            <a:spAutoFit/>
          </a:bodyPr>
          <a:lstStyle/>
          <a:p>
            <a:pPr algn="l">
              <a:lnSpc>
                <a:spcPct val="110000"/>
              </a:lnSpc>
              <a:spcAft>
                <a:spcPts val="600"/>
              </a:spcAft>
            </a:pPr>
            <a:r>
              <a:rPr sz="1500" b="1" i="0">
                <a:solidFill>
                  <a:srgbClr val="1F2937"/>
                </a:solidFill>
                <a:latin typeface="Calibri"/>
              </a:rPr>
              <a:t>DoS was detected 78.9% of the time on the official test set, the best of any family.</a:t>
            </a:r>
          </a:p>
        </p:txBody>
      </p:sp>
      <p:graphicFrame>
        <p:nvGraphicFramePr>
          <p:cNvPr id="26" name="Chart 25"/>
          <p:cNvGraphicFramePr>
            <a:graphicFrameLocks noGrp="1"/>
          </p:cNvGraphicFramePr>
          <p:nvPr/>
        </p:nvGraphicFramePr>
        <p:xfrm>
          <a:off x="6172200" y="1600200"/>
          <a:ext cx="5486400" cy="4023360"/>
        </p:xfrm>
        <a:graphic>
          <a:graphicData uri="http://schemas.openxmlformats.org/drawingml/2006/chart">
            <c:chart xmlns:c="http://schemas.openxmlformats.org/drawingml/2006/chart" r:id="rId2"/>
          </a:graphicData>
        </a:graphic>
      </p:graphicFrame>
      <p:sp>
        <p:nvSpPr>
          <p:cNvPr id="27" name="TextBox 26"/>
          <p:cNvSpPr txBox="1"/>
          <p:nvPr/>
        </p:nvSpPr>
        <p:spPr>
          <a:xfrm>
            <a:off x="6172200" y="5669280"/>
            <a:ext cx="5486400" cy="365760"/>
          </a:xfrm>
          <a:prstGeom prst="rect">
            <a:avLst/>
          </a:prstGeom>
          <a:noFill/>
        </p:spPr>
        <p:txBody>
          <a:bodyPr wrap="square" lIns="0" rIns="0" tIns="0" bIns="0" anchor="t">
            <a:spAutoFit/>
          </a:bodyPr>
          <a:lstStyle/>
          <a:p>
            <a:pPr algn="l">
              <a:lnSpc>
                <a:spcPct val="110000"/>
              </a:lnSpc>
              <a:spcAft>
                <a:spcPts val="600"/>
              </a:spcAft>
            </a:pPr>
            <a:r>
              <a:rPr sz="1200" b="0" i="1">
                <a:solidFill>
                  <a:srgbClr val="5B6472"/>
                </a:solidFill>
                <a:latin typeface="Calibri"/>
              </a:rPr>
              <a:t>Importance across all attacks: byte counts, connection status and traffic patterns separate floods.</a:t>
            </a:r>
          </a:p>
        </p:txBody>
      </p:sp>
      <p:cxnSp>
        <p:nvCxnSpPr>
          <p:cNvPr id="28" name="Connector 27"/>
          <p:cNvCxnSpPr/>
          <p:nvPr/>
        </p:nvCxnSpPr>
        <p:spPr>
          <a:xfrm>
            <a:off x="548640" y="6355080"/>
            <a:ext cx="11094415"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6446520"/>
            <a:ext cx="10545775" cy="274320"/>
          </a:xfrm>
          <a:prstGeom prst="rect">
            <a:avLst/>
          </a:prstGeom>
          <a:noFill/>
        </p:spPr>
        <p:txBody>
          <a:bodyPr wrap="square" lIns="0" rIns="0" tIns="0" bIns="0" anchor="t">
            <a:spAutoFit/>
          </a:bodyPr>
          <a:lstStyle/>
          <a:p>
            <a:pPr algn="l">
              <a:lnSpc>
                <a:spcPct val="110000"/>
              </a:lnSpc>
              <a:spcAft>
                <a:spcPts val="600"/>
              </a:spcAft>
            </a:pPr>
            <a:r>
              <a:rPr sz="1000" b="0" i="0">
                <a:solidFill>
                  <a:srgbClr val="5B6472"/>
                </a:solidFill>
                <a:latin typeface="Calibri"/>
              </a:rPr>
              <a:t>Sources: author's analysis; Parisi (2019, Chapter 5).</a:t>
            </a:r>
          </a:p>
        </p:txBody>
      </p:sp>
      <p:sp>
        <p:nvSpPr>
          <p:cNvPr id="30" name="TextBox 29"/>
          <p:cNvSpPr txBox="1"/>
          <p:nvPr/>
        </p:nvSpPr>
        <p:spPr>
          <a:xfrm>
            <a:off x="11185855" y="6446520"/>
            <a:ext cx="45720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5B6472"/>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1094415"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1F5FAD"/>
                </a:solidFill>
                <a:latin typeface="Calibri"/>
              </a:rPr>
              <a:t>TOP THREATS AND LIMITS</a:t>
            </a:r>
          </a:p>
        </p:txBody>
      </p:sp>
      <p:sp>
        <p:nvSpPr>
          <p:cNvPr id="4" name="TextBox 3"/>
          <p:cNvSpPr txBox="1"/>
          <p:nvPr/>
        </p:nvSpPr>
        <p:spPr>
          <a:xfrm>
            <a:off x="548640" y="658368"/>
            <a:ext cx="11094415" cy="731520"/>
          </a:xfrm>
          <a:prstGeom prst="rect">
            <a:avLst/>
          </a:prstGeom>
          <a:noFill/>
        </p:spPr>
        <p:txBody>
          <a:bodyPr wrap="square" lIns="0" rIns="0" tIns="0" bIns="0" anchor="t">
            <a:spAutoFit/>
          </a:bodyPr>
          <a:lstStyle/>
          <a:p>
            <a:pPr algn="l">
              <a:lnSpc>
                <a:spcPct val="100000"/>
              </a:lnSpc>
              <a:spcAft>
                <a:spcPts val="600"/>
              </a:spcAft>
            </a:pPr>
            <a:r>
              <a:rPr sz="3000" b="1" i="0">
                <a:solidFill>
                  <a:srgbClr val="0F1B2D"/>
                </a:solidFill>
                <a:latin typeface="Calibri"/>
              </a:rPr>
              <a:t>The real danger: the attacks the detector misses</a:t>
            </a:r>
          </a:p>
        </p:txBody>
      </p:sp>
      <p:sp>
        <p:nvSpPr>
          <p:cNvPr id="5" name="TextBox 4"/>
          <p:cNvSpPr txBox="1"/>
          <p:nvPr/>
        </p:nvSpPr>
        <p:spPr>
          <a:xfrm>
            <a:off x="548640" y="1691640"/>
            <a:ext cx="5852160" cy="274320"/>
          </a:xfrm>
          <a:prstGeom prst="rect">
            <a:avLst/>
          </a:prstGeom>
          <a:noFill/>
        </p:spPr>
        <p:txBody>
          <a:bodyPr wrap="square" lIns="0" rIns="0" tIns="0" bIns="0" anchor="t">
            <a:spAutoFit/>
          </a:bodyPr>
          <a:lstStyle/>
          <a:p>
            <a:pPr algn="l">
              <a:lnSpc>
                <a:spcPct val="110000"/>
              </a:lnSpc>
              <a:spcAft>
                <a:spcPts val="0"/>
              </a:spcAft>
            </a:pPr>
            <a:r>
              <a:rPr sz="1200" b="1" i="0">
                <a:solidFill>
                  <a:srgbClr val="C0392B"/>
                </a:solidFill>
                <a:latin typeface="Calibri"/>
              </a:rPr>
              <a:t>MOST-MISSED ATTACK TYPES (OFFICIAL TEST SET)</a:t>
            </a:r>
          </a:p>
        </p:txBody>
      </p:sp>
      <p:sp>
        <p:nvSpPr>
          <p:cNvPr id="6" name="TextBox 5"/>
          <p:cNvSpPr txBox="1"/>
          <p:nvPr/>
        </p:nvSpPr>
        <p:spPr>
          <a:xfrm>
            <a:off x="548640" y="2057400"/>
            <a:ext cx="2194560" cy="411480"/>
          </a:xfrm>
          <a:prstGeom prst="rect">
            <a:avLst/>
          </a:prstGeom>
          <a:noFill/>
        </p:spPr>
        <p:txBody>
          <a:bodyPr wrap="square" lIns="0" rIns="0" tIns="0" bIns="0" anchor="t">
            <a:spAutoFit/>
          </a:bodyPr>
          <a:lstStyle/>
          <a:p>
            <a:pPr algn="l">
              <a:lnSpc>
                <a:spcPct val="110000"/>
              </a:lnSpc>
              <a:spcAft>
                <a:spcPts val="600"/>
              </a:spcAft>
            </a:pPr>
            <a:r>
              <a:rPr sz="1450" b="1" i="0">
                <a:solidFill>
                  <a:srgbClr val="5B6472"/>
                </a:solidFill>
                <a:latin typeface="Calibri"/>
              </a:rPr>
              <a:t>Attack</a:t>
            </a:r>
          </a:p>
        </p:txBody>
      </p:sp>
      <p:sp>
        <p:nvSpPr>
          <p:cNvPr id="7" name="TextBox 6"/>
          <p:cNvSpPr txBox="1"/>
          <p:nvPr/>
        </p:nvSpPr>
        <p:spPr>
          <a:xfrm>
            <a:off x="2834640" y="2057400"/>
            <a:ext cx="1005840" cy="411480"/>
          </a:xfrm>
          <a:prstGeom prst="rect">
            <a:avLst/>
          </a:prstGeom>
          <a:noFill/>
        </p:spPr>
        <p:txBody>
          <a:bodyPr wrap="square" lIns="0" rIns="0" tIns="0" bIns="0" anchor="t">
            <a:spAutoFit/>
          </a:bodyPr>
          <a:lstStyle/>
          <a:p>
            <a:pPr algn="l">
              <a:lnSpc>
                <a:spcPct val="110000"/>
              </a:lnSpc>
              <a:spcAft>
                <a:spcPts val="600"/>
              </a:spcAft>
            </a:pPr>
            <a:r>
              <a:rPr sz="1450" b="1" i="0">
                <a:solidFill>
                  <a:srgbClr val="5B6472"/>
                </a:solidFill>
                <a:latin typeface="Calibri"/>
              </a:rPr>
              <a:t>Family</a:t>
            </a:r>
          </a:p>
        </p:txBody>
      </p:sp>
      <p:sp>
        <p:nvSpPr>
          <p:cNvPr id="8" name="TextBox 7"/>
          <p:cNvSpPr txBox="1"/>
          <p:nvPr/>
        </p:nvSpPr>
        <p:spPr>
          <a:xfrm>
            <a:off x="3931920" y="2057400"/>
            <a:ext cx="1097280" cy="411480"/>
          </a:xfrm>
          <a:prstGeom prst="rect">
            <a:avLst/>
          </a:prstGeom>
          <a:noFill/>
        </p:spPr>
        <p:txBody>
          <a:bodyPr wrap="square" lIns="0" rIns="0" tIns="0" bIns="0" anchor="t">
            <a:spAutoFit/>
          </a:bodyPr>
          <a:lstStyle/>
          <a:p>
            <a:pPr algn="r">
              <a:lnSpc>
                <a:spcPct val="110000"/>
              </a:lnSpc>
              <a:spcAft>
                <a:spcPts val="600"/>
              </a:spcAft>
            </a:pPr>
            <a:r>
              <a:rPr sz="1450" b="1" i="0">
                <a:solidFill>
                  <a:srgbClr val="5B6472"/>
                </a:solidFill>
                <a:latin typeface="Calibri"/>
              </a:rPr>
              <a:t>Missed</a:t>
            </a:r>
          </a:p>
        </p:txBody>
      </p:sp>
      <p:sp>
        <p:nvSpPr>
          <p:cNvPr id="9" name="TextBox 8"/>
          <p:cNvSpPr txBox="1"/>
          <p:nvPr/>
        </p:nvSpPr>
        <p:spPr>
          <a:xfrm>
            <a:off x="5120640" y="2057400"/>
            <a:ext cx="1188720" cy="411480"/>
          </a:xfrm>
          <a:prstGeom prst="rect">
            <a:avLst/>
          </a:prstGeom>
          <a:noFill/>
        </p:spPr>
        <p:txBody>
          <a:bodyPr wrap="square" lIns="0" rIns="0" tIns="0" bIns="0" anchor="t">
            <a:spAutoFit/>
          </a:bodyPr>
          <a:lstStyle/>
          <a:p>
            <a:pPr algn="l">
              <a:lnSpc>
                <a:spcPct val="110000"/>
              </a:lnSpc>
              <a:spcAft>
                <a:spcPts val="600"/>
              </a:spcAft>
            </a:pPr>
          </a:p>
        </p:txBody>
      </p:sp>
      <p:sp>
        <p:nvSpPr>
          <p:cNvPr id="10" name="TextBox 9"/>
          <p:cNvSpPr txBox="1"/>
          <p:nvPr/>
        </p:nvSpPr>
        <p:spPr>
          <a:xfrm>
            <a:off x="548640" y="2560320"/>
            <a:ext cx="2194560" cy="411480"/>
          </a:xfrm>
          <a:prstGeom prst="rect">
            <a:avLst/>
          </a:prstGeom>
          <a:noFill/>
        </p:spPr>
        <p:txBody>
          <a:bodyPr wrap="square" lIns="0" rIns="0" tIns="0" bIns="0" anchor="t">
            <a:spAutoFit/>
          </a:bodyPr>
          <a:lstStyle/>
          <a:p>
            <a:pPr algn="l">
              <a:lnSpc>
                <a:spcPct val="110000"/>
              </a:lnSpc>
              <a:spcAft>
                <a:spcPts val="600"/>
              </a:spcAft>
            </a:pPr>
            <a:r>
              <a:rPr sz="1450" b="0" i="0">
                <a:solidFill>
                  <a:srgbClr val="1F2937"/>
                </a:solidFill>
                <a:latin typeface="Calibri"/>
              </a:rPr>
              <a:t>guess_passwd</a:t>
            </a:r>
          </a:p>
        </p:txBody>
      </p:sp>
      <p:sp>
        <p:nvSpPr>
          <p:cNvPr id="11" name="TextBox 10"/>
          <p:cNvSpPr txBox="1"/>
          <p:nvPr/>
        </p:nvSpPr>
        <p:spPr>
          <a:xfrm>
            <a:off x="2834640" y="2560320"/>
            <a:ext cx="1005840" cy="411480"/>
          </a:xfrm>
          <a:prstGeom prst="rect">
            <a:avLst/>
          </a:prstGeom>
          <a:noFill/>
        </p:spPr>
        <p:txBody>
          <a:bodyPr wrap="square" lIns="0" rIns="0" tIns="0" bIns="0" anchor="t">
            <a:spAutoFit/>
          </a:bodyPr>
          <a:lstStyle/>
          <a:p>
            <a:pPr algn="l">
              <a:lnSpc>
                <a:spcPct val="110000"/>
              </a:lnSpc>
              <a:spcAft>
                <a:spcPts val="600"/>
              </a:spcAft>
            </a:pPr>
            <a:r>
              <a:rPr sz="1450" b="0" i="0">
                <a:solidFill>
                  <a:srgbClr val="1F2937"/>
                </a:solidFill>
                <a:latin typeface="Calibri"/>
              </a:rPr>
              <a:t>R2L</a:t>
            </a:r>
          </a:p>
        </p:txBody>
      </p:sp>
      <p:sp>
        <p:nvSpPr>
          <p:cNvPr id="12" name="TextBox 11"/>
          <p:cNvSpPr txBox="1"/>
          <p:nvPr/>
        </p:nvSpPr>
        <p:spPr>
          <a:xfrm>
            <a:off x="3931920" y="2560320"/>
            <a:ext cx="1097280" cy="411480"/>
          </a:xfrm>
          <a:prstGeom prst="rect">
            <a:avLst/>
          </a:prstGeom>
          <a:noFill/>
        </p:spPr>
        <p:txBody>
          <a:bodyPr wrap="square" lIns="0" rIns="0" tIns="0" bIns="0" anchor="t">
            <a:spAutoFit/>
          </a:bodyPr>
          <a:lstStyle/>
          <a:p>
            <a:pPr algn="r">
              <a:lnSpc>
                <a:spcPct val="110000"/>
              </a:lnSpc>
              <a:spcAft>
                <a:spcPts val="600"/>
              </a:spcAft>
            </a:pPr>
            <a:r>
              <a:rPr sz="1450" b="0" i="0">
                <a:solidFill>
                  <a:srgbClr val="1F2937"/>
                </a:solidFill>
                <a:latin typeface="Calibri"/>
              </a:rPr>
              <a:t>1,231</a:t>
            </a:r>
          </a:p>
        </p:txBody>
      </p:sp>
      <p:sp>
        <p:nvSpPr>
          <p:cNvPr id="13" name="TextBox 12"/>
          <p:cNvSpPr txBox="1"/>
          <p:nvPr/>
        </p:nvSpPr>
        <p:spPr>
          <a:xfrm>
            <a:off x="5120640" y="2560320"/>
            <a:ext cx="1188720" cy="411480"/>
          </a:xfrm>
          <a:prstGeom prst="rect">
            <a:avLst/>
          </a:prstGeom>
          <a:noFill/>
        </p:spPr>
        <p:txBody>
          <a:bodyPr wrap="square" lIns="0" rIns="0" tIns="0" bIns="0" anchor="t">
            <a:spAutoFit/>
          </a:bodyPr>
          <a:lstStyle/>
          <a:p>
            <a:pPr algn="l">
              <a:lnSpc>
                <a:spcPct val="110000"/>
              </a:lnSpc>
              <a:spcAft>
                <a:spcPts val="600"/>
              </a:spcAft>
            </a:pPr>
            <a:r>
              <a:rPr sz="1450" b="0" i="0">
                <a:solidFill>
                  <a:srgbClr val="1F2937"/>
                </a:solidFill>
                <a:latin typeface="Calibri"/>
              </a:rPr>
              <a:t>known</a:t>
            </a:r>
          </a:p>
        </p:txBody>
      </p:sp>
      <p:cxnSp>
        <p:nvCxnSpPr>
          <p:cNvPr id="14" name="Connector 13"/>
          <p:cNvCxnSpPr/>
          <p:nvPr/>
        </p:nvCxnSpPr>
        <p:spPr>
          <a:xfrm>
            <a:off x="548640" y="2990087"/>
            <a:ext cx="5760719"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48640" y="3063240"/>
            <a:ext cx="2194560" cy="411480"/>
          </a:xfrm>
          <a:prstGeom prst="rect">
            <a:avLst/>
          </a:prstGeom>
          <a:noFill/>
        </p:spPr>
        <p:txBody>
          <a:bodyPr wrap="square" lIns="0" rIns="0" tIns="0" bIns="0" anchor="t">
            <a:spAutoFit/>
          </a:bodyPr>
          <a:lstStyle/>
          <a:p>
            <a:pPr algn="l">
              <a:lnSpc>
                <a:spcPct val="110000"/>
              </a:lnSpc>
              <a:spcAft>
                <a:spcPts val="600"/>
              </a:spcAft>
            </a:pPr>
            <a:r>
              <a:rPr sz="1450" b="0" i="0">
                <a:solidFill>
                  <a:srgbClr val="1F2937"/>
                </a:solidFill>
                <a:latin typeface="Calibri"/>
              </a:rPr>
              <a:t>warezmaster</a:t>
            </a:r>
          </a:p>
        </p:txBody>
      </p:sp>
      <p:sp>
        <p:nvSpPr>
          <p:cNvPr id="16" name="TextBox 15"/>
          <p:cNvSpPr txBox="1"/>
          <p:nvPr/>
        </p:nvSpPr>
        <p:spPr>
          <a:xfrm>
            <a:off x="2834640" y="3063240"/>
            <a:ext cx="1005840" cy="411480"/>
          </a:xfrm>
          <a:prstGeom prst="rect">
            <a:avLst/>
          </a:prstGeom>
          <a:noFill/>
        </p:spPr>
        <p:txBody>
          <a:bodyPr wrap="square" lIns="0" rIns="0" tIns="0" bIns="0" anchor="t">
            <a:spAutoFit/>
          </a:bodyPr>
          <a:lstStyle/>
          <a:p>
            <a:pPr algn="l">
              <a:lnSpc>
                <a:spcPct val="110000"/>
              </a:lnSpc>
              <a:spcAft>
                <a:spcPts val="600"/>
              </a:spcAft>
            </a:pPr>
            <a:r>
              <a:rPr sz="1450" b="0" i="0">
                <a:solidFill>
                  <a:srgbClr val="1F2937"/>
                </a:solidFill>
                <a:latin typeface="Calibri"/>
              </a:rPr>
              <a:t>R2L</a:t>
            </a:r>
          </a:p>
        </p:txBody>
      </p:sp>
      <p:sp>
        <p:nvSpPr>
          <p:cNvPr id="17" name="TextBox 16"/>
          <p:cNvSpPr txBox="1"/>
          <p:nvPr/>
        </p:nvSpPr>
        <p:spPr>
          <a:xfrm>
            <a:off x="3931920" y="3063240"/>
            <a:ext cx="1097280" cy="411480"/>
          </a:xfrm>
          <a:prstGeom prst="rect">
            <a:avLst/>
          </a:prstGeom>
          <a:noFill/>
        </p:spPr>
        <p:txBody>
          <a:bodyPr wrap="square" lIns="0" rIns="0" tIns="0" bIns="0" anchor="t">
            <a:spAutoFit/>
          </a:bodyPr>
          <a:lstStyle/>
          <a:p>
            <a:pPr algn="r">
              <a:lnSpc>
                <a:spcPct val="110000"/>
              </a:lnSpc>
              <a:spcAft>
                <a:spcPts val="600"/>
              </a:spcAft>
            </a:pPr>
            <a:r>
              <a:rPr sz="1450" b="0" i="0">
                <a:solidFill>
                  <a:srgbClr val="1F2937"/>
                </a:solidFill>
                <a:latin typeface="Calibri"/>
              </a:rPr>
              <a:t>795</a:t>
            </a:r>
          </a:p>
        </p:txBody>
      </p:sp>
      <p:sp>
        <p:nvSpPr>
          <p:cNvPr id="18" name="TextBox 17"/>
          <p:cNvSpPr txBox="1"/>
          <p:nvPr/>
        </p:nvSpPr>
        <p:spPr>
          <a:xfrm>
            <a:off x="5120640" y="3063240"/>
            <a:ext cx="1188720" cy="411480"/>
          </a:xfrm>
          <a:prstGeom prst="rect">
            <a:avLst/>
          </a:prstGeom>
          <a:noFill/>
        </p:spPr>
        <p:txBody>
          <a:bodyPr wrap="square" lIns="0" rIns="0" tIns="0" bIns="0" anchor="t">
            <a:spAutoFit/>
          </a:bodyPr>
          <a:lstStyle/>
          <a:p>
            <a:pPr algn="l">
              <a:lnSpc>
                <a:spcPct val="110000"/>
              </a:lnSpc>
              <a:spcAft>
                <a:spcPts val="600"/>
              </a:spcAft>
            </a:pPr>
            <a:r>
              <a:rPr sz="1450" b="0" i="0">
                <a:solidFill>
                  <a:srgbClr val="1F2937"/>
                </a:solidFill>
                <a:latin typeface="Calibri"/>
              </a:rPr>
              <a:t>known</a:t>
            </a:r>
          </a:p>
        </p:txBody>
      </p:sp>
      <p:cxnSp>
        <p:nvCxnSpPr>
          <p:cNvPr id="19" name="Connector 18"/>
          <p:cNvCxnSpPr/>
          <p:nvPr/>
        </p:nvCxnSpPr>
        <p:spPr>
          <a:xfrm>
            <a:off x="548640" y="3493008"/>
            <a:ext cx="5760719"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48640" y="3566160"/>
            <a:ext cx="2194560" cy="411480"/>
          </a:xfrm>
          <a:prstGeom prst="rect">
            <a:avLst/>
          </a:prstGeom>
          <a:noFill/>
        </p:spPr>
        <p:txBody>
          <a:bodyPr wrap="square" lIns="0" rIns="0" tIns="0" bIns="0" anchor="t">
            <a:spAutoFit/>
          </a:bodyPr>
          <a:lstStyle/>
          <a:p>
            <a:pPr algn="l">
              <a:lnSpc>
                <a:spcPct val="110000"/>
              </a:lnSpc>
              <a:spcAft>
                <a:spcPts val="600"/>
              </a:spcAft>
            </a:pPr>
            <a:r>
              <a:rPr sz="1450" b="0" i="0">
                <a:solidFill>
                  <a:srgbClr val="1F2937"/>
                </a:solidFill>
                <a:latin typeface="Calibri"/>
              </a:rPr>
              <a:t>processtable</a:t>
            </a:r>
          </a:p>
        </p:txBody>
      </p:sp>
      <p:sp>
        <p:nvSpPr>
          <p:cNvPr id="21" name="TextBox 20"/>
          <p:cNvSpPr txBox="1"/>
          <p:nvPr/>
        </p:nvSpPr>
        <p:spPr>
          <a:xfrm>
            <a:off x="2834640" y="3566160"/>
            <a:ext cx="1005840" cy="411480"/>
          </a:xfrm>
          <a:prstGeom prst="rect">
            <a:avLst/>
          </a:prstGeom>
          <a:noFill/>
        </p:spPr>
        <p:txBody>
          <a:bodyPr wrap="square" lIns="0" rIns="0" tIns="0" bIns="0" anchor="t">
            <a:spAutoFit/>
          </a:bodyPr>
          <a:lstStyle/>
          <a:p>
            <a:pPr algn="l">
              <a:lnSpc>
                <a:spcPct val="110000"/>
              </a:lnSpc>
              <a:spcAft>
                <a:spcPts val="600"/>
              </a:spcAft>
            </a:pPr>
            <a:r>
              <a:rPr sz="1450" b="0" i="0">
                <a:solidFill>
                  <a:srgbClr val="1F2937"/>
                </a:solidFill>
                <a:latin typeface="Calibri"/>
              </a:rPr>
              <a:t>DoS</a:t>
            </a:r>
          </a:p>
        </p:txBody>
      </p:sp>
      <p:sp>
        <p:nvSpPr>
          <p:cNvPr id="22" name="TextBox 21"/>
          <p:cNvSpPr txBox="1"/>
          <p:nvPr/>
        </p:nvSpPr>
        <p:spPr>
          <a:xfrm>
            <a:off x="3931920" y="3566160"/>
            <a:ext cx="1097280" cy="411480"/>
          </a:xfrm>
          <a:prstGeom prst="rect">
            <a:avLst/>
          </a:prstGeom>
          <a:noFill/>
        </p:spPr>
        <p:txBody>
          <a:bodyPr wrap="square" lIns="0" rIns="0" tIns="0" bIns="0" anchor="t">
            <a:spAutoFit/>
          </a:bodyPr>
          <a:lstStyle/>
          <a:p>
            <a:pPr algn="r">
              <a:lnSpc>
                <a:spcPct val="110000"/>
              </a:lnSpc>
              <a:spcAft>
                <a:spcPts val="600"/>
              </a:spcAft>
            </a:pPr>
            <a:r>
              <a:rPr sz="1450" b="0" i="0">
                <a:solidFill>
                  <a:srgbClr val="1F2937"/>
                </a:solidFill>
                <a:latin typeface="Calibri"/>
              </a:rPr>
              <a:t>675</a:t>
            </a:r>
          </a:p>
        </p:txBody>
      </p:sp>
      <p:sp>
        <p:nvSpPr>
          <p:cNvPr id="23" name="TextBox 22"/>
          <p:cNvSpPr txBox="1"/>
          <p:nvPr/>
        </p:nvSpPr>
        <p:spPr>
          <a:xfrm>
            <a:off x="5120640" y="3566160"/>
            <a:ext cx="1188720" cy="411480"/>
          </a:xfrm>
          <a:prstGeom prst="rect">
            <a:avLst/>
          </a:prstGeom>
          <a:noFill/>
        </p:spPr>
        <p:txBody>
          <a:bodyPr wrap="square" lIns="0" rIns="0" tIns="0" bIns="0" anchor="t">
            <a:spAutoFit/>
          </a:bodyPr>
          <a:lstStyle/>
          <a:p>
            <a:pPr algn="l">
              <a:lnSpc>
                <a:spcPct val="110000"/>
              </a:lnSpc>
              <a:spcAft>
                <a:spcPts val="600"/>
              </a:spcAft>
            </a:pPr>
            <a:r>
              <a:rPr sz="1450" b="0" i="0">
                <a:solidFill>
                  <a:srgbClr val="1F2937"/>
                </a:solidFill>
                <a:latin typeface="Calibri"/>
              </a:rPr>
              <a:t>new</a:t>
            </a:r>
          </a:p>
        </p:txBody>
      </p:sp>
      <p:cxnSp>
        <p:nvCxnSpPr>
          <p:cNvPr id="24" name="Connector 23"/>
          <p:cNvCxnSpPr/>
          <p:nvPr/>
        </p:nvCxnSpPr>
        <p:spPr>
          <a:xfrm>
            <a:off x="548640" y="3995928"/>
            <a:ext cx="5760719"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48640" y="4069080"/>
            <a:ext cx="2194560" cy="411480"/>
          </a:xfrm>
          <a:prstGeom prst="rect">
            <a:avLst/>
          </a:prstGeom>
          <a:noFill/>
        </p:spPr>
        <p:txBody>
          <a:bodyPr wrap="square" lIns="0" rIns="0" tIns="0" bIns="0" anchor="t">
            <a:spAutoFit/>
          </a:bodyPr>
          <a:lstStyle/>
          <a:p>
            <a:pPr algn="l">
              <a:lnSpc>
                <a:spcPct val="110000"/>
              </a:lnSpc>
              <a:spcAft>
                <a:spcPts val="600"/>
              </a:spcAft>
            </a:pPr>
            <a:r>
              <a:rPr sz="1450" b="0" i="0">
                <a:solidFill>
                  <a:srgbClr val="1F2937"/>
                </a:solidFill>
                <a:latin typeface="Calibri"/>
              </a:rPr>
              <a:t>mscan</a:t>
            </a:r>
          </a:p>
        </p:txBody>
      </p:sp>
      <p:sp>
        <p:nvSpPr>
          <p:cNvPr id="26" name="TextBox 25"/>
          <p:cNvSpPr txBox="1"/>
          <p:nvPr/>
        </p:nvSpPr>
        <p:spPr>
          <a:xfrm>
            <a:off x="2834640" y="4069080"/>
            <a:ext cx="1005840" cy="411480"/>
          </a:xfrm>
          <a:prstGeom prst="rect">
            <a:avLst/>
          </a:prstGeom>
          <a:noFill/>
        </p:spPr>
        <p:txBody>
          <a:bodyPr wrap="square" lIns="0" rIns="0" tIns="0" bIns="0" anchor="t">
            <a:spAutoFit/>
          </a:bodyPr>
          <a:lstStyle/>
          <a:p>
            <a:pPr algn="l">
              <a:lnSpc>
                <a:spcPct val="110000"/>
              </a:lnSpc>
              <a:spcAft>
                <a:spcPts val="600"/>
              </a:spcAft>
            </a:pPr>
            <a:r>
              <a:rPr sz="1450" b="0" i="0">
                <a:solidFill>
                  <a:srgbClr val="1F2937"/>
                </a:solidFill>
                <a:latin typeface="Calibri"/>
              </a:rPr>
              <a:t>Probe</a:t>
            </a:r>
          </a:p>
        </p:txBody>
      </p:sp>
      <p:sp>
        <p:nvSpPr>
          <p:cNvPr id="27" name="TextBox 26"/>
          <p:cNvSpPr txBox="1"/>
          <p:nvPr/>
        </p:nvSpPr>
        <p:spPr>
          <a:xfrm>
            <a:off x="3931920" y="4069080"/>
            <a:ext cx="1097280" cy="411480"/>
          </a:xfrm>
          <a:prstGeom prst="rect">
            <a:avLst/>
          </a:prstGeom>
          <a:noFill/>
        </p:spPr>
        <p:txBody>
          <a:bodyPr wrap="square" lIns="0" rIns="0" tIns="0" bIns="0" anchor="t">
            <a:spAutoFit/>
          </a:bodyPr>
          <a:lstStyle/>
          <a:p>
            <a:pPr algn="r">
              <a:lnSpc>
                <a:spcPct val="110000"/>
              </a:lnSpc>
              <a:spcAft>
                <a:spcPts val="600"/>
              </a:spcAft>
            </a:pPr>
            <a:r>
              <a:rPr sz="1450" b="0" i="0">
                <a:solidFill>
                  <a:srgbClr val="1F2937"/>
                </a:solidFill>
                <a:latin typeface="Calibri"/>
              </a:rPr>
              <a:t>636</a:t>
            </a:r>
          </a:p>
        </p:txBody>
      </p:sp>
      <p:sp>
        <p:nvSpPr>
          <p:cNvPr id="28" name="TextBox 27"/>
          <p:cNvSpPr txBox="1"/>
          <p:nvPr/>
        </p:nvSpPr>
        <p:spPr>
          <a:xfrm>
            <a:off x="5120640" y="4069080"/>
            <a:ext cx="1188720" cy="411480"/>
          </a:xfrm>
          <a:prstGeom prst="rect">
            <a:avLst/>
          </a:prstGeom>
          <a:noFill/>
        </p:spPr>
        <p:txBody>
          <a:bodyPr wrap="square" lIns="0" rIns="0" tIns="0" bIns="0" anchor="t">
            <a:spAutoFit/>
          </a:bodyPr>
          <a:lstStyle/>
          <a:p>
            <a:pPr algn="l">
              <a:lnSpc>
                <a:spcPct val="110000"/>
              </a:lnSpc>
              <a:spcAft>
                <a:spcPts val="600"/>
              </a:spcAft>
            </a:pPr>
            <a:r>
              <a:rPr sz="1450" b="0" i="0">
                <a:solidFill>
                  <a:srgbClr val="1F2937"/>
                </a:solidFill>
                <a:latin typeface="Calibri"/>
              </a:rPr>
              <a:t>new</a:t>
            </a:r>
          </a:p>
        </p:txBody>
      </p:sp>
      <p:cxnSp>
        <p:nvCxnSpPr>
          <p:cNvPr id="29" name="Connector 28"/>
          <p:cNvCxnSpPr/>
          <p:nvPr/>
        </p:nvCxnSpPr>
        <p:spPr>
          <a:xfrm>
            <a:off x="548640" y="4498848"/>
            <a:ext cx="5760719"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48640" y="4572000"/>
            <a:ext cx="2194560" cy="411480"/>
          </a:xfrm>
          <a:prstGeom prst="rect">
            <a:avLst/>
          </a:prstGeom>
          <a:noFill/>
        </p:spPr>
        <p:txBody>
          <a:bodyPr wrap="square" lIns="0" rIns="0" tIns="0" bIns="0" anchor="t">
            <a:spAutoFit/>
          </a:bodyPr>
          <a:lstStyle/>
          <a:p>
            <a:pPr algn="l">
              <a:lnSpc>
                <a:spcPct val="110000"/>
              </a:lnSpc>
              <a:spcAft>
                <a:spcPts val="600"/>
              </a:spcAft>
            </a:pPr>
            <a:r>
              <a:rPr sz="1450" b="0" i="0">
                <a:solidFill>
                  <a:srgbClr val="1F2937"/>
                </a:solidFill>
                <a:latin typeface="Calibri"/>
              </a:rPr>
              <a:t>apache2</a:t>
            </a:r>
          </a:p>
        </p:txBody>
      </p:sp>
      <p:sp>
        <p:nvSpPr>
          <p:cNvPr id="31" name="TextBox 30"/>
          <p:cNvSpPr txBox="1"/>
          <p:nvPr/>
        </p:nvSpPr>
        <p:spPr>
          <a:xfrm>
            <a:off x="2834640" y="4572000"/>
            <a:ext cx="1005840" cy="411480"/>
          </a:xfrm>
          <a:prstGeom prst="rect">
            <a:avLst/>
          </a:prstGeom>
          <a:noFill/>
        </p:spPr>
        <p:txBody>
          <a:bodyPr wrap="square" lIns="0" rIns="0" tIns="0" bIns="0" anchor="t">
            <a:spAutoFit/>
          </a:bodyPr>
          <a:lstStyle/>
          <a:p>
            <a:pPr algn="l">
              <a:lnSpc>
                <a:spcPct val="110000"/>
              </a:lnSpc>
              <a:spcAft>
                <a:spcPts val="600"/>
              </a:spcAft>
            </a:pPr>
            <a:r>
              <a:rPr sz="1450" b="0" i="0">
                <a:solidFill>
                  <a:srgbClr val="1F2937"/>
                </a:solidFill>
                <a:latin typeface="Calibri"/>
              </a:rPr>
              <a:t>DoS</a:t>
            </a:r>
          </a:p>
        </p:txBody>
      </p:sp>
      <p:sp>
        <p:nvSpPr>
          <p:cNvPr id="32" name="TextBox 31"/>
          <p:cNvSpPr txBox="1"/>
          <p:nvPr/>
        </p:nvSpPr>
        <p:spPr>
          <a:xfrm>
            <a:off x="3931920" y="4572000"/>
            <a:ext cx="1097280" cy="411480"/>
          </a:xfrm>
          <a:prstGeom prst="rect">
            <a:avLst/>
          </a:prstGeom>
          <a:noFill/>
        </p:spPr>
        <p:txBody>
          <a:bodyPr wrap="square" lIns="0" rIns="0" tIns="0" bIns="0" anchor="t">
            <a:spAutoFit/>
          </a:bodyPr>
          <a:lstStyle/>
          <a:p>
            <a:pPr algn="r">
              <a:lnSpc>
                <a:spcPct val="110000"/>
              </a:lnSpc>
              <a:spcAft>
                <a:spcPts val="600"/>
              </a:spcAft>
            </a:pPr>
            <a:r>
              <a:rPr sz="1450" b="0" i="0">
                <a:solidFill>
                  <a:srgbClr val="1F2937"/>
                </a:solidFill>
                <a:latin typeface="Calibri"/>
              </a:rPr>
              <a:t>588</a:t>
            </a:r>
          </a:p>
        </p:txBody>
      </p:sp>
      <p:sp>
        <p:nvSpPr>
          <p:cNvPr id="33" name="TextBox 32"/>
          <p:cNvSpPr txBox="1"/>
          <p:nvPr/>
        </p:nvSpPr>
        <p:spPr>
          <a:xfrm>
            <a:off x="5120640" y="4572000"/>
            <a:ext cx="1188720" cy="411480"/>
          </a:xfrm>
          <a:prstGeom prst="rect">
            <a:avLst/>
          </a:prstGeom>
          <a:noFill/>
        </p:spPr>
        <p:txBody>
          <a:bodyPr wrap="square" lIns="0" rIns="0" tIns="0" bIns="0" anchor="t">
            <a:spAutoFit/>
          </a:bodyPr>
          <a:lstStyle/>
          <a:p>
            <a:pPr algn="l">
              <a:lnSpc>
                <a:spcPct val="110000"/>
              </a:lnSpc>
              <a:spcAft>
                <a:spcPts val="600"/>
              </a:spcAft>
            </a:pPr>
            <a:r>
              <a:rPr sz="1450" b="0" i="0">
                <a:solidFill>
                  <a:srgbClr val="1F2937"/>
                </a:solidFill>
                <a:latin typeface="Calibri"/>
              </a:rPr>
              <a:t>new</a:t>
            </a:r>
          </a:p>
        </p:txBody>
      </p:sp>
      <p:cxnSp>
        <p:nvCxnSpPr>
          <p:cNvPr id="34" name="Connector 33"/>
          <p:cNvCxnSpPr/>
          <p:nvPr/>
        </p:nvCxnSpPr>
        <p:spPr>
          <a:xfrm>
            <a:off x="548640" y="5001768"/>
            <a:ext cx="5760719"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48640" y="5074920"/>
            <a:ext cx="2194560" cy="411480"/>
          </a:xfrm>
          <a:prstGeom prst="rect">
            <a:avLst/>
          </a:prstGeom>
          <a:noFill/>
        </p:spPr>
        <p:txBody>
          <a:bodyPr wrap="square" lIns="0" rIns="0" tIns="0" bIns="0" anchor="t">
            <a:spAutoFit/>
          </a:bodyPr>
          <a:lstStyle/>
          <a:p>
            <a:pPr algn="l">
              <a:lnSpc>
                <a:spcPct val="110000"/>
              </a:lnSpc>
              <a:spcAft>
                <a:spcPts val="600"/>
              </a:spcAft>
            </a:pPr>
            <a:r>
              <a:rPr sz="1450" b="0" i="0">
                <a:solidFill>
                  <a:srgbClr val="1F2937"/>
                </a:solidFill>
                <a:latin typeface="Calibri"/>
              </a:rPr>
              <a:t>snmpguess</a:t>
            </a:r>
          </a:p>
        </p:txBody>
      </p:sp>
      <p:sp>
        <p:nvSpPr>
          <p:cNvPr id="36" name="TextBox 35"/>
          <p:cNvSpPr txBox="1"/>
          <p:nvPr/>
        </p:nvSpPr>
        <p:spPr>
          <a:xfrm>
            <a:off x="2834640" y="5074920"/>
            <a:ext cx="1005840" cy="411480"/>
          </a:xfrm>
          <a:prstGeom prst="rect">
            <a:avLst/>
          </a:prstGeom>
          <a:noFill/>
        </p:spPr>
        <p:txBody>
          <a:bodyPr wrap="square" lIns="0" rIns="0" tIns="0" bIns="0" anchor="t">
            <a:spAutoFit/>
          </a:bodyPr>
          <a:lstStyle/>
          <a:p>
            <a:pPr algn="l">
              <a:lnSpc>
                <a:spcPct val="110000"/>
              </a:lnSpc>
              <a:spcAft>
                <a:spcPts val="600"/>
              </a:spcAft>
            </a:pPr>
            <a:r>
              <a:rPr sz="1450" b="0" i="0">
                <a:solidFill>
                  <a:srgbClr val="1F2937"/>
                </a:solidFill>
                <a:latin typeface="Calibri"/>
              </a:rPr>
              <a:t>R2L</a:t>
            </a:r>
          </a:p>
        </p:txBody>
      </p:sp>
      <p:sp>
        <p:nvSpPr>
          <p:cNvPr id="37" name="TextBox 36"/>
          <p:cNvSpPr txBox="1"/>
          <p:nvPr/>
        </p:nvSpPr>
        <p:spPr>
          <a:xfrm>
            <a:off x="3931920" y="5074920"/>
            <a:ext cx="1097280" cy="411480"/>
          </a:xfrm>
          <a:prstGeom prst="rect">
            <a:avLst/>
          </a:prstGeom>
          <a:noFill/>
        </p:spPr>
        <p:txBody>
          <a:bodyPr wrap="square" lIns="0" rIns="0" tIns="0" bIns="0" anchor="t">
            <a:spAutoFit/>
          </a:bodyPr>
          <a:lstStyle/>
          <a:p>
            <a:pPr algn="r">
              <a:lnSpc>
                <a:spcPct val="110000"/>
              </a:lnSpc>
              <a:spcAft>
                <a:spcPts val="600"/>
              </a:spcAft>
            </a:pPr>
            <a:r>
              <a:rPr sz="1450" b="0" i="0">
                <a:solidFill>
                  <a:srgbClr val="1F2937"/>
                </a:solidFill>
                <a:latin typeface="Calibri"/>
              </a:rPr>
              <a:t>331</a:t>
            </a:r>
          </a:p>
        </p:txBody>
      </p:sp>
      <p:sp>
        <p:nvSpPr>
          <p:cNvPr id="38" name="TextBox 37"/>
          <p:cNvSpPr txBox="1"/>
          <p:nvPr/>
        </p:nvSpPr>
        <p:spPr>
          <a:xfrm>
            <a:off x="5120640" y="5074920"/>
            <a:ext cx="1188720" cy="411480"/>
          </a:xfrm>
          <a:prstGeom prst="rect">
            <a:avLst/>
          </a:prstGeom>
          <a:noFill/>
        </p:spPr>
        <p:txBody>
          <a:bodyPr wrap="square" lIns="0" rIns="0" tIns="0" bIns="0" anchor="t">
            <a:spAutoFit/>
          </a:bodyPr>
          <a:lstStyle/>
          <a:p>
            <a:pPr algn="l">
              <a:lnSpc>
                <a:spcPct val="110000"/>
              </a:lnSpc>
              <a:spcAft>
                <a:spcPts val="600"/>
              </a:spcAft>
            </a:pPr>
            <a:r>
              <a:rPr sz="1450" b="0" i="0">
                <a:solidFill>
                  <a:srgbClr val="1F2937"/>
                </a:solidFill>
                <a:latin typeface="Calibri"/>
              </a:rPr>
              <a:t>new</a:t>
            </a:r>
          </a:p>
        </p:txBody>
      </p:sp>
      <p:cxnSp>
        <p:nvCxnSpPr>
          <p:cNvPr id="39" name="Connector 38"/>
          <p:cNvCxnSpPr/>
          <p:nvPr/>
        </p:nvCxnSpPr>
        <p:spPr>
          <a:xfrm>
            <a:off x="548640" y="5504688"/>
            <a:ext cx="5760719"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720840" y="1691640"/>
            <a:ext cx="4937760" cy="274320"/>
          </a:xfrm>
          <a:prstGeom prst="rect">
            <a:avLst/>
          </a:prstGeom>
          <a:noFill/>
        </p:spPr>
        <p:txBody>
          <a:bodyPr wrap="square" lIns="0" rIns="0" tIns="0" bIns="0" anchor="t">
            <a:spAutoFit/>
          </a:bodyPr>
          <a:lstStyle/>
          <a:p>
            <a:pPr algn="l">
              <a:lnSpc>
                <a:spcPct val="110000"/>
              </a:lnSpc>
              <a:spcAft>
                <a:spcPts val="0"/>
              </a:spcAft>
            </a:pPr>
            <a:r>
              <a:rPr sz="1200" b="1" i="0">
                <a:solidFill>
                  <a:srgbClr val="1F5FAD"/>
                </a:solidFill>
                <a:latin typeface="Calibri"/>
              </a:rPr>
              <a:t>WHAT THIS MEANS</a:t>
            </a:r>
          </a:p>
        </p:txBody>
      </p:sp>
      <p:sp>
        <p:nvSpPr>
          <p:cNvPr id="41" name="TextBox 40"/>
          <p:cNvSpPr txBox="1"/>
          <p:nvPr/>
        </p:nvSpPr>
        <p:spPr>
          <a:xfrm>
            <a:off x="6720840" y="2057400"/>
            <a:ext cx="4937760" cy="3931920"/>
          </a:xfrm>
          <a:prstGeom prst="rect">
            <a:avLst/>
          </a:prstGeom>
          <a:noFill/>
        </p:spPr>
        <p:txBody>
          <a:bodyPr wrap="square" lIns="0" rIns="0" tIns="0" bIns="0">
            <a:spAutoFit/>
          </a:bodyPr>
          <a:lstStyle/>
          <a:p>
            <a:pPr marL="256032" indent="-256032">
              <a:lnSpc>
                <a:spcPct val="110000"/>
              </a:lnSpc>
              <a:spcAft>
                <a:spcPts val="1400"/>
              </a:spcAft>
              <a:buClr>
                <a:srgbClr val="1F5FAD"/>
              </a:buClr>
              <a:buFont typeface="Arial"/>
              <a:buChar char="■"/>
            </a:pPr>
            <a:r>
              <a:rPr sz="1550" b="1" i="0">
                <a:solidFill>
                  <a:srgbClr val="1F2937"/>
                </a:solidFill>
                <a:latin typeface="Calibri"/>
              </a:rPr>
              <a:t>New DoS variants</a:t>
            </a:r>
            <a:r>
              <a:rPr sz="1550" b="0" i="0">
                <a:solidFill>
                  <a:srgbClr val="1F2937"/>
                </a:solidFill>
                <a:latin typeface="Calibri"/>
              </a:rPr>
              <a:t> (processtable, apache2) slip past: the model never saw them in training.</a:t>
            </a:r>
          </a:p>
          <a:p>
            <a:pPr marL="256032" indent="-256032">
              <a:lnSpc>
                <a:spcPct val="110000"/>
              </a:lnSpc>
              <a:spcAft>
                <a:spcPts val="1400"/>
              </a:spcAft>
              <a:buClr>
                <a:srgbClr val="1F5FAD"/>
              </a:buClr>
              <a:buFont typeface="Arial"/>
              <a:buChar char="■"/>
            </a:pPr>
            <a:r>
              <a:rPr sz="1550" b="1" i="0">
                <a:solidFill>
                  <a:srgbClr val="1F2937"/>
                </a:solidFill>
                <a:latin typeface="Calibri"/>
              </a:rPr>
              <a:t>Quieter attacks</a:t>
            </a:r>
            <a:r>
              <a:rPr sz="1550" b="0" i="0">
                <a:solidFill>
                  <a:srgbClr val="1F2937"/>
                </a:solidFill>
                <a:latin typeface="Calibri"/>
              </a:rPr>
              <a:t> such as password guessing are missed too: only 5.6% of R2L attacks were caught.</a:t>
            </a:r>
          </a:p>
          <a:p>
            <a:pPr marL="256032" indent="-256032">
              <a:lnSpc>
                <a:spcPct val="110000"/>
              </a:lnSpc>
              <a:spcAft>
                <a:spcPts val="1400"/>
              </a:spcAft>
              <a:buClr>
                <a:srgbClr val="1F5FAD"/>
              </a:buClr>
              <a:buFont typeface="Arial"/>
              <a:buChar char="■"/>
            </a:pPr>
            <a:r>
              <a:rPr sz="1550" b="1" i="0">
                <a:solidFill>
                  <a:srgbClr val="1F2937"/>
                </a:solidFill>
                <a:latin typeface="Calibri"/>
              </a:rPr>
              <a:t>Mitigation (Chapter 5):</a:t>
            </a:r>
            <a:r>
              <a:rPr sz="1550" b="0" i="0">
                <a:solidFill>
                  <a:srgbClr val="1F2937"/>
                </a:solidFill>
                <a:latin typeface="Calibri"/>
              </a:rPr>
              <a:t> add anomaly detection, which flags unusual traffic it was never shown.</a:t>
            </a:r>
          </a:p>
        </p:txBody>
      </p:sp>
      <p:cxnSp>
        <p:nvCxnSpPr>
          <p:cNvPr id="42" name="Connector 41"/>
          <p:cNvCxnSpPr/>
          <p:nvPr/>
        </p:nvCxnSpPr>
        <p:spPr>
          <a:xfrm>
            <a:off x="548640" y="6355080"/>
            <a:ext cx="11094415"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548640" y="6446520"/>
            <a:ext cx="10545775" cy="274320"/>
          </a:xfrm>
          <a:prstGeom prst="rect">
            <a:avLst/>
          </a:prstGeom>
          <a:noFill/>
        </p:spPr>
        <p:txBody>
          <a:bodyPr wrap="square" lIns="0" rIns="0" tIns="0" bIns="0" anchor="t">
            <a:spAutoFit/>
          </a:bodyPr>
          <a:lstStyle/>
          <a:p>
            <a:pPr algn="l">
              <a:lnSpc>
                <a:spcPct val="110000"/>
              </a:lnSpc>
              <a:spcAft>
                <a:spcPts val="600"/>
              </a:spcAft>
            </a:pPr>
            <a:r>
              <a:rPr sz="1000" b="0" i="0">
                <a:solidFill>
                  <a:srgbClr val="5B6472"/>
                </a:solidFill>
                <a:latin typeface="Calibri"/>
              </a:rPr>
              <a:t>Sources: author's analysis; Parisi (2019, Chapter 5).</a:t>
            </a:r>
          </a:p>
        </p:txBody>
      </p:sp>
      <p:sp>
        <p:nvSpPr>
          <p:cNvPr id="44" name="TextBox 43"/>
          <p:cNvSpPr txBox="1"/>
          <p:nvPr/>
        </p:nvSpPr>
        <p:spPr>
          <a:xfrm>
            <a:off x="11185855" y="6446520"/>
            <a:ext cx="45720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5B6472"/>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1094415"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1F5FAD"/>
                </a:solidFill>
                <a:latin typeface="Calibri"/>
              </a:rPr>
              <a:t>Q3: VALUE TO A COMPANY · CURRENT TREND</a:t>
            </a:r>
          </a:p>
        </p:txBody>
      </p:sp>
      <p:sp>
        <p:nvSpPr>
          <p:cNvPr id="4" name="TextBox 3"/>
          <p:cNvSpPr txBox="1"/>
          <p:nvPr/>
        </p:nvSpPr>
        <p:spPr>
          <a:xfrm>
            <a:off x="548640" y="658368"/>
            <a:ext cx="11094415" cy="731520"/>
          </a:xfrm>
          <a:prstGeom prst="rect">
            <a:avLst/>
          </a:prstGeom>
          <a:noFill/>
        </p:spPr>
        <p:txBody>
          <a:bodyPr wrap="square" lIns="0" rIns="0" tIns="0" bIns="0" anchor="t">
            <a:spAutoFit/>
          </a:bodyPr>
          <a:lstStyle/>
          <a:p>
            <a:pPr algn="l">
              <a:lnSpc>
                <a:spcPct val="100000"/>
              </a:lnSpc>
              <a:spcAft>
                <a:spcPts val="600"/>
              </a:spcAft>
            </a:pPr>
            <a:r>
              <a:rPr sz="3000" b="1" i="0">
                <a:solidFill>
                  <a:srgbClr val="0F1B2D"/>
                </a:solidFill>
                <a:latin typeface="Calibri"/>
              </a:rPr>
              <a:t>Trend: autonomous DDoS mitigation, and where this detector fits</a:t>
            </a:r>
          </a:p>
        </p:txBody>
      </p:sp>
      <p:sp>
        <p:nvSpPr>
          <p:cNvPr id="5" name="Rounded Rectangle 4"/>
          <p:cNvSpPr/>
          <p:nvPr/>
        </p:nvSpPr>
        <p:spPr>
          <a:xfrm>
            <a:off x="548640" y="1691640"/>
            <a:ext cx="5486400" cy="224028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22959" y="1874519"/>
            <a:ext cx="4937760" cy="274320"/>
          </a:xfrm>
          <a:prstGeom prst="rect">
            <a:avLst/>
          </a:prstGeom>
          <a:noFill/>
        </p:spPr>
        <p:txBody>
          <a:bodyPr wrap="square" lIns="0" rIns="0" tIns="0" bIns="0" anchor="t">
            <a:spAutoFit/>
          </a:bodyPr>
          <a:lstStyle/>
          <a:p>
            <a:pPr algn="l">
              <a:lnSpc>
                <a:spcPct val="110000"/>
              </a:lnSpc>
              <a:spcAft>
                <a:spcPts val="0"/>
              </a:spcAft>
            </a:pPr>
            <a:r>
              <a:rPr sz="1200" b="1" i="0">
                <a:solidFill>
                  <a:srgbClr val="1E846F"/>
                </a:solidFill>
                <a:latin typeface="Calibri"/>
              </a:rPr>
              <a:t>TREND: AUTONOMOUS DDOS MITIGATION</a:t>
            </a:r>
          </a:p>
        </p:txBody>
      </p:sp>
      <p:sp>
        <p:nvSpPr>
          <p:cNvPr id="7" name="TextBox 6"/>
          <p:cNvSpPr txBox="1"/>
          <p:nvPr/>
        </p:nvSpPr>
        <p:spPr>
          <a:xfrm>
            <a:off x="822959" y="2240280"/>
            <a:ext cx="4937760" cy="3566160"/>
          </a:xfrm>
          <a:prstGeom prst="rect">
            <a:avLst/>
          </a:prstGeom>
          <a:noFill/>
        </p:spPr>
        <p:txBody>
          <a:bodyPr wrap="square" lIns="0" rIns="0" tIns="0" bIns="0" anchor="t">
            <a:spAutoFit/>
          </a:bodyPr>
          <a:lstStyle/>
          <a:p>
            <a:pPr algn="l">
              <a:lnSpc>
                <a:spcPct val="110000"/>
              </a:lnSpc>
              <a:spcAft>
                <a:spcPts val="1400"/>
              </a:spcAft>
            </a:pPr>
            <a:r>
              <a:rPr sz="1550" b="0" i="0">
                <a:solidFill>
                  <a:srgbClr val="1F2937"/>
                </a:solidFill>
                <a:latin typeface="Calibri"/>
              </a:rPr>
              <a:t>Cloudflare blocked about </a:t>
            </a:r>
            <a:r>
              <a:rPr sz="1550" b="1" i="0">
                <a:solidFill>
                  <a:srgbClr val="1F2937"/>
                </a:solidFill>
                <a:latin typeface="Calibri"/>
              </a:rPr>
              <a:t>5,343 network-layer DDoS attacks per hour</a:t>
            </a:r>
            <a:r>
              <a:rPr sz="1550" b="0" i="0">
                <a:solidFill>
                  <a:srgbClr val="1F2937"/>
                </a:solidFill>
                <a:latin typeface="Calibri"/>
              </a:rPr>
              <a:t> in the first half of 2026. Its systems act without human intervention, because attacks end before an alert would reach an analyst.</a:t>
            </a:r>
          </a:p>
        </p:txBody>
      </p:sp>
      <p:sp>
        <p:nvSpPr>
          <p:cNvPr id="8" name="TextBox 7"/>
          <p:cNvSpPr txBox="1"/>
          <p:nvPr/>
        </p:nvSpPr>
        <p:spPr>
          <a:xfrm>
            <a:off x="6400800" y="1737360"/>
            <a:ext cx="5257800" cy="274320"/>
          </a:xfrm>
          <a:prstGeom prst="rect">
            <a:avLst/>
          </a:prstGeom>
          <a:noFill/>
        </p:spPr>
        <p:txBody>
          <a:bodyPr wrap="square" lIns="0" rIns="0" tIns="0" bIns="0" anchor="t">
            <a:spAutoFit/>
          </a:bodyPr>
          <a:lstStyle/>
          <a:p>
            <a:pPr algn="l">
              <a:lnSpc>
                <a:spcPct val="110000"/>
              </a:lnSpc>
              <a:spcAft>
                <a:spcPts val="0"/>
              </a:spcAft>
            </a:pPr>
            <a:r>
              <a:rPr sz="1200" b="1" i="0">
                <a:solidFill>
                  <a:srgbClr val="1F5FAD"/>
                </a:solidFill>
                <a:latin typeface="Calibri"/>
              </a:rPr>
              <a:t>HOW A COMPANY SHOULD USE THIS DETECTOR</a:t>
            </a:r>
          </a:p>
        </p:txBody>
      </p:sp>
      <p:sp>
        <p:nvSpPr>
          <p:cNvPr id="9" name="TextBox 8"/>
          <p:cNvSpPr txBox="1"/>
          <p:nvPr/>
        </p:nvSpPr>
        <p:spPr>
          <a:xfrm>
            <a:off x="6400800" y="2103120"/>
            <a:ext cx="5257800" cy="3840480"/>
          </a:xfrm>
          <a:prstGeom prst="rect">
            <a:avLst/>
          </a:prstGeom>
          <a:noFill/>
        </p:spPr>
        <p:txBody>
          <a:bodyPr wrap="square" lIns="0" rIns="0" tIns="0" bIns="0">
            <a:spAutoFit/>
          </a:bodyPr>
          <a:lstStyle/>
          <a:p>
            <a:pPr marL="256032" indent="-256032">
              <a:lnSpc>
                <a:spcPct val="110000"/>
              </a:lnSpc>
              <a:spcAft>
                <a:spcPts val="1400"/>
              </a:spcAft>
              <a:buClr>
                <a:srgbClr val="1F5FAD"/>
              </a:buClr>
              <a:buFont typeface="Arial"/>
              <a:buChar char="■"/>
            </a:pPr>
            <a:r>
              <a:rPr sz="1550" b="1" i="0">
                <a:solidFill>
                  <a:srgbClr val="1F2937"/>
                </a:solidFill>
                <a:latin typeface="Calibri"/>
              </a:rPr>
              <a:t>Automate the confident cases:</a:t>
            </a:r>
            <a:r>
              <a:rPr sz="1550" b="0" i="0">
                <a:solidFill>
                  <a:srgbClr val="1F2937"/>
                </a:solidFill>
                <a:latin typeface="Calibri"/>
              </a:rPr>
              <a:t> block clear floods in real time.</a:t>
            </a:r>
          </a:p>
          <a:p>
            <a:pPr marL="256032" indent="-256032">
              <a:lnSpc>
                <a:spcPct val="110000"/>
              </a:lnSpc>
              <a:spcAft>
                <a:spcPts val="1400"/>
              </a:spcAft>
              <a:buClr>
                <a:srgbClr val="1F5FAD"/>
              </a:buClr>
              <a:buFont typeface="Arial"/>
              <a:buChar char="■"/>
            </a:pPr>
            <a:r>
              <a:rPr sz="1550" b="1" i="0">
                <a:solidFill>
                  <a:srgbClr val="1F2937"/>
                </a:solidFill>
                <a:latin typeface="Calibri"/>
              </a:rPr>
              <a:t>Route uncertain alerts to analysts:</a:t>
            </a:r>
            <a:r>
              <a:rPr sz="1550" b="0" i="0">
                <a:solidFill>
                  <a:srgbClr val="1F2937"/>
                </a:solidFill>
                <a:latin typeface="Calibri"/>
              </a:rPr>
              <a:t> on new traffic, 2.7% of normal connections were wrongly flagged.</a:t>
            </a:r>
          </a:p>
          <a:p>
            <a:pPr marL="256032" indent="-256032">
              <a:lnSpc>
                <a:spcPct val="110000"/>
              </a:lnSpc>
              <a:spcAft>
                <a:spcPts val="1400"/>
              </a:spcAft>
              <a:buClr>
                <a:srgbClr val="1F5FAD"/>
              </a:buClr>
              <a:buFont typeface="Arial"/>
              <a:buChar char="■"/>
            </a:pPr>
            <a:r>
              <a:rPr sz="1550" b="1" i="0">
                <a:solidFill>
                  <a:srgbClr val="1F2937"/>
                </a:solidFill>
                <a:latin typeface="Calibri"/>
              </a:rPr>
              <a:t>Add anomaly detection and retrain</a:t>
            </a:r>
            <a:r>
              <a:rPr sz="1550" b="0" i="0">
                <a:solidFill>
                  <a:srgbClr val="1F2937"/>
                </a:solidFill>
                <a:latin typeface="Calibri"/>
              </a:rPr>
              <a:t> as new attacks appear.</a:t>
            </a:r>
          </a:p>
        </p:txBody>
      </p:sp>
      <p:cxnSp>
        <p:nvCxnSpPr>
          <p:cNvPr id="10" name="Connector 9"/>
          <p:cNvCxnSpPr/>
          <p:nvPr/>
        </p:nvCxnSpPr>
        <p:spPr>
          <a:xfrm>
            <a:off x="548640" y="6355080"/>
            <a:ext cx="11094415"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48640" y="6446520"/>
            <a:ext cx="10545775" cy="274320"/>
          </a:xfrm>
          <a:prstGeom prst="rect">
            <a:avLst/>
          </a:prstGeom>
          <a:noFill/>
        </p:spPr>
        <p:txBody>
          <a:bodyPr wrap="square" lIns="0" rIns="0" tIns="0" bIns="0" anchor="t">
            <a:spAutoFit/>
          </a:bodyPr>
          <a:lstStyle/>
          <a:p>
            <a:pPr algn="l">
              <a:lnSpc>
                <a:spcPct val="110000"/>
              </a:lnSpc>
              <a:spcAft>
                <a:spcPts val="600"/>
              </a:spcAft>
            </a:pPr>
            <a:r>
              <a:rPr sz="1000" b="0" i="0">
                <a:solidFill>
                  <a:srgbClr val="5B6472"/>
                </a:solidFill>
                <a:latin typeface="Calibri"/>
              </a:rPr>
              <a:t>Sources: Cloudforce One (2026); author's analysis.</a:t>
            </a:r>
          </a:p>
        </p:txBody>
      </p:sp>
      <p:sp>
        <p:nvSpPr>
          <p:cNvPr id="12" name="TextBox 11"/>
          <p:cNvSpPr txBox="1"/>
          <p:nvPr/>
        </p:nvSpPr>
        <p:spPr>
          <a:xfrm>
            <a:off x="11185855" y="6446520"/>
            <a:ext cx="45720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5B6472"/>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1094415"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1F5FAD"/>
                </a:solidFill>
                <a:latin typeface="Calibri"/>
              </a:rPr>
              <a:t>WHAT I LEARNED</a:t>
            </a:r>
          </a:p>
        </p:txBody>
      </p:sp>
      <p:sp>
        <p:nvSpPr>
          <p:cNvPr id="4" name="TextBox 3"/>
          <p:cNvSpPr txBox="1"/>
          <p:nvPr/>
        </p:nvSpPr>
        <p:spPr>
          <a:xfrm>
            <a:off x="548640" y="658368"/>
            <a:ext cx="11094415" cy="731520"/>
          </a:xfrm>
          <a:prstGeom prst="rect">
            <a:avLst/>
          </a:prstGeom>
          <a:noFill/>
        </p:spPr>
        <p:txBody>
          <a:bodyPr wrap="square" lIns="0" rIns="0" tIns="0" bIns="0" anchor="t">
            <a:spAutoFit/>
          </a:bodyPr>
          <a:lstStyle/>
          <a:p>
            <a:pPr algn="l">
              <a:lnSpc>
                <a:spcPct val="100000"/>
              </a:lnSpc>
              <a:spcAft>
                <a:spcPts val="600"/>
              </a:spcAft>
            </a:pPr>
            <a:r>
              <a:rPr sz="3000" b="1" i="0">
                <a:solidFill>
                  <a:srgbClr val="0F1B2D"/>
                </a:solidFill>
                <a:latin typeface="Calibri"/>
              </a:rPr>
              <a:t>Reflection: accuracy is not the same as protection</a:t>
            </a:r>
          </a:p>
        </p:txBody>
      </p:sp>
      <p:sp>
        <p:nvSpPr>
          <p:cNvPr id="5" name="Rounded Rectangle 4"/>
          <p:cNvSpPr/>
          <p:nvPr/>
        </p:nvSpPr>
        <p:spPr>
          <a:xfrm>
            <a:off x="548640" y="1691640"/>
            <a:ext cx="11109960" cy="3017520"/>
          </a:xfrm>
          <a:prstGeom prst="roundRect">
            <a:avLst>
              <a:gd name="adj" fmla="val 3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14400" y="1965960"/>
            <a:ext cx="10424160" cy="3749039"/>
          </a:xfrm>
          <a:prstGeom prst="rect">
            <a:avLst/>
          </a:prstGeom>
          <a:noFill/>
        </p:spPr>
        <p:txBody>
          <a:bodyPr wrap="square" lIns="0" rIns="0" tIns="0" bIns="0" anchor="t">
            <a:spAutoFit/>
          </a:bodyPr>
          <a:lstStyle/>
          <a:p>
            <a:pPr algn="l">
              <a:lnSpc>
                <a:spcPct val="110000"/>
              </a:lnSpc>
              <a:spcAft>
                <a:spcPts val="1600"/>
              </a:spcAft>
            </a:pPr>
            <a:r>
              <a:rPr sz="1800" b="0" i="0">
                <a:solidFill>
                  <a:srgbClr val="1F2937"/>
                </a:solidFill>
                <a:latin typeface="Calibri"/>
              </a:rPr>
              <a:t>My first result, </a:t>
            </a:r>
            <a:r>
              <a:rPr sz="1800" b="1" i="0">
                <a:solidFill>
                  <a:srgbClr val="1F2937"/>
                </a:solidFill>
                <a:latin typeface="Calibri"/>
              </a:rPr>
              <a:t>99.90%</a:t>
            </a:r>
            <a:r>
              <a:rPr sz="1800" b="0" i="0">
                <a:solidFill>
                  <a:srgbClr val="1F2937"/>
                </a:solidFill>
                <a:latin typeface="Calibri"/>
              </a:rPr>
              <a:t>, looked finished. The official test set (</a:t>
            </a:r>
            <a:r>
              <a:rPr sz="1800" b="1" i="0">
                <a:solidFill>
                  <a:srgbClr val="1F2937"/>
                </a:solidFill>
                <a:latin typeface="Calibri"/>
              </a:rPr>
              <a:t>76.7%</a:t>
            </a:r>
            <a:r>
              <a:rPr sz="1800" b="0" i="0">
                <a:solidFill>
                  <a:srgbClr val="1F2937"/>
                </a:solidFill>
                <a:latin typeface="Calibri"/>
              </a:rPr>
              <a:t>, and only </a:t>
            </a:r>
            <a:r>
              <a:rPr sz="1800" b="1" i="0">
                <a:solidFill>
                  <a:srgbClr val="1F2937"/>
                </a:solidFill>
                <a:latin typeface="Calibri"/>
              </a:rPr>
              <a:t>23%</a:t>
            </a:r>
            <a:r>
              <a:rPr sz="1800" b="0" i="0">
                <a:solidFill>
                  <a:srgbClr val="1F2937"/>
                </a:solidFill>
                <a:latin typeface="Calibri"/>
              </a:rPr>
              <a:t> of new attacks caught) showed the model knew the attacks it had seen, not attacks in general.</a:t>
            </a:r>
          </a:p>
          <a:p>
            <a:pPr algn="l">
              <a:lnSpc>
                <a:spcPct val="110000"/>
              </a:lnSpc>
              <a:spcAft>
                <a:spcPts val="1600"/>
              </a:spcAft>
            </a:pPr>
            <a:r>
              <a:rPr sz="1800" b="0" i="0">
                <a:solidFill>
                  <a:srgbClr val="1F2937"/>
                </a:solidFill>
                <a:latin typeface="Calibri"/>
              </a:rPr>
              <a:t>My Module 1 and 3 anomaly detectors had the opposite profile: supervised and anomaly-based detection cover each other's blind spots.</a:t>
            </a:r>
          </a:p>
          <a:p>
            <a:pPr algn="l">
              <a:lnSpc>
                <a:spcPct val="110000"/>
              </a:lnSpc>
              <a:spcAft>
                <a:spcPts val="1600"/>
              </a:spcAft>
            </a:pPr>
            <a:r>
              <a:rPr sz="1800" b="0" i="0">
                <a:solidFill>
                  <a:srgbClr val="1F2937"/>
                </a:solidFill>
                <a:latin typeface="Calibri"/>
              </a:rPr>
              <a:t>As a future security engineer, I want to build detectors that are judged on the threats they miss, and that let people make the calls a model is not sure about.</a:t>
            </a:r>
          </a:p>
        </p:txBody>
      </p:sp>
      <p:cxnSp>
        <p:nvCxnSpPr>
          <p:cNvPr id="7" name="Connector 6"/>
          <p:cNvCxnSpPr/>
          <p:nvPr/>
        </p:nvCxnSpPr>
        <p:spPr>
          <a:xfrm>
            <a:off x="548640" y="6355080"/>
            <a:ext cx="11094415"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6446520"/>
            <a:ext cx="10545775" cy="274320"/>
          </a:xfrm>
          <a:prstGeom prst="rect">
            <a:avLst/>
          </a:prstGeom>
          <a:noFill/>
        </p:spPr>
        <p:txBody>
          <a:bodyPr wrap="square" lIns="0" rIns="0" tIns="0" bIns="0" anchor="t">
            <a:spAutoFit/>
          </a:bodyPr>
          <a:lstStyle/>
          <a:p>
            <a:pPr algn="l">
              <a:lnSpc>
                <a:spcPct val="110000"/>
              </a:lnSpc>
              <a:spcAft>
                <a:spcPts val="600"/>
              </a:spcAft>
            </a:pPr>
            <a:r>
              <a:rPr sz="1000" b="0" i="0">
                <a:solidFill>
                  <a:srgbClr val="5B6472"/>
                </a:solidFill>
                <a:latin typeface="Calibri"/>
              </a:rPr>
              <a:t>Reflection draws on my Module 1, Module 3 and Module 4 labs.</a:t>
            </a:r>
          </a:p>
        </p:txBody>
      </p:sp>
      <p:sp>
        <p:nvSpPr>
          <p:cNvPr id="9" name="TextBox 8"/>
          <p:cNvSpPr txBox="1"/>
          <p:nvPr/>
        </p:nvSpPr>
        <p:spPr>
          <a:xfrm>
            <a:off x="11185855" y="6446520"/>
            <a:ext cx="45720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5B6472"/>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1094415"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1F5FAD"/>
                </a:solidFill>
                <a:latin typeface="Calibri"/>
              </a:rPr>
              <a:t>APA 7TH EDITION</a:t>
            </a:r>
          </a:p>
        </p:txBody>
      </p:sp>
      <p:sp>
        <p:nvSpPr>
          <p:cNvPr id="4" name="TextBox 3"/>
          <p:cNvSpPr txBox="1"/>
          <p:nvPr/>
        </p:nvSpPr>
        <p:spPr>
          <a:xfrm>
            <a:off x="548640" y="658368"/>
            <a:ext cx="11094415" cy="731520"/>
          </a:xfrm>
          <a:prstGeom prst="rect">
            <a:avLst/>
          </a:prstGeom>
          <a:noFill/>
        </p:spPr>
        <p:txBody>
          <a:bodyPr wrap="square" lIns="0" rIns="0" tIns="0" bIns="0" anchor="t">
            <a:spAutoFit/>
          </a:bodyPr>
          <a:lstStyle/>
          <a:p>
            <a:pPr algn="l">
              <a:lnSpc>
                <a:spcPct val="100000"/>
              </a:lnSpc>
              <a:spcAft>
                <a:spcPts val="600"/>
              </a:spcAft>
            </a:pPr>
            <a:r>
              <a:rPr sz="3000" b="1" i="0">
                <a:solidFill>
                  <a:srgbClr val="0F1B2D"/>
                </a:solidFill>
                <a:latin typeface="Calibri"/>
              </a:rPr>
              <a:t>References</a:t>
            </a:r>
          </a:p>
        </p:txBody>
      </p:sp>
      <p:sp>
        <p:nvSpPr>
          <p:cNvPr id="5" name="TextBox 4"/>
          <p:cNvSpPr txBox="1"/>
          <p:nvPr/>
        </p:nvSpPr>
        <p:spPr>
          <a:xfrm>
            <a:off x="548640" y="1645920"/>
            <a:ext cx="11094415" cy="4572000"/>
          </a:xfrm>
          <a:prstGeom prst="rect">
            <a:avLst/>
          </a:prstGeom>
          <a:noFill/>
        </p:spPr>
        <p:txBody>
          <a:bodyPr wrap="square" lIns="0" rIns="0" tIns="0" bIns="0" anchor="t">
            <a:spAutoFit/>
          </a:bodyPr>
          <a:lstStyle/>
          <a:p>
            <a:pPr algn="l" marL="411480" indent="-411480">
              <a:lnSpc>
                <a:spcPct val="105000"/>
              </a:lnSpc>
              <a:spcAft>
                <a:spcPts val="800"/>
              </a:spcAft>
            </a:pPr>
            <a:r>
              <a:rPr sz="1250" b="0" i="0">
                <a:solidFill>
                  <a:srgbClr val="1F2937"/>
                </a:solidFill>
                <a:latin typeface="Calibri"/>
              </a:rPr>
              <a:t>Cloudforce One. (2026, August 11). </a:t>
            </a:r>
            <a:r>
              <a:rPr sz="1250" b="0" i="1">
                <a:solidFill>
                  <a:srgbClr val="1F2937"/>
                </a:solidFill>
                <a:latin typeface="Calibri"/>
              </a:rPr>
              <a:t>Cloudflare DDoS threat report H1 2026: 1 Tbps attacks soar as DNS floods and geopolitical tensions drive a new wave</a:t>
            </a:r>
            <a:r>
              <a:rPr sz="1250" b="0" i="0">
                <a:solidFill>
                  <a:srgbClr val="1F2937"/>
                </a:solidFill>
                <a:latin typeface="Calibri"/>
              </a:rPr>
              <a:t>. Cloudflare Blog. https://blog.cloudflare.com/ddos-threat-report-2026-h1/</a:t>
            </a:r>
          </a:p>
          <a:p>
            <a:pPr algn="l" marL="411480" indent="-411480">
              <a:lnSpc>
                <a:spcPct val="105000"/>
              </a:lnSpc>
              <a:spcAft>
                <a:spcPts val="800"/>
              </a:spcAft>
            </a:pPr>
            <a:r>
              <a:rPr sz="1250" b="0" i="0">
                <a:solidFill>
                  <a:srgbClr val="1F2937"/>
                </a:solidFill>
                <a:latin typeface="Calibri"/>
              </a:rPr>
              <a:t>DiDio, L. (2024, April). </a:t>
            </a:r>
            <a:r>
              <a:rPr sz="1250" b="0" i="1">
                <a:solidFill>
                  <a:srgbClr val="1F2937"/>
                </a:solidFill>
                <a:latin typeface="Calibri"/>
              </a:rPr>
              <a:t>ITIC 2024 hourly cost of downtime survey results, part 2</a:t>
            </a:r>
            <a:r>
              <a:rPr sz="1250" b="0" i="0">
                <a:solidFill>
                  <a:srgbClr val="1F2937"/>
                </a:solidFill>
                <a:latin typeface="Calibri"/>
              </a:rPr>
              <a:t>. Information Technology Intelligence Consulting; Calyptix Security. https://calyptix.com/wp-content/uploads/ITIC-2024-Hourly-Cost-of-Downtime-Survey-Results-Part-2.pdf</a:t>
            </a:r>
          </a:p>
          <a:p>
            <a:pPr algn="l" marL="411480" indent="-411480">
              <a:lnSpc>
                <a:spcPct val="105000"/>
              </a:lnSpc>
              <a:spcAft>
                <a:spcPts val="800"/>
              </a:spcAft>
            </a:pPr>
            <a:r>
              <a:rPr sz="1250" b="0" i="0">
                <a:solidFill>
                  <a:srgbClr val="1F2937"/>
                </a:solidFill>
                <a:latin typeface="Calibri"/>
              </a:rPr>
              <a:t>Ilascu, I. (2026, August 16). Large-scale DDoS attacks disrupted Threema secure messaging service. </a:t>
            </a:r>
            <a:r>
              <a:rPr sz="1250" b="0" i="1">
                <a:solidFill>
                  <a:srgbClr val="1F2937"/>
                </a:solidFill>
                <a:latin typeface="Calibri"/>
              </a:rPr>
              <a:t>BleepingComputer</a:t>
            </a:r>
            <a:r>
              <a:rPr sz="1250" b="0" i="0">
                <a:solidFill>
                  <a:srgbClr val="1F2937"/>
                </a:solidFill>
                <a:latin typeface="Calibri"/>
              </a:rPr>
              <a:t>. https://www.bleepingcomputer.com/news/security/large-scale-ddos-attacks-disrupted-threema-secure-messaging-service/</a:t>
            </a:r>
          </a:p>
          <a:p>
            <a:pPr algn="l" marL="411480" indent="-411480">
              <a:lnSpc>
                <a:spcPct val="105000"/>
              </a:lnSpc>
              <a:spcAft>
                <a:spcPts val="800"/>
              </a:spcAft>
            </a:pPr>
            <a:r>
              <a:rPr sz="1250" b="0" i="0">
                <a:solidFill>
                  <a:srgbClr val="1F2937"/>
                </a:solidFill>
                <a:latin typeface="Calibri"/>
              </a:rPr>
              <a:t>Parisi, A. (2019). </a:t>
            </a:r>
            <a:r>
              <a:rPr sz="1250" b="0" i="1">
                <a:solidFill>
                  <a:srgbClr val="1F2937"/>
                </a:solidFill>
                <a:latin typeface="Calibri"/>
              </a:rPr>
              <a:t>Hands-on artificial intelligence for cybersecurity: Implement smart AI systems for preventing cyber attacks and detecting threats and network anomalies</a:t>
            </a:r>
            <a:r>
              <a:rPr sz="1250" b="0" i="0">
                <a:solidFill>
                  <a:srgbClr val="1F2937"/>
                </a:solidFill>
                <a:latin typeface="Calibri"/>
              </a:rPr>
              <a:t>. Packt Publishing.</a:t>
            </a:r>
          </a:p>
          <a:p>
            <a:pPr algn="l" marL="411480" indent="-411480">
              <a:lnSpc>
                <a:spcPct val="105000"/>
              </a:lnSpc>
              <a:spcAft>
                <a:spcPts val="800"/>
              </a:spcAft>
            </a:pPr>
            <a:r>
              <a:rPr sz="1250" b="0" i="0">
                <a:solidFill>
                  <a:srgbClr val="1F2937"/>
                </a:solidFill>
                <a:latin typeface="Calibri"/>
              </a:rPr>
              <a:t>Tavallaee, M., Bagheri, E., Lu, W., &amp; Ghorbani, A. A. (2009). A detailed analysis of the KDD CUP 99 data set. In </a:t>
            </a:r>
            <a:r>
              <a:rPr sz="1250" b="0" i="1">
                <a:solidFill>
                  <a:srgbClr val="1F2937"/>
                </a:solidFill>
                <a:latin typeface="Calibri"/>
              </a:rPr>
              <a:t>Proceedings of the 2009 IEEE Symposium on Computational Intelligence for Security and Defense Applications</a:t>
            </a:r>
            <a:r>
              <a:rPr sz="1250" b="0" i="0">
                <a:solidFill>
                  <a:srgbClr val="1F2937"/>
                </a:solidFill>
                <a:latin typeface="Calibri"/>
              </a:rPr>
              <a:t> (pp. 1–6). IEEE. https://doi.org/10.1109/CISDA.2009.5356528</a:t>
            </a:r>
          </a:p>
          <a:p>
            <a:pPr algn="l" marL="411480" indent="-411480">
              <a:lnSpc>
                <a:spcPct val="105000"/>
              </a:lnSpc>
              <a:spcAft>
                <a:spcPts val="800"/>
              </a:spcAft>
            </a:pPr>
            <a:r>
              <a:rPr sz="1250" b="0" i="0">
                <a:solidFill>
                  <a:srgbClr val="1F2937"/>
                </a:solidFill>
                <a:latin typeface="Calibri"/>
              </a:rPr>
              <a:t>Yoachimik, O., Pacheco, J., &amp; Cloudforce One. (2026, February 5). </a:t>
            </a:r>
            <a:r>
              <a:rPr sz="1250" b="0" i="1">
                <a:solidFill>
                  <a:srgbClr val="1F2937"/>
                </a:solidFill>
                <a:latin typeface="Calibri"/>
              </a:rPr>
              <a:t>2025 Q4 DDoS threat report: A record-setting 31.4 Tbps attack caps a year of massive DDoS assaults</a:t>
            </a:r>
            <a:r>
              <a:rPr sz="1250" b="0" i="0">
                <a:solidFill>
                  <a:srgbClr val="1F2937"/>
                </a:solidFill>
                <a:latin typeface="Calibri"/>
              </a:rPr>
              <a:t>. Cloudflare Blog. https://blog.cloudflare.com/ddos-threat-report-2025-q4/</a:t>
            </a:r>
          </a:p>
        </p:txBody>
      </p:sp>
      <p:cxnSp>
        <p:nvCxnSpPr>
          <p:cNvPr id="6" name="Connector 5"/>
          <p:cNvCxnSpPr/>
          <p:nvPr/>
        </p:nvCxnSpPr>
        <p:spPr>
          <a:xfrm>
            <a:off x="548640" y="6355080"/>
            <a:ext cx="11094415"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46520"/>
            <a:ext cx="10545775" cy="274320"/>
          </a:xfrm>
          <a:prstGeom prst="rect">
            <a:avLst/>
          </a:prstGeom>
          <a:noFill/>
        </p:spPr>
        <p:txBody>
          <a:bodyPr wrap="square" lIns="0" rIns="0" tIns="0" bIns="0" anchor="t">
            <a:spAutoFit/>
          </a:bodyPr>
          <a:lstStyle/>
          <a:p>
            <a:pPr algn="l">
              <a:lnSpc>
                <a:spcPct val="110000"/>
              </a:lnSpc>
              <a:spcAft>
                <a:spcPts val="600"/>
              </a:spcAft>
            </a:pPr>
            <a:r>
              <a:rPr sz="1000" b="0" i="0">
                <a:solidFill>
                  <a:srgbClr val="5B6472"/>
                </a:solidFill>
                <a:latin typeface="Calibri"/>
              </a:rPr>
              <a:t>Notebook: Ruthvik_Nath_Bandari_AI_Threat_Detection.ipynb (Google Colab).</a:t>
            </a:r>
          </a:p>
        </p:txBody>
      </p:sp>
      <p:sp>
        <p:nvSpPr>
          <p:cNvPr id="8" name="TextBox 7"/>
          <p:cNvSpPr txBox="1"/>
          <p:nvPr/>
        </p:nvSpPr>
        <p:spPr>
          <a:xfrm>
            <a:off x="11185855" y="6446520"/>
            <a:ext cx="45720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5B6472"/>
                </a:solidFill>
                <a:latin typeface="Calibri"/>
              </a:rPr>
              <a:t>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