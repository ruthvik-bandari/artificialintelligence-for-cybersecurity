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analyses a breach reported by Brian Krebs on September 1, 2026. A dark-web service called Nexus advertised scans of more than 153 million U.S. and Canadian driver's licenses. Krebs traced the samples he could verify to IDScan.net, an identity verification vendor, which later confirmed a breach; the article does not establish that every advertised record came from that one company. I will summarise the incident, map it to the CIA triad, explain why confidentiality was hit hardest, and recommend an AI-based control from Chapter 5 together with a current industry trend that would have reduced the damage.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IDScan.net verifies IDs for Hertz, Target, FedEx and more than a thousand cannabis dispensaries, running over 21 million verifications a month. What: the Nexus service advertised over 153 million driver's licenses, more than 10 million ID cards, three million travel documents and 579,000 medical cards, often with infrared and ultraviolet images. When: Krebs matched image timestamps to trips as early as June 2025; Nexus was advertised on August 31, 2026, the FBI opened an inquiry on September 1, and IDScan confirmed unauthorized access on September 8. Krebs verified the link to IDScan through nine people whose records matched their trips; the full 153 million figure is the sellers' own claim. How: the attackers claimed continuous exfiltration for over a year, and the record count grew by about 400,000 in a single day. The threat is data theft for identity fraud; the impact includes identity and credit fraud, IDScan's notification and credit-protection costs, an FBI investigation, and exposure of senior officials such as the U.S. Defense Secretary.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maps the attack onto the triad. The attack vector is the long-running exfiltration in the centre. Confidentiality is severe: Nexus advertised more than 153 million identity images, and Krebs verified that real, matching records were for sale. Integrity is moderate: Krebs reports no evidence that IDScan's stored records were altered, so the harm is downstream. The stolen scans include the infrared and ultraviolet images that verifiers check, so criminals can make convincing forgeries and open fraudulent accounts elsewhere, which undermines the trust that a verified ID proves identity. Availability is low: Krebs reports no outage of IDScan's service, but there is indirect loss, because victims must freeze their credit and business clients may have to pause or repeat verification while the vendor investigates.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Confidentiality is the most severe impact for four reasons. First, it is irreversible: unlike a password, a person's face, date of birth and license number cannot be rotated. Second, the data is forgery-grade, because the infrared and ultraviolet scans are the very features that verification systems inspect. Third, the harm goes beyond financial fraud: a researcher quoted by Krebs warned that the images expose people fleeing domestic violence and people in witness protection, who cannot meaningfully change their appearance. Fourth, the integrity and availability harms are downstream of this one confidentiality failure, so preventing the leak would have prevented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recommended control is AI-based egress anomaly detection, which applies Chapter 5 of Parisi directly. The detector learns what normal outbound activity looks like for each service account, using features such as bytes sent, records read, destination and time of day, and fits a Gaussian or Gaussian mixture density. Activity with very low probability is flagged, and a SOAR playbook can revoke the token and block the destination. In this breach, an account suddenly moving hundreds of thousands of license images a day would likely stand out. Whether it is stopped within hours depends on having logs for the image store, well-tuned thresholds and an automated response, so I present that as a plausible outcome rather than a guarantee. My Module 1 lab adds a caveat: my benign-only mixture model scored ROC-AUC 0.966, but it missed attacks that look normal one flow at a time. So the detector must aggregate per account over days, which is how commercial UEBA and network detection platforms work today. This makes the control realistic for current industry practice.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trend I connect to mitigation is the shift to mobile driver's licenses and selective disclosure, standardised in ISO/IEC 18013-5. TSA already accepts digital IDs at more than 250 airports and says it sees only the information it needs. Instead of photocopying a physical card, the verifier asks the phone a narrow question, such as whether the holder is over 21, and receives a cryptographically signed yes or no from the issuing state. That reduces what the verifier receives, but the benefit depends on implementation: ISO/IEC 18013-5 leaves requirements for storing mDL data out of scope, so verifiers still need retention limits for a breach to yield less. This is data minimization in practice, and it answers the oversight gap the privacy researcher Zach Edwards raised in the article. It pairs with the AI control: minimization shrinks what can be stolen, and anomaly detection shrinks how long a thief has to steal what remains.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exposed a blind spot in my own Module 1 detector. It scored well overall, but it judged single flows, and this attacker was patient enough to blend in flow by flow for over a year. The habit I most want to carry forward is interrogating a model until its limits are explicit, because a strong score does not prove broad protection. The cipher lab in this module taught me that structure leaks through encryption; this breach showed that stored data leaks too, so sometimes the best control is simply keeping less of it. In my future security engineering work, I want to build detectors that model behavior over time, and keep a named analyst accountable for high-impact automated responses. The references are listed in APA format: the Krebs on Security article, the ISO standard for mobile driving licences, Chapter 5 of Parisi's Hands-On Artificial Intelligence for Cybersecurity, and TSA's page on digital IDs.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41732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645920"/>
            <a:ext cx="10515600" cy="1554480"/>
          </a:xfrm>
          <a:prstGeom prst="rect">
            <a:avLst/>
          </a:prstGeom>
          <a:noFill/>
        </p:spPr>
        <p:txBody>
          <a:bodyPr wrap="square" lIns="0" rIns="0" tIns="0" bIns="0" anchor="t">
            <a:spAutoFit/>
          </a:bodyPr>
          <a:lstStyle/>
          <a:p>
            <a:pPr algn="l">
              <a:lnSpc>
                <a:spcPct val="100000"/>
              </a:lnSpc>
              <a:spcAft>
                <a:spcPts val="0"/>
              </a:spcAft>
            </a:pPr>
            <a:r>
              <a:rPr sz="4600" b="1" i="0">
                <a:solidFill>
                  <a:srgbClr val="FFFFFF"/>
                </a:solidFill>
                <a:latin typeface="Calibri"/>
              </a:rPr>
              <a:t>153 Million Driver’s Licenses</a:t>
            </a:r>
          </a:p>
          <a:p>
            <a:pPr algn="l">
              <a:lnSpc>
                <a:spcPct val="100000"/>
              </a:lnSpc>
              <a:spcAft>
                <a:spcPts val="0"/>
              </a:spcAft>
            </a:pPr>
            <a:r>
              <a:rPr sz="4600" b="1" i="0">
                <a:solidFill>
                  <a:srgbClr val="FFFFFF"/>
                </a:solidFill>
                <a:latin typeface="Calibri"/>
              </a:rPr>
              <a:t>Advertised for Sale</a:t>
            </a:r>
          </a:p>
        </p:txBody>
      </p:sp>
      <p:sp>
        <p:nvSpPr>
          <p:cNvPr id="5" name="TextBox 4"/>
          <p:cNvSpPr txBox="1"/>
          <p:nvPr/>
        </p:nvSpPr>
        <p:spPr>
          <a:xfrm>
            <a:off x="548640" y="3246120"/>
            <a:ext cx="11155680" cy="914400"/>
          </a:xfrm>
          <a:prstGeom prst="rect">
            <a:avLst/>
          </a:prstGeom>
          <a:noFill/>
        </p:spPr>
        <p:txBody>
          <a:bodyPr wrap="square" lIns="0" rIns="0" tIns="0" bIns="0" anchor="t">
            <a:spAutoFit/>
          </a:bodyPr>
          <a:lstStyle/>
          <a:p>
            <a:pPr algn="l">
              <a:lnSpc>
                <a:spcPct val="110000"/>
              </a:lnSpc>
              <a:spcAft>
                <a:spcPts val="600"/>
              </a:spcAft>
            </a:pPr>
            <a:r>
              <a:rPr sz="2200" b="0" i="0">
                <a:solidFill>
                  <a:srgbClr val="C9D3E0"/>
                </a:solidFill>
                <a:latin typeface="Calibri"/>
              </a:rPr>
              <a:t>A CIA triad analysis of the Nexus ID-theft service and the confirmed IDScan.net breach</a:t>
            </a:r>
          </a:p>
        </p:txBody>
      </p:sp>
      <p:sp>
        <p:nvSpPr>
          <p:cNvPr id="6" name="TextBox 5"/>
          <p:cNvSpPr txBox="1"/>
          <p:nvPr/>
        </p:nvSpPr>
        <p:spPr>
          <a:xfrm>
            <a:off x="548640" y="4434840"/>
            <a:ext cx="7315200" cy="1097280"/>
          </a:xfrm>
          <a:prstGeom prst="rect">
            <a:avLst/>
          </a:prstGeom>
          <a:noFill/>
        </p:spPr>
        <p:txBody>
          <a:bodyPr wrap="square" lIns="0" rIns="0" tIns="0" bIns="0" anchor="t">
            <a:spAutoFit/>
          </a:bodyPr>
          <a:lstStyle/>
          <a:p>
            <a:pPr algn="l">
              <a:lnSpc>
                <a:spcPct val="110000"/>
              </a:lnSpc>
              <a:spcAft>
                <a:spcPts val="400"/>
              </a:spcAft>
            </a:pPr>
            <a:r>
              <a:rPr sz="1600" b="1"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a:t>
            </a:r>
          </a:p>
          <a:p>
            <a:pPr algn="l">
              <a:lnSpc>
                <a:spcPct val="110000"/>
              </a:lnSpc>
              <a:spcAft>
                <a:spcPts val="400"/>
              </a:spcAft>
            </a:pPr>
            <a:r>
              <a:rPr sz="1600" b="0" i="0">
                <a:solidFill>
                  <a:srgbClr val="C9D3E0"/>
                </a:solidFill>
                <a:latin typeface="Calibri"/>
              </a:rPr>
              <a:t>Mimoza Dimodugno, PhD · September 2026</a:t>
            </a:r>
          </a:p>
        </p:txBody>
      </p:sp>
      <p:sp>
        <p:nvSpPr>
          <p:cNvPr id="7" name="TextBox 6"/>
          <p:cNvSpPr txBox="1"/>
          <p:nvPr/>
        </p:nvSpPr>
        <p:spPr>
          <a:xfrm>
            <a:off x="548640" y="6126480"/>
            <a:ext cx="10972800" cy="365760"/>
          </a:xfrm>
          <a:prstGeom prst="rect">
            <a:avLst/>
          </a:prstGeom>
          <a:noFill/>
        </p:spPr>
        <p:txBody>
          <a:bodyPr wrap="square" lIns="0" rIns="0" tIns="0" bIns="0" anchor="t">
            <a:spAutoFit/>
          </a:bodyPr>
          <a:lstStyle/>
          <a:p>
            <a:pPr algn="l">
              <a:lnSpc>
                <a:spcPct val="110000"/>
              </a:lnSpc>
              <a:spcAft>
                <a:spcPts val="600"/>
              </a:spcAft>
            </a:pPr>
            <a:r>
              <a:rPr sz="1100" b="0" i="1">
                <a:solidFill>
                  <a:srgbClr val="8A97A8"/>
                </a:solidFill>
                <a:latin typeface="Calibri"/>
              </a:rPr>
              <a:t>Case source: Krebs, B. (2026, September 1). FBI probes service selling 153M+ drivers licenses. Krebs on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THE INCIDENT · THREAT: DATA EXFILTRATION FOR IDENTITY FRAUD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 year-long data drain at an ID-verification vendor</a:t>
            </a:r>
          </a:p>
        </p:txBody>
      </p:sp>
      <p:sp>
        <p:nvSpPr>
          <p:cNvPr id="5" name="Rounded Rectangle 4"/>
          <p:cNvSpPr/>
          <p:nvPr/>
        </p:nvSpPr>
        <p:spPr>
          <a:xfrm>
            <a:off x="548640" y="1618488"/>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1618488"/>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WHO</a:t>
            </a:r>
          </a:p>
        </p:txBody>
      </p:sp>
      <p:sp>
        <p:nvSpPr>
          <p:cNvPr id="7" name="TextBox 6"/>
          <p:cNvSpPr txBox="1"/>
          <p:nvPr/>
        </p:nvSpPr>
        <p:spPr>
          <a:xfrm>
            <a:off x="1691640" y="1600200"/>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Nexus advertised </a:t>
            </a:r>
            <a:r>
              <a:rPr sz="1450" b="1" i="0">
                <a:solidFill>
                  <a:srgbClr val="1F2937"/>
                </a:solidFill>
                <a:latin typeface="Calibri"/>
              </a:rPr>
              <a:t>153M+</a:t>
            </a:r>
            <a:r>
              <a:rPr sz="1450" b="0" i="0">
                <a:solidFill>
                  <a:srgbClr val="1F2937"/>
                </a:solidFill>
                <a:latin typeface="Calibri"/>
              </a:rPr>
              <a:t> licenses. Krebs traced verified samples to </a:t>
            </a:r>
            <a:r>
              <a:rPr sz="1450" b="1" i="0">
                <a:solidFill>
                  <a:srgbClr val="1F2937"/>
                </a:solidFill>
                <a:latin typeface="Calibri"/>
              </a:rPr>
              <a:t>IDScan.net</a:t>
            </a:r>
            <a:r>
              <a:rPr sz="1450" b="0" i="0">
                <a:solidFill>
                  <a:srgbClr val="1F2937"/>
                </a:solidFill>
                <a:latin typeface="Calibri"/>
              </a:rPr>
              <a:t>, an ID-verification vendor for Hertz, retailers and 1,000+ dispensaries.</a:t>
            </a:r>
          </a:p>
        </p:txBody>
      </p:sp>
      <p:sp>
        <p:nvSpPr>
          <p:cNvPr id="8" name="Rounded Rectangle 7"/>
          <p:cNvSpPr/>
          <p:nvPr/>
        </p:nvSpPr>
        <p:spPr>
          <a:xfrm>
            <a:off x="548640" y="2505456"/>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05456"/>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WHAT</a:t>
            </a:r>
          </a:p>
        </p:txBody>
      </p:sp>
      <p:sp>
        <p:nvSpPr>
          <p:cNvPr id="10" name="TextBox 9"/>
          <p:cNvSpPr txBox="1"/>
          <p:nvPr/>
        </p:nvSpPr>
        <p:spPr>
          <a:xfrm>
            <a:off x="1691640" y="2487168"/>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“Nexus,” a dark-web shop selling license scans (front, back, infrared, ultraviolet).</a:t>
            </a:r>
          </a:p>
        </p:txBody>
      </p:sp>
      <p:sp>
        <p:nvSpPr>
          <p:cNvPr id="11" name="Rounded Rectangle 10"/>
          <p:cNvSpPr/>
          <p:nvPr/>
        </p:nvSpPr>
        <p:spPr>
          <a:xfrm>
            <a:off x="548640" y="3392423"/>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3392423"/>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WHEN</a:t>
            </a:r>
          </a:p>
        </p:txBody>
      </p:sp>
      <p:sp>
        <p:nvSpPr>
          <p:cNvPr id="13" name="TextBox 12"/>
          <p:cNvSpPr txBox="1"/>
          <p:nvPr/>
        </p:nvSpPr>
        <p:spPr>
          <a:xfrm>
            <a:off x="1691640" y="3374135"/>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Scans from </a:t>
            </a:r>
            <a:r>
              <a:rPr sz="1450" b="1" i="0">
                <a:solidFill>
                  <a:srgbClr val="1F2937"/>
                </a:solidFill>
                <a:latin typeface="Calibri"/>
              </a:rPr>
              <a:t>June 2025</a:t>
            </a:r>
            <a:r>
              <a:rPr sz="1450" b="0" i="0">
                <a:solidFill>
                  <a:srgbClr val="1F2937"/>
                </a:solidFill>
                <a:latin typeface="Calibri"/>
              </a:rPr>
              <a:t> onward; advertised </a:t>
            </a:r>
            <a:r>
              <a:rPr sz="1450" b="1" i="0">
                <a:solidFill>
                  <a:srgbClr val="1F2937"/>
                </a:solidFill>
                <a:latin typeface="Calibri"/>
              </a:rPr>
              <a:t>Aug. 31, 2026</a:t>
            </a:r>
            <a:r>
              <a:rPr sz="1450" b="0" i="0">
                <a:solidFill>
                  <a:srgbClr val="1F2937"/>
                </a:solidFill>
                <a:latin typeface="Calibri"/>
              </a:rPr>
              <a:t>.</a:t>
            </a:r>
          </a:p>
        </p:txBody>
      </p:sp>
      <p:sp>
        <p:nvSpPr>
          <p:cNvPr id="14" name="Rounded Rectangle 13"/>
          <p:cNvSpPr/>
          <p:nvPr/>
        </p:nvSpPr>
        <p:spPr>
          <a:xfrm>
            <a:off x="548640" y="4279391"/>
            <a:ext cx="914400" cy="310896"/>
          </a:xfrm>
          <a:prstGeom prst="roundRect">
            <a:avLst>
              <a:gd name="adj" fmla="val 20000"/>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40" y="4279391"/>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HOW</a:t>
            </a:r>
          </a:p>
        </p:txBody>
      </p:sp>
      <p:sp>
        <p:nvSpPr>
          <p:cNvPr id="16" name="TextBox 15"/>
          <p:cNvSpPr txBox="1"/>
          <p:nvPr/>
        </p:nvSpPr>
        <p:spPr>
          <a:xfrm>
            <a:off x="1691640" y="4261103"/>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“Continuously exfiltrating new data for </a:t>
            </a:r>
            <a:r>
              <a:rPr sz="1450" b="1" i="0">
                <a:solidFill>
                  <a:srgbClr val="1F2937"/>
                </a:solidFill>
                <a:latin typeface="Calibri"/>
              </a:rPr>
              <a:t>over a year</a:t>
            </a:r>
            <a:r>
              <a:rPr sz="1450" b="0" i="0">
                <a:solidFill>
                  <a:srgbClr val="1F2937"/>
                </a:solidFill>
                <a:latin typeface="Calibri"/>
              </a:rPr>
              <a:t>”: ~400K new records in one day.</a:t>
            </a:r>
          </a:p>
        </p:txBody>
      </p:sp>
      <p:sp>
        <p:nvSpPr>
          <p:cNvPr id="17" name="Rounded Rectangle 16"/>
          <p:cNvSpPr/>
          <p:nvPr/>
        </p:nvSpPr>
        <p:spPr>
          <a:xfrm>
            <a:off x="548640" y="5166359"/>
            <a:ext cx="914400" cy="310896"/>
          </a:xfrm>
          <a:prstGeom prst="roundRect">
            <a:avLst>
              <a:gd name="adj" fmla="val 2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5166359"/>
            <a:ext cx="914400" cy="310896"/>
          </a:xfrm>
          <a:prstGeom prst="rect">
            <a:avLst/>
          </a:prstGeom>
          <a:noFill/>
        </p:spPr>
        <p:txBody>
          <a:bodyPr wrap="square" lIns="0" rIns="0" tIns="0" bIns="0" anchor="ctr">
            <a:spAutoFit/>
          </a:bodyPr>
          <a:lstStyle/>
          <a:p>
            <a:pPr algn="ctr">
              <a:lnSpc>
                <a:spcPct val="110000"/>
              </a:lnSpc>
              <a:spcAft>
                <a:spcPts val="0"/>
              </a:spcAft>
            </a:pPr>
            <a:r>
              <a:rPr sz="1200" b="1" i="0">
                <a:solidFill>
                  <a:srgbClr val="FFFFFF"/>
                </a:solidFill>
                <a:latin typeface="Calibri"/>
              </a:rPr>
              <a:t>IMPACT</a:t>
            </a:r>
          </a:p>
        </p:txBody>
      </p:sp>
      <p:sp>
        <p:nvSpPr>
          <p:cNvPr id="19" name="TextBox 18"/>
          <p:cNvSpPr txBox="1"/>
          <p:nvPr/>
        </p:nvSpPr>
        <p:spPr>
          <a:xfrm>
            <a:off x="1691640" y="5148071"/>
            <a:ext cx="5715000" cy="822960"/>
          </a:xfrm>
          <a:prstGeom prst="rect">
            <a:avLst/>
          </a:prstGeom>
          <a:noFill/>
        </p:spPr>
        <p:txBody>
          <a:bodyPr wrap="square" lIns="0" rIns="0" tIns="0" bIns="0" anchor="t">
            <a:spAutoFit/>
          </a:bodyPr>
          <a:lstStyle/>
          <a:p>
            <a:pPr algn="l">
              <a:lnSpc>
                <a:spcPct val="110000"/>
              </a:lnSpc>
              <a:spcAft>
                <a:spcPts val="0"/>
              </a:spcAft>
            </a:pPr>
            <a:r>
              <a:rPr sz="1450" b="0" i="0">
                <a:solidFill>
                  <a:srgbClr val="1F2937"/>
                </a:solidFill>
                <a:latin typeface="Calibri"/>
              </a:rPr>
              <a:t>Identity and credit fraud, breach-response costs, and exposure of senior U.S. officials.</a:t>
            </a:r>
          </a:p>
        </p:txBody>
      </p:sp>
      <p:sp>
        <p:nvSpPr>
          <p:cNvPr id="20" name="Rounded Rectangle 19"/>
          <p:cNvSpPr/>
          <p:nvPr/>
        </p:nvSpPr>
        <p:spPr>
          <a:xfrm>
            <a:off x="7498080" y="1508760"/>
            <a:ext cx="4297680" cy="452628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18120" y="1691640"/>
            <a:ext cx="36576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5B6472"/>
                </a:solidFill>
                <a:latin typeface="Calibri"/>
              </a:rPr>
              <a:t>TIMELINE</a:t>
            </a:r>
          </a:p>
        </p:txBody>
      </p:sp>
      <p:cxnSp>
        <p:nvCxnSpPr>
          <p:cNvPr id="22" name="Connector 21"/>
          <p:cNvCxnSpPr/>
          <p:nvPr/>
        </p:nvCxnSpPr>
        <p:spPr>
          <a:xfrm>
            <a:off x="7927848" y="2240280"/>
            <a:ext cx="0" cy="3291840"/>
          </a:xfrm>
          <a:prstGeom prst="line">
            <a:avLst/>
          </a:prstGeom>
          <a:ln w="25400">
            <a:solidFill>
              <a:srgbClr val="D5DAE1"/>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7818120" y="2148840"/>
            <a:ext cx="219456" cy="219456"/>
          </a:xfrm>
          <a:prstGeom prst="ellipse">
            <a:avLst/>
          </a:prstGeom>
          <a:solidFill>
            <a:srgbClr val="5B64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0" y="20939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Jun 2025</a:t>
            </a:r>
          </a:p>
        </p:txBody>
      </p:sp>
      <p:sp>
        <p:nvSpPr>
          <p:cNvPr id="25" name="TextBox 24"/>
          <p:cNvSpPr txBox="1"/>
          <p:nvPr/>
        </p:nvSpPr>
        <p:spPr>
          <a:xfrm>
            <a:off x="8229600" y="2386584"/>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Earliest matched scan timestamps</a:t>
            </a:r>
          </a:p>
        </p:txBody>
      </p:sp>
      <p:sp>
        <p:nvSpPr>
          <p:cNvPr id="26" name="Oval 25"/>
          <p:cNvSpPr/>
          <p:nvPr/>
        </p:nvSpPr>
        <p:spPr>
          <a:xfrm>
            <a:off x="7818120" y="3063240"/>
            <a:ext cx="219456" cy="219456"/>
          </a:xfrm>
          <a:prstGeom prst="ellipse">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0" y="30083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Aug 31, 2026</a:t>
            </a:r>
          </a:p>
        </p:txBody>
      </p:sp>
      <p:sp>
        <p:nvSpPr>
          <p:cNvPr id="28" name="TextBox 27"/>
          <p:cNvSpPr txBox="1"/>
          <p:nvPr/>
        </p:nvSpPr>
        <p:spPr>
          <a:xfrm>
            <a:off x="8229600" y="3300984"/>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Nexus listed on the Exploit forum</a:t>
            </a:r>
          </a:p>
        </p:txBody>
      </p:sp>
      <p:sp>
        <p:nvSpPr>
          <p:cNvPr id="29" name="Oval 28"/>
          <p:cNvSpPr/>
          <p:nvPr/>
        </p:nvSpPr>
        <p:spPr>
          <a:xfrm>
            <a:off x="7818120" y="3977639"/>
            <a:ext cx="219456" cy="219456"/>
          </a:xfrm>
          <a:prstGeom prst="ellipse">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29600" y="39227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Sep 1, 2026</a:t>
            </a:r>
          </a:p>
        </p:txBody>
      </p:sp>
      <p:sp>
        <p:nvSpPr>
          <p:cNvPr id="31" name="TextBox 30"/>
          <p:cNvSpPr txBox="1"/>
          <p:nvPr/>
        </p:nvSpPr>
        <p:spPr>
          <a:xfrm>
            <a:off x="8229600" y="4215383"/>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FBI opens an investigation</a:t>
            </a:r>
          </a:p>
        </p:txBody>
      </p:sp>
      <p:sp>
        <p:nvSpPr>
          <p:cNvPr id="32" name="Oval 31"/>
          <p:cNvSpPr/>
          <p:nvPr/>
        </p:nvSpPr>
        <p:spPr>
          <a:xfrm>
            <a:off x="7818120" y="4892040"/>
            <a:ext cx="219456" cy="21945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29600" y="4837176"/>
            <a:ext cx="320040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Sep 8, 2026</a:t>
            </a:r>
          </a:p>
        </p:txBody>
      </p:sp>
      <p:sp>
        <p:nvSpPr>
          <p:cNvPr id="34" name="TextBox 33"/>
          <p:cNvSpPr txBox="1"/>
          <p:nvPr/>
        </p:nvSpPr>
        <p:spPr>
          <a:xfrm>
            <a:off x="8229600" y="5129783"/>
            <a:ext cx="3108960" cy="548640"/>
          </a:xfrm>
          <a:prstGeom prst="rect">
            <a:avLst/>
          </a:prstGeom>
          <a:noFill/>
        </p:spPr>
        <p:txBody>
          <a:bodyPr wrap="square" lIns="0" rIns="0" tIns="0" bIns="0" anchor="t">
            <a:spAutoFit/>
          </a:bodyPr>
          <a:lstStyle/>
          <a:p>
            <a:pPr algn="l">
              <a:lnSpc>
                <a:spcPct val="110000"/>
              </a:lnSpc>
              <a:spcAft>
                <a:spcPts val="0"/>
              </a:spcAft>
            </a:pPr>
            <a:r>
              <a:rPr sz="1250" b="0" i="0">
                <a:solidFill>
                  <a:srgbClr val="1F2937"/>
                </a:solidFill>
                <a:latin typeface="Calibri"/>
              </a:rPr>
              <a:t>IDScan.net confirms unauthorized access</a:t>
            </a:r>
          </a:p>
        </p:txBody>
      </p:sp>
      <p:cxnSp>
        <p:nvCxnSpPr>
          <p:cNvPr id="35" name="Connector 34"/>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Krebs (2026), including the Sept. 8 update.</a:t>
            </a:r>
          </a:p>
        </p:txBody>
      </p:sp>
      <p:sp>
        <p:nvSpPr>
          <p:cNvPr id="37" name="TextBox 36"/>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CIA TRIAD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All three elements were hit, but not equally</a:t>
            </a:r>
          </a:p>
        </p:txBody>
      </p:sp>
      <p:sp>
        <p:nvSpPr>
          <p:cNvPr id="5" name="Isosceles Triangle 4"/>
          <p:cNvSpPr/>
          <p:nvPr/>
        </p:nvSpPr>
        <p:spPr>
          <a:xfrm>
            <a:off x="1691639" y="1965960"/>
            <a:ext cx="4480560" cy="3611879"/>
          </a:xfrm>
          <a:prstGeom prst="triangle">
            <a:avLst/>
          </a:prstGeom>
          <a:solidFill>
            <a:srgbClr val="F2F4F7"/>
          </a:solidFill>
          <a:ln w="12700">
            <a:solidFill>
              <a:srgbClr val="D5DA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743200" y="3977639"/>
            <a:ext cx="2377440" cy="1097280"/>
          </a:xfrm>
          <a:prstGeom prst="rect">
            <a:avLst/>
          </a:prstGeom>
          <a:noFill/>
        </p:spPr>
        <p:txBody>
          <a:bodyPr wrap="square" lIns="0" rIns="0" tIns="0" bIns="0" anchor="t">
            <a:spAutoFit/>
          </a:bodyPr>
          <a:lstStyle/>
          <a:p>
            <a:pPr algn="ctr">
              <a:lnSpc>
                <a:spcPct val="110000"/>
              </a:lnSpc>
              <a:spcAft>
                <a:spcPts val="200"/>
              </a:spcAft>
            </a:pPr>
            <a:r>
              <a:rPr sz="1300" b="1" i="0">
                <a:solidFill>
                  <a:srgbClr val="1F2937"/>
                </a:solidFill>
                <a:latin typeface="Calibri"/>
              </a:rPr>
              <a:t>Attack vector</a:t>
            </a:r>
          </a:p>
          <a:p>
            <a:pPr algn="ctr">
              <a:lnSpc>
                <a:spcPct val="110000"/>
              </a:lnSpc>
              <a:spcAft>
                <a:spcPts val="200"/>
              </a:spcAft>
            </a:pPr>
            <a:r>
              <a:rPr sz="1300" b="0" i="0">
                <a:solidFill>
                  <a:srgbClr val="1F2937"/>
                </a:solidFill>
                <a:latin typeface="Calibri"/>
              </a:rPr>
              <a:t>Long-running, low-and-slow data exfiltration</a:t>
            </a:r>
          </a:p>
        </p:txBody>
      </p:sp>
      <p:sp>
        <p:nvSpPr>
          <p:cNvPr id="7" name="Oval 6"/>
          <p:cNvSpPr/>
          <p:nvPr/>
        </p:nvSpPr>
        <p:spPr>
          <a:xfrm>
            <a:off x="3547872" y="1581912"/>
            <a:ext cx="768096" cy="768096"/>
          </a:xfrm>
          <a:prstGeom prst="ellipse">
            <a:avLst/>
          </a:prstGeom>
          <a:solidFill>
            <a:srgbClr val="C0392B"/>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47872" y="158191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C</a:t>
            </a:r>
          </a:p>
        </p:txBody>
      </p:sp>
      <p:sp>
        <p:nvSpPr>
          <p:cNvPr id="9" name="Oval 8"/>
          <p:cNvSpPr/>
          <p:nvPr/>
        </p:nvSpPr>
        <p:spPr>
          <a:xfrm>
            <a:off x="1307591" y="5193792"/>
            <a:ext cx="768096" cy="768096"/>
          </a:xfrm>
          <a:prstGeom prst="ellipse">
            <a:avLst/>
          </a:prstGeom>
          <a:solidFill>
            <a:srgbClr val="C77C0E"/>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07591" y="519379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I</a:t>
            </a:r>
          </a:p>
        </p:txBody>
      </p:sp>
      <p:sp>
        <p:nvSpPr>
          <p:cNvPr id="11" name="Oval 10"/>
          <p:cNvSpPr/>
          <p:nvPr/>
        </p:nvSpPr>
        <p:spPr>
          <a:xfrm>
            <a:off x="5788152" y="5193792"/>
            <a:ext cx="768096" cy="768096"/>
          </a:xfrm>
          <a:prstGeom prst="ellipse">
            <a:avLst/>
          </a:prstGeom>
          <a:solidFill>
            <a:srgbClr val="1E846F"/>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788152" y="5193792"/>
            <a:ext cx="768096" cy="768096"/>
          </a:xfrm>
          <a:prstGeom prst="rect">
            <a:avLst/>
          </a:prstGeom>
          <a:noFill/>
        </p:spPr>
        <p:txBody>
          <a:bodyPr wrap="square" lIns="0" rIns="0" tIns="0" bIns="0" anchor="ctr">
            <a:spAutoFit/>
          </a:bodyPr>
          <a:lstStyle/>
          <a:p>
            <a:pPr algn="ctr">
              <a:lnSpc>
                <a:spcPct val="110000"/>
              </a:lnSpc>
              <a:spcAft>
                <a:spcPts val="0"/>
              </a:spcAft>
            </a:pPr>
            <a:r>
              <a:rPr sz="2800" b="1" i="0">
                <a:solidFill>
                  <a:srgbClr val="FFFFFF"/>
                </a:solidFill>
                <a:latin typeface="Calibri"/>
              </a:rPr>
              <a:t>A</a:t>
            </a:r>
          </a:p>
        </p:txBody>
      </p:sp>
      <p:sp>
        <p:nvSpPr>
          <p:cNvPr id="13" name="Rectangle 12"/>
          <p:cNvSpPr/>
          <p:nvPr/>
        </p:nvSpPr>
        <p:spPr>
          <a:xfrm>
            <a:off x="6720840" y="1600200"/>
            <a:ext cx="91440"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995160" y="1618488"/>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CONFIDENTIALITY</a:t>
            </a:r>
          </a:p>
        </p:txBody>
      </p:sp>
      <p:sp>
        <p:nvSpPr>
          <p:cNvPr id="15" name="Rounded Rectangle 14"/>
          <p:cNvSpPr/>
          <p:nvPr/>
        </p:nvSpPr>
        <p:spPr>
          <a:xfrm>
            <a:off x="9921240" y="1618488"/>
            <a:ext cx="1143000" cy="27432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921240" y="1618488"/>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SEVERE</a:t>
            </a:r>
          </a:p>
        </p:txBody>
      </p:sp>
      <p:sp>
        <p:nvSpPr>
          <p:cNvPr id="17" name="TextBox 16"/>
          <p:cNvSpPr txBox="1"/>
          <p:nvPr/>
        </p:nvSpPr>
        <p:spPr>
          <a:xfrm>
            <a:off x="6995160" y="198424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Nexus advertised 153M+ license images; records for sale include the U.S. Defense Secretary’s and an FBI assistant director’s.</a:t>
            </a:r>
          </a:p>
        </p:txBody>
      </p:sp>
      <p:sp>
        <p:nvSpPr>
          <p:cNvPr id="18" name="Rectangle 17"/>
          <p:cNvSpPr/>
          <p:nvPr/>
        </p:nvSpPr>
        <p:spPr>
          <a:xfrm>
            <a:off x="6720840" y="3108960"/>
            <a:ext cx="91440" cy="1325880"/>
          </a:xfrm>
          <a:prstGeom prst="rect">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5160" y="3127248"/>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INTEGRITY</a:t>
            </a:r>
          </a:p>
        </p:txBody>
      </p:sp>
      <p:sp>
        <p:nvSpPr>
          <p:cNvPr id="20" name="Rounded Rectangle 19"/>
          <p:cNvSpPr/>
          <p:nvPr/>
        </p:nvSpPr>
        <p:spPr>
          <a:xfrm>
            <a:off x="9921240" y="3127248"/>
            <a:ext cx="1143000" cy="274320"/>
          </a:xfrm>
          <a:prstGeom prst="roundRect">
            <a:avLst>
              <a:gd name="adj" fmla="val 30000"/>
            </a:avLst>
          </a:prstGeom>
          <a:solidFill>
            <a:srgbClr val="C77C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921240" y="3127248"/>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MODERATE</a:t>
            </a:r>
          </a:p>
        </p:txBody>
      </p:sp>
      <p:sp>
        <p:nvSpPr>
          <p:cNvPr id="22" name="TextBox 21"/>
          <p:cNvSpPr txBox="1"/>
          <p:nvPr/>
        </p:nvSpPr>
        <p:spPr>
          <a:xfrm>
            <a:off x="6995160" y="349300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No sign IDScan’s records were altered, but forgery-grade IR/UV scans let criminals pass other firms’ ID checks, so a “verified” ID no longer proves identity.</a:t>
            </a:r>
          </a:p>
        </p:txBody>
      </p:sp>
      <p:sp>
        <p:nvSpPr>
          <p:cNvPr id="23" name="Rectangle 22"/>
          <p:cNvSpPr/>
          <p:nvPr/>
        </p:nvSpPr>
        <p:spPr>
          <a:xfrm>
            <a:off x="6720840" y="4617720"/>
            <a:ext cx="91440" cy="1325880"/>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5160" y="4636007"/>
            <a:ext cx="2926080" cy="274320"/>
          </a:xfrm>
          <a:prstGeom prst="rect">
            <a:avLst/>
          </a:prstGeom>
          <a:noFill/>
        </p:spPr>
        <p:txBody>
          <a:bodyPr wrap="square" lIns="0" rIns="0" tIns="0" bIns="0" anchor="t">
            <a:spAutoFit/>
          </a:bodyPr>
          <a:lstStyle/>
          <a:p>
            <a:pPr algn="l">
              <a:lnSpc>
                <a:spcPct val="110000"/>
              </a:lnSpc>
              <a:spcAft>
                <a:spcPts val="0"/>
              </a:spcAft>
            </a:pPr>
            <a:r>
              <a:rPr sz="1400" b="1" i="0">
                <a:solidFill>
                  <a:srgbClr val="0F1B2D"/>
                </a:solidFill>
                <a:latin typeface="Calibri"/>
              </a:rPr>
              <a:t>AVAILABILITY</a:t>
            </a:r>
          </a:p>
        </p:txBody>
      </p:sp>
      <p:sp>
        <p:nvSpPr>
          <p:cNvPr id="25" name="Rounded Rectangle 24"/>
          <p:cNvSpPr/>
          <p:nvPr/>
        </p:nvSpPr>
        <p:spPr>
          <a:xfrm>
            <a:off x="9921240" y="4636007"/>
            <a:ext cx="1143000" cy="274320"/>
          </a:xfrm>
          <a:prstGeom prst="roundRect">
            <a:avLst>
              <a:gd name="adj" fmla="val 30000"/>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921240" y="4636007"/>
            <a:ext cx="1143000" cy="274320"/>
          </a:xfrm>
          <a:prstGeom prst="rect">
            <a:avLst/>
          </a:prstGeom>
          <a:noFill/>
        </p:spPr>
        <p:txBody>
          <a:bodyPr wrap="square" lIns="0" rIns="0" tIns="0" bIns="0" anchor="ctr">
            <a:spAutoFit/>
          </a:bodyPr>
          <a:lstStyle/>
          <a:p>
            <a:pPr algn="ctr">
              <a:lnSpc>
                <a:spcPct val="110000"/>
              </a:lnSpc>
              <a:spcAft>
                <a:spcPts val="0"/>
              </a:spcAft>
            </a:pPr>
            <a:r>
              <a:rPr sz="1100" b="1" i="0">
                <a:solidFill>
                  <a:srgbClr val="FFFFFF"/>
                </a:solidFill>
                <a:latin typeface="Calibri"/>
              </a:rPr>
              <a:t>LOW</a:t>
            </a:r>
          </a:p>
        </p:txBody>
      </p:sp>
      <p:sp>
        <p:nvSpPr>
          <p:cNvPr id="27" name="TextBox 26"/>
          <p:cNvSpPr txBox="1"/>
          <p:nvPr/>
        </p:nvSpPr>
        <p:spPr>
          <a:xfrm>
            <a:off x="6995160" y="5001768"/>
            <a:ext cx="4114800" cy="914400"/>
          </a:xfrm>
          <a:prstGeom prst="rect">
            <a:avLst/>
          </a:prstGeom>
          <a:noFill/>
        </p:spPr>
        <p:txBody>
          <a:bodyPr wrap="square" lIns="0" rIns="0" tIns="0" bIns="0" anchor="t">
            <a:spAutoFit/>
          </a:bodyPr>
          <a:lstStyle/>
          <a:p>
            <a:pPr algn="l">
              <a:lnSpc>
                <a:spcPct val="110000"/>
              </a:lnSpc>
              <a:spcAft>
                <a:spcPts val="0"/>
              </a:spcAft>
            </a:pPr>
            <a:r>
              <a:rPr sz="1350" b="0" i="0">
                <a:solidFill>
                  <a:srgbClr val="1F2937"/>
                </a:solidFill>
                <a:latin typeface="Calibri"/>
              </a:rPr>
              <a:t>No reported outage. Indirect loss: victims freeze credit, and clients must pause or redo verification.</a:t>
            </a:r>
          </a:p>
        </p:txBody>
      </p:sp>
      <p:cxnSp>
        <p:nvCxnSpPr>
          <p:cNvPr id="28" name="Connector 2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Diagram: author’s analysis of Krebs (2026). Severity reflects scale, reversibility and downstream harm.</a:t>
            </a:r>
          </a:p>
        </p:txBody>
      </p:sp>
      <p:sp>
        <p:nvSpPr>
          <p:cNvPr id="30" name="TextBox 2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MOST SEVERE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Confidentiality was hit hardest: identity can’t be reset</a:t>
            </a:r>
          </a:p>
        </p:txBody>
      </p:sp>
      <p:sp>
        <p:nvSpPr>
          <p:cNvPr id="5" name="Rounded Rectangle 4"/>
          <p:cNvSpPr/>
          <p:nvPr/>
        </p:nvSpPr>
        <p:spPr>
          <a:xfrm>
            <a:off x="548640" y="1691640"/>
            <a:ext cx="4206240" cy="17830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920240"/>
            <a:ext cx="3657600" cy="822960"/>
          </a:xfrm>
          <a:prstGeom prst="rect">
            <a:avLst/>
          </a:prstGeom>
          <a:noFill/>
        </p:spPr>
        <p:txBody>
          <a:bodyPr wrap="square" lIns="0" rIns="0" tIns="0" bIns="0" anchor="t">
            <a:spAutoFit/>
          </a:bodyPr>
          <a:lstStyle/>
          <a:p>
            <a:pPr algn="l">
              <a:lnSpc>
                <a:spcPct val="100000"/>
              </a:lnSpc>
              <a:spcAft>
                <a:spcPts val="0"/>
              </a:spcAft>
            </a:pPr>
            <a:r>
              <a:rPr sz="5400" b="1" i="0">
                <a:solidFill>
                  <a:srgbClr val="C0392B"/>
                </a:solidFill>
                <a:latin typeface="Calibri"/>
              </a:rPr>
              <a:t>153M+</a:t>
            </a:r>
          </a:p>
        </p:txBody>
      </p:sp>
      <p:sp>
        <p:nvSpPr>
          <p:cNvPr id="7" name="TextBox 6"/>
          <p:cNvSpPr txBox="1"/>
          <p:nvPr/>
        </p:nvSpPr>
        <p:spPr>
          <a:xfrm>
            <a:off x="868680" y="2788920"/>
            <a:ext cx="3657600" cy="548640"/>
          </a:xfrm>
          <a:prstGeom prst="rect">
            <a:avLst/>
          </a:prstGeom>
          <a:noFill/>
        </p:spPr>
        <p:txBody>
          <a:bodyPr wrap="square" lIns="0" rIns="0" tIns="0" bIns="0" anchor="t">
            <a:spAutoFit/>
          </a:bodyPr>
          <a:lstStyle/>
          <a:p>
            <a:pPr algn="l">
              <a:lnSpc>
                <a:spcPct val="110000"/>
              </a:lnSpc>
              <a:spcAft>
                <a:spcPts val="0"/>
              </a:spcAft>
            </a:pPr>
            <a:r>
              <a:rPr sz="1600" b="0" i="0">
                <a:solidFill>
                  <a:srgbClr val="1F2937"/>
                </a:solidFill>
                <a:latin typeface="Calibri"/>
              </a:rPr>
              <a:t>license records advertised; Krebs verified a sample</a:t>
            </a:r>
          </a:p>
        </p:txBody>
      </p:sp>
      <p:sp>
        <p:nvSpPr>
          <p:cNvPr id="8" name="Rounded Rectangle 7"/>
          <p:cNvSpPr/>
          <p:nvPr/>
        </p:nvSpPr>
        <p:spPr>
          <a:xfrm>
            <a:off x="548640" y="3749039"/>
            <a:ext cx="4206240" cy="17830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3977639"/>
            <a:ext cx="3657600" cy="822960"/>
          </a:xfrm>
          <a:prstGeom prst="rect">
            <a:avLst/>
          </a:prstGeom>
          <a:noFill/>
        </p:spPr>
        <p:txBody>
          <a:bodyPr wrap="square" lIns="0" rIns="0" tIns="0" bIns="0" anchor="t">
            <a:spAutoFit/>
          </a:bodyPr>
          <a:lstStyle/>
          <a:p>
            <a:pPr algn="l">
              <a:lnSpc>
                <a:spcPct val="100000"/>
              </a:lnSpc>
              <a:spcAft>
                <a:spcPts val="0"/>
              </a:spcAft>
            </a:pPr>
            <a:r>
              <a:rPr sz="5400" b="1" i="0">
                <a:solidFill>
                  <a:srgbClr val="0F1B2D"/>
                </a:solidFill>
                <a:latin typeface="Calibri"/>
              </a:rPr>
              <a:t>1+ year</a:t>
            </a:r>
          </a:p>
        </p:txBody>
      </p:sp>
      <p:sp>
        <p:nvSpPr>
          <p:cNvPr id="10" name="TextBox 9"/>
          <p:cNvSpPr txBox="1"/>
          <p:nvPr/>
        </p:nvSpPr>
        <p:spPr>
          <a:xfrm>
            <a:off x="868680" y="4846320"/>
            <a:ext cx="3657600" cy="548640"/>
          </a:xfrm>
          <a:prstGeom prst="rect">
            <a:avLst/>
          </a:prstGeom>
          <a:noFill/>
        </p:spPr>
        <p:txBody>
          <a:bodyPr wrap="square" lIns="0" rIns="0" tIns="0" bIns="0" anchor="t">
            <a:spAutoFit/>
          </a:bodyPr>
          <a:lstStyle/>
          <a:p>
            <a:pPr algn="l">
              <a:lnSpc>
                <a:spcPct val="110000"/>
              </a:lnSpc>
              <a:spcAft>
                <a:spcPts val="0"/>
              </a:spcAft>
            </a:pPr>
            <a:r>
              <a:rPr sz="1600" b="0" i="0">
                <a:solidFill>
                  <a:srgbClr val="1F2937"/>
                </a:solidFill>
                <a:latin typeface="Calibri"/>
              </a:rPr>
              <a:t>of exfiltration claimed; scans date to June 2025</a:t>
            </a:r>
          </a:p>
        </p:txBody>
      </p:sp>
      <p:sp>
        <p:nvSpPr>
          <p:cNvPr id="11" name="TextBox 10"/>
          <p:cNvSpPr txBox="1"/>
          <p:nvPr/>
        </p:nvSpPr>
        <p:spPr>
          <a:xfrm>
            <a:off x="5349240" y="1783080"/>
            <a:ext cx="6309360" cy="4114800"/>
          </a:xfrm>
          <a:prstGeom prst="rect">
            <a:avLst/>
          </a:prstGeom>
          <a:noFill/>
        </p:spPr>
        <p:txBody>
          <a:bodyPr wrap="square" lIns="0" rIns="0" tIns="0" bIns="0">
            <a:spAutoFit/>
          </a:bodyPr>
          <a:lstStyle/>
          <a:p>
            <a:pPr marL="256032" indent="-256032">
              <a:lnSpc>
                <a:spcPct val="110000"/>
              </a:lnSpc>
              <a:spcAft>
                <a:spcPts val="1600"/>
              </a:spcAft>
              <a:buClr>
                <a:srgbClr val="C0392B"/>
              </a:buClr>
              <a:buFont typeface="Arial"/>
              <a:buChar char="■"/>
            </a:pPr>
            <a:r>
              <a:rPr sz="1700" b="1" i="0">
                <a:solidFill>
                  <a:srgbClr val="1F2937"/>
                </a:solidFill>
                <a:latin typeface="Calibri"/>
              </a:rPr>
              <a:t>Irreversible.</a:t>
            </a:r>
            <a:r>
              <a:rPr sz="1700" b="0" i="0">
                <a:solidFill>
                  <a:srgbClr val="1F2937"/>
                </a:solidFill>
                <a:latin typeface="Calibri"/>
              </a:rPr>
              <a:t> A password can be reset; a face, birth date and license number cannot.</a:t>
            </a:r>
          </a:p>
          <a:p>
            <a:pPr marL="256032" indent="-256032">
              <a:lnSpc>
                <a:spcPct val="110000"/>
              </a:lnSpc>
              <a:spcAft>
                <a:spcPts val="1600"/>
              </a:spcAft>
              <a:buClr>
                <a:srgbClr val="C0392B"/>
              </a:buClr>
              <a:buFont typeface="Arial"/>
              <a:buChar char="■"/>
            </a:pPr>
            <a:r>
              <a:rPr sz="1700" b="1" i="0">
                <a:solidFill>
                  <a:srgbClr val="1F2937"/>
                </a:solidFill>
                <a:latin typeface="Calibri"/>
              </a:rPr>
              <a:t>Forgery-grade.</a:t>
            </a:r>
            <a:r>
              <a:rPr sz="1700" b="0" i="0">
                <a:solidFill>
                  <a:srgbClr val="1F2937"/>
                </a:solidFill>
                <a:latin typeface="Calibri"/>
              </a:rPr>
              <a:t> IR and UV scans are exactly what ID verifiers check.</a:t>
            </a:r>
          </a:p>
          <a:p>
            <a:pPr marL="256032" indent="-256032">
              <a:lnSpc>
                <a:spcPct val="110000"/>
              </a:lnSpc>
              <a:spcAft>
                <a:spcPts val="1600"/>
              </a:spcAft>
              <a:buClr>
                <a:srgbClr val="C0392B"/>
              </a:buClr>
              <a:buFont typeface="Arial"/>
              <a:buChar char="■"/>
            </a:pPr>
            <a:r>
              <a:rPr sz="1700" b="1" i="0">
                <a:solidFill>
                  <a:srgbClr val="1F2937"/>
                </a:solidFill>
                <a:latin typeface="Calibri"/>
              </a:rPr>
              <a:t>Harm beyond fraud.</a:t>
            </a:r>
            <a:r>
              <a:rPr sz="1700" b="0" i="0">
                <a:solidFill>
                  <a:srgbClr val="1F2937"/>
                </a:solidFill>
                <a:latin typeface="Calibri"/>
              </a:rPr>
              <a:t> Exposes senior officials, abuse survivors and protected witnesses who cannot change their appearance.</a:t>
            </a:r>
          </a:p>
          <a:p>
            <a:pPr marL="256032" indent="-256032">
              <a:lnSpc>
                <a:spcPct val="110000"/>
              </a:lnSpc>
              <a:spcAft>
                <a:spcPts val="1600"/>
              </a:spcAft>
              <a:buClr>
                <a:srgbClr val="C0392B"/>
              </a:buClr>
              <a:buFont typeface="Arial"/>
              <a:buChar char="■"/>
            </a:pPr>
            <a:r>
              <a:rPr sz="1700" b="1" i="0">
                <a:solidFill>
                  <a:srgbClr val="1F2937"/>
                </a:solidFill>
                <a:latin typeface="Calibri"/>
              </a:rPr>
              <a:t>Root cause.</a:t>
            </a:r>
            <a:r>
              <a:rPr sz="1700" b="0" i="0">
                <a:solidFill>
                  <a:srgbClr val="1F2937"/>
                </a:solidFill>
                <a:latin typeface="Calibri"/>
              </a:rPr>
              <a:t> The integrity and availability damage both flow from this single loss of confidentiality.</a:t>
            </a:r>
          </a:p>
        </p:txBody>
      </p:sp>
      <p:cxnSp>
        <p:nvCxnSpPr>
          <p:cNvPr id="12" name="Connector 1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 Krebs (2026), citing researcher L. Baldwin on exposure of abuse survivors and protected witnesses.</a:t>
            </a:r>
          </a:p>
        </p:txBody>
      </p:sp>
      <p:sp>
        <p:nvSpPr>
          <p:cNvPr id="14" name="TextBox 13"/>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RECOMMENDED CONTROL · CHAPTER 5</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Prevention: AI-based egress anomaly detection</a:t>
            </a:r>
          </a:p>
        </p:txBody>
      </p:sp>
      <p:sp>
        <p:nvSpPr>
          <p:cNvPr id="5" name="TextBox 4"/>
          <p:cNvSpPr txBox="1"/>
          <p:nvPr/>
        </p:nvSpPr>
        <p:spPr>
          <a:xfrm>
            <a:off x="548640" y="3337560"/>
            <a:ext cx="11094415" cy="274320"/>
          </a:xfrm>
          <a:prstGeom prst="rect">
            <a:avLst/>
          </a:prstGeom>
          <a:noFill/>
        </p:spPr>
        <p:txBody>
          <a:bodyPr wrap="square" lIns="0" rIns="0" tIns="0" bIns="0" anchor="t">
            <a:spAutoFit/>
          </a:bodyPr>
          <a:lstStyle/>
          <a:p>
            <a:pPr algn="l">
              <a:lnSpc>
                <a:spcPct val="110000"/>
              </a:lnSpc>
              <a:spcAft>
                <a:spcPts val="0"/>
              </a:spcAft>
            </a:pPr>
            <a:r>
              <a:rPr sz="1250" b="1" i="0">
                <a:solidFill>
                  <a:srgbClr val="5B6472"/>
                </a:solidFill>
                <a:latin typeface="Calibri"/>
              </a:rPr>
              <a:t>Current industry practice:</a:t>
            </a:r>
            <a:r>
              <a:rPr sz="1250" b="0" i="0">
                <a:solidFill>
                  <a:srgbClr val="5B6472"/>
                </a:solidFill>
                <a:latin typeface="Calibri"/>
              </a:rPr>
              <a:t> commercial UEBA and network detection and response (NDR) platforms flag exfiltration this way.</a:t>
            </a:r>
          </a:p>
        </p:txBody>
      </p:sp>
      <p:sp>
        <p:nvSpPr>
          <p:cNvPr id="6" name="Rounded Rectangle 5"/>
          <p:cNvSpPr/>
          <p:nvPr/>
        </p:nvSpPr>
        <p:spPr>
          <a:xfrm>
            <a:off x="548640"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1  Collect</a:t>
            </a:r>
          </a:p>
        </p:txBody>
      </p:sp>
      <p:sp>
        <p:nvSpPr>
          <p:cNvPr id="8" name="TextBox 7"/>
          <p:cNvSpPr txBox="1"/>
          <p:nvPr/>
        </p:nvSpPr>
        <p:spPr>
          <a:xfrm>
            <a:off x="749808"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Flow and storage-access logs per service account</a:t>
            </a:r>
          </a:p>
        </p:txBody>
      </p:sp>
      <p:sp>
        <p:nvSpPr>
          <p:cNvPr id="9" name="Right Arrow 8"/>
          <p:cNvSpPr/>
          <p:nvPr/>
        </p:nvSpPr>
        <p:spPr>
          <a:xfrm>
            <a:off x="3099816"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64992"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566160"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2  Learn normal</a:t>
            </a:r>
          </a:p>
        </p:txBody>
      </p:sp>
      <p:sp>
        <p:nvSpPr>
          <p:cNvPr id="12" name="TextBox 11"/>
          <p:cNvSpPr txBox="1"/>
          <p:nvPr/>
        </p:nvSpPr>
        <p:spPr>
          <a:xfrm>
            <a:off x="3566160"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Baseline bytes out, records read, destinations, hour</a:t>
            </a:r>
          </a:p>
        </p:txBody>
      </p:sp>
      <p:sp>
        <p:nvSpPr>
          <p:cNvPr id="13" name="Right Arrow 12"/>
          <p:cNvSpPr/>
          <p:nvPr/>
        </p:nvSpPr>
        <p:spPr>
          <a:xfrm>
            <a:off x="5916168"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81344" y="1645920"/>
            <a:ext cx="2514600" cy="160020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FFFFFF"/>
                </a:solidFill>
                <a:latin typeface="Calibri"/>
              </a:rPr>
              <a:t>3  Score</a:t>
            </a:r>
          </a:p>
        </p:txBody>
      </p:sp>
      <p:sp>
        <p:nvSpPr>
          <p:cNvPr id="16" name="TextBox 15"/>
          <p:cNvSpPr txBox="1"/>
          <p:nvPr/>
        </p:nvSpPr>
        <p:spPr>
          <a:xfrm>
            <a:off x="6382512"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FFFFFF"/>
                </a:solidFill>
                <a:latin typeface="Calibri"/>
              </a:rPr>
              <a:t>Gaussian / GMM density: low p(x) = anomaly (Parisi, 2019, ch. 5)</a:t>
            </a:r>
          </a:p>
        </p:txBody>
      </p:sp>
      <p:sp>
        <p:nvSpPr>
          <p:cNvPr id="17" name="Right Arrow 16"/>
          <p:cNvSpPr/>
          <p:nvPr/>
        </p:nvSpPr>
        <p:spPr>
          <a:xfrm>
            <a:off x="8732519" y="2304288"/>
            <a:ext cx="228600" cy="274320"/>
          </a:xfrm>
          <a:prstGeom prst="rightArrow">
            <a:avLst/>
          </a:prstGeom>
          <a:solidFill>
            <a:srgbClr val="1F5F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97696" y="1645920"/>
            <a:ext cx="2514600" cy="1600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98864" y="1828800"/>
            <a:ext cx="2112264" cy="320040"/>
          </a:xfrm>
          <a:prstGeom prst="rect">
            <a:avLst/>
          </a:prstGeom>
          <a:noFill/>
        </p:spPr>
        <p:txBody>
          <a:bodyPr wrap="square" lIns="0" rIns="0" tIns="0" bIns="0" anchor="t">
            <a:spAutoFit/>
          </a:bodyPr>
          <a:lstStyle/>
          <a:p>
            <a:pPr algn="l">
              <a:lnSpc>
                <a:spcPct val="110000"/>
              </a:lnSpc>
              <a:spcAft>
                <a:spcPts val="0"/>
              </a:spcAft>
            </a:pPr>
            <a:r>
              <a:rPr sz="1600" b="1" i="0">
                <a:solidFill>
                  <a:srgbClr val="0F1B2D"/>
                </a:solidFill>
                <a:latin typeface="Calibri"/>
              </a:rPr>
              <a:t>4  Respond</a:t>
            </a:r>
          </a:p>
        </p:txBody>
      </p:sp>
      <p:sp>
        <p:nvSpPr>
          <p:cNvPr id="20" name="TextBox 19"/>
          <p:cNvSpPr txBox="1"/>
          <p:nvPr/>
        </p:nvSpPr>
        <p:spPr>
          <a:xfrm>
            <a:off x="9198864" y="2212848"/>
            <a:ext cx="2112264" cy="10058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Alert, revoke the token, block the destination</a:t>
            </a:r>
          </a:p>
        </p:txBody>
      </p:sp>
      <p:sp>
        <p:nvSpPr>
          <p:cNvPr id="21" name="Rectangle 20"/>
          <p:cNvSpPr/>
          <p:nvPr/>
        </p:nvSpPr>
        <p:spPr>
          <a:xfrm>
            <a:off x="548640" y="3886200"/>
            <a:ext cx="73152" cy="132588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388620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APPLIED TO THIS BREACH</a:t>
            </a:r>
          </a:p>
        </p:txBody>
      </p:sp>
      <p:sp>
        <p:nvSpPr>
          <p:cNvPr id="23" name="TextBox 22"/>
          <p:cNvSpPr txBox="1"/>
          <p:nvPr/>
        </p:nvSpPr>
        <p:spPr>
          <a:xfrm>
            <a:off x="822959" y="4251960"/>
            <a:ext cx="5120640" cy="182880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An account that normally reads few images starts sending ~400K records a day to a new host. That falls far outside its baseline, so it </a:t>
            </a:r>
            <a:r>
              <a:rPr sz="1500" b="1" i="0">
                <a:solidFill>
                  <a:srgbClr val="1F2937"/>
                </a:solidFill>
                <a:latin typeface="Calibri"/>
              </a:rPr>
              <a:t>could be flagged within hours</a:t>
            </a:r>
            <a:r>
              <a:rPr sz="1500" b="0" i="0">
                <a:solidFill>
                  <a:srgbClr val="1F2937"/>
                </a:solidFill>
                <a:latin typeface="Calibri"/>
              </a:rPr>
              <a:t>, given log coverage, tuned thresholds and automated response.</a:t>
            </a:r>
          </a:p>
        </p:txBody>
      </p:sp>
      <p:sp>
        <p:nvSpPr>
          <p:cNvPr id="24" name="Rectangle 23"/>
          <p:cNvSpPr/>
          <p:nvPr/>
        </p:nvSpPr>
        <p:spPr>
          <a:xfrm>
            <a:off x="6217920" y="3886200"/>
            <a:ext cx="73152" cy="13258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92240" y="3886200"/>
            <a:ext cx="51206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LESSON FROM MY MODULE 1 LAB</a:t>
            </a:r>
          </a:p>
        </p:txBody>
      </p:sp>
      <p:sp>
        <p:nvSpPr>
          <p:cNvPr id="26" name="TextBox 25"/>
          <p:cNvSpPr txBox="1"/>
          <p:nvPr/>
        </p:nvSpPr>
        <p:spPr>
          <a:xfrm>
            <a:off x="6492240" y="4251960"/>
            <a:ext cx="5120640" cy="1828800"/>
          </a:xfrm>
          <a:prstGeom prst="rect">
            <a:avLst/>
          </a:prstGeom>
          <a:noFill/>
        </p:spPr>
        <p:txBody>
          <a:bodyPr wrap="square" lIns="0" rIns="0" tIns="0" bIns="0" anchor="t">
            <a:spAutoFit/>
          </a:bodyPr>
          <a:lstStyle/>
          <a:p>
            <a:pPr algn="l">
              <a:lnSpc>
                <a:spcPct val="110000"/>
              </a:lnSpc>
              <a:spcAft>
                <a:spcPts val="0"/>
              </a:spcAft>
            </a:pPr>
            <a:r>
              <a:rPr sz="1500" b="0" i="0">
                <a:solidFill>
                  <a:srgbClr val="1F2937"/>
                </a:solidFill>
                <a:latin typeface="Calibri"/>
              </a:rPr>
              <a:t>My benign-only GMM reached </a:t>
            </a:r>
            <a:r>
              <a:rPr sz="1500" b="1" i="0">
                <a:solidFill>
                  <a:srgbClr val="1F2937"/>
                </a:solidFill>
                <a:latin typeface="Calibri"/>
              </a:rPr>
              <a:t>ROC-AUC 0.966</a:t>
            </a:r>
            <a:r>
              <a:rPr sz="1500" b="0" i="0">
                <a:solidFill>
                  <a:srgbClr val="1F2937"/>
                </a:solidFill>
                <a:latin typeface="Calibri"/>
              </a:rPr>
              <a:t> on CIC-IDS-2017 but missed attacks that look normal flow by flow. Slow leaks need </a:t>
            </a:r>
            <a:r>
              <a:rPr sz="1500" b="1" i="0">
                <a:solidFill>
                  <a:srgbClr val="1F2937"/>
                </a:solidFill>
                <a:latin typeface="Calibri"/>
              </a:rPr>
              <a:t>per-account baselines over days</a:t>
            </a:r>
            <a:r>
              <a:rPr sz="1500" b="0" i="0">
                <a:solidFill>
                  <a:srgbClr val="1F2937"/>
                </a:solidFill>
                <a:latin typeface="Calibri"/>
              </a:rPr>
              <a:t> (UEBA).</a:t>
            </a:r>
          </a:p>
        </p:txBody>
      </p:sp>
      <p:cxnSp>
        <p:nvCxnSpPr>
          <p:cNvPr id="27" name="Connector 26"/>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Parisi (2019), Ch. 5, network anomaly detection with AI; Krebs (2026); author’s Module 1 lab results.</a:t>
            </a:r>
          </a:p>
        </p:txBody>
      </p:sp>
      <p:sp>
        <p:nvSpPr>
          <p:cNvPr id="29" name="TextBox 28"/>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CURRENT TREND · DATA MINIMIZATION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Trend: mobile IDs can shrink what there is to steal</a:t>
            </a:r>
          </a:p>
        </p:txBody>
      </p:sp>
      <p:sp>
        <p:nvSpPr>
          <p:cNvPr id="5" name="Rounded Rectangle 4"/>
          <p:cNvSpPr/>
          <p:nvPr/>
        </p:nvSpPr>
        <p:spPr>
          <a:xfrm>
            <a:off x="548640" y="1645920"/>
            <a:ext cx="2926080" cy="370332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45920"/>
            <a:ext cx="2926080" cy="10972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920240"/>
            <a:ext cx="2560320" cy="548640"/>
          </a:xfrm>
          <a:prstGeom prst="rect">
            <a:avLst/>
          </a:prstGeom>
          <a:noFill/>
        </p:spPr>
        <p:txBody>
          <a:bodyPr wrap="square" lIns="0" rIns="0" tIns="0" bIns="0" anchor="t">
            <a:spAutoFit/>
          </a:bodyPr>
          <a:lstStyle/>
          <a:p>
            <a:pPr algn="l">
              <a:lnSpc>
                <a:spcPct val="110000"/>
              </a:lnSpc>
              <a:spcAft>
                <a:spcPts val="0"/>
              </a:spcAft>
            </a:pPr>
            <a:r>
              <a:rPr sz="1300" b="1" i="0">
                <a:solidFill>
                  <a:srgbClr val="C0392B"/>
                </a:solidFill>
                <a:latin typeface="Calibri"/>
              </a:rPr>
              <a:t>TODAY: SCAN AND STORE</a:t>
            </a:r>
          </a:p>
        </p:txBody>
      </p:sp>
      <p:sp>
        <p:nvSpPr>
          <p:cNvPr id="8" name="TextBox 7"/>
          <p:cNvSpPr txBox="1"/>
          <p:nvPr/>
        </p:nvSpPr>
        <p:spPr>
          <a:xfrm>
            <a:off x="777240" y="260604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Physical license scanned</a:t>
            </a:r>
          </a:p>
        </p:txBody>
      </p:sp>
      <p:sp>
        <p:nvSpPr>
          <p:cNvPr id="9" name="Down Arrow 8"/>
          <p:cNvSpPr/>
          <p:nvPr/>
        </p:nvSpPr>
        <p:spPr>
          <a:xfrm>
            <a:off x="1874519" y="3355848"/>
            <a:ext cx="237744" cy="256032"/>
          </a:xfrm>
          <a:prstGeom prst="down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65760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Vendor keeps the full image: front, back, IR, UV</a:t>
            </a:r>
          </a:p>
        </p:txBody>
      </p:sp>
      <p:sp>
        <p:nvSpPr>
          <p:cNvPr id="11" name="Down Arrow 10"/>
          <p:cNvSpPr/>
          <p:nvPr/>
        </p:nvSpPr>
        <p:spPr>
          <a:xfrm>
            <a:off x="1874519" y="4407408"/>
            <a:ext cx="237744" cy="256032"/>
          </a:xfrm>
          <a:prstGeom prst="downArrow">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70916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A breach leaks a reusable identity</a:t>
            </a:r>
          </a:p>
        </p:txBody>
      </p:sp>
      <p:sp>
        <p:nvSpPr>
          <p:cNvPr id="13" name="Rounded Rectangle 12"/>
          <p:cNvSpPr/>
          <p:nvPr/>
        </p:nvSpPr>
        <p:spPr>
          <a:xfrm>
            <a:off x="3703320" y="1645920"/>
            <a:ext cx="2926080" cy="370332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703320" y="1645920"/>
            <a:ext cx="2926080" cy="109728"/>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931920" y="1920240"/>
            <a:ext cx="2560320" cy="548640"/>
          </a:xfrm>
          <a:prstGeom prst="rect">
            <a:avLst/>
          </a:prstGeom>
          <a:noFill/>
        </p:spPr>
        <p:txBody>
          <a:bodyPr wrap="square" lIns="0" rIns="0" tIns="0" bIns="0" anchor="t">
            <a:spAutoFit/>
          </a:bodyPr>
          <a:lstStyle/>
          <a:p>
            <a:pPr algn="l">
              <a:lnSpc>
                <a:spcPct val="110000"/>
              </a:lnSpc>
              <a:spcAft>
                <a:spcPts val="0"/>
              </a:spcAft>
            </a:pPr>
            <a:r>
              <a:rPr sz="1300" b="1" i="0">
                <a:solidFill>
                  <a:srgbClr val="1E846F"/>
                </a:solidFill>
                <a:latin typeface="Calibri"/>
              </a:rPr>
              <a:t>MOBILE ID (ISO/IEC 18013-5)</a:t>
            </a:r>
          </a:p>
        </p:txBody>
      </p:sp>
      <p:sp>
        <p:nvSpPr>
          <p:cNvPr id="16" name="TextBox 15"/>
          <p:cNvSpPr txBox="1"/>
          <p:nvPr/>
        </p:nvSpPr>
        <p:spPr>
          <a:xfrm>
            <a:off x="3931920" y="260604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Phone shares a state-signed credential</a:t>
            </a:r>
          </a:p>
        </p:txBody>
      </p:sp>
      <p:sp>
        <p:nvSpPr>
          <p:cNvPr id="17" name="Down Arrow 16"/>
          <p:cNvSpPr/>
          <p:nvPr/>
        </p:nvSpPr>
        <p:spPr>
          <a:xfrm>
            <a:off x="5029200" y="3355848"/>
            <a:ext cx="237744" cy="256032"/>
          </a:xfrm>
          <a:prstGeom prst="downArrow">
            <a:avLst/>
          </a:prstGeom>
          <a:solidFill>
            <a:srgbClr val="1E8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31920" y="365760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Verifier asks only “age over 21?” and gets yes/no</a:t>
            </a:r>
          </a:p>
        </p:txBody>
      </p:sp>
      <p:sp>
        <p:nvSpPr>
          <p:cNvPr id="19" name="Down Arrow 18"/>
          <p:cNvSpPr/>
          <p:nvPr/>
        </p:nvSpPr>
        <p:spPr>
          <a:xfrm>
            <a:off x="5029200" y="4407408"/>
            <a:ext cx="237744" cy="256032"/>
          </a:xfrm>
          <a:prstGeom prst="downArrow">
            <a:avLst/>
          </a:prstGeom>
          <a:solidFill>
            <a:srgbClr val="1E84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4709160"/>
            <a:ext cx="2514600" cy="822960"/>
          </a:xfrm>
          <a:prstGeom prst="rect">
            <a:avLst/>
          </a:prstGeom>
          <a:noFill/>
        </p:spPr>
        <p:txBody>
          <a:bodyPr wrap="square" lIns="0" rIns="0" tIns="0" bIns="0" anchor="t">
            <a:spAutoFit/>
          </a:bodyPr>
          <a:lstStyle/>
          <a:p>
            <a:pPr algn="l">
              <a:lnSpc>
                <a:spcPct val="110000"/>
              </a:lnSpc>
              <a:spcAft>
                <a:spcPts val="0"/>
              </a:spcAft>
            </a:pPr>
            <a:r>
              <a:rPr sz="1400" b="0" i="0">
                <a:solidFill>
                  <a:srgbClr val="1F2937"/>
                </a:solidFill>
                <a:latin typeface="Calibri"/>
              </a:rPr>
              <a:t>Less to leak, if the verifier does not retain data</a:t>
            </a:r>
          </a:p>
        </p:txBody>
      </p:sp>
      <p:sp>
        <p:nvSpPr>
          <p:cNvPr id="21" name="TextBox 20"/>
          <p:cNvSpPr txBox="1"/>
          <p:nvPr/>
        </p:nvSpPr>
        <p:spPr>
          <a:xfrm>
            <a:off x="7086600" y="1737360"/>
            <a:ext cx="4572000" cy="2926080"/>
          </a:xfrm>
          <a:prstGeom prst="rect">
            <a:avLst/>
          </a:prstGeom>
          <a:noFill/>
        </p:spPr>
        <p:txBody>
          <a:bodyPr wrap="square" lIns="0" rIns="0" tIns="0" bIns="0">
            <a:spAutoFit/>
          </a:bodyPr>
          <a:lstStyle/>
          <a:p>
            <a:pPr marL="256032" indent="-256032">
              <a:lnSpc>
                <a:spcPct val="110000"/>
              </a:lnSpc>
              <a:spcAft>
                <a:spcPts val="1400"/>
              </a:spcAft>
              <a:buClr>
                <a:srgbClr val="1E846F"/>
              </a:buClr>
              <a:buFont typeface="Arial"/>
              <a:buChar char="■"/>
            </a:pPr>
            <a:r>
              <a:rPr sz="1600" b="1" i="0">
                <a:solidFill>
                  <a:srgbClr val="1F2937"/>
                </a:solidFill>
                <a:latin typeface="Calibri"/>
              </a:rPr>
              <a:t>The trend:</a:t>
            </a:r>
            <a:r>
              <a:rPr sz="1600" b="0" i="0">
                <a:solidFill>
                  <a:srgbClr val="1F2937"/>
                </a:solidFill>
                <a:latin typeface="Calibri"/>
              </a:rPr>
              <a:t> mobile driver’s licenses (ISO/IEC 18013-5). TSA accepts digital IDs at 250+ airports and “sees only the necessary information.”</a:t>
            </a:r>
          </a:p>
          <a:p>
            <a:pPr marL="256032" indent="-256032">
              <a:lnSpc>
                <a:spcPct val="110000"/>
              </a:lnSpc>
              <a:spcAft>
                <a:spcPts val="1400"/>
              </a:spcAft>
              <a:buClr>
                <a:srgbClr val="1E846F"/>
              </a:buClr>
              <a:buFont typeface="Arial"/>
              <a:buChar char="■"/>
            </a:pPr>
            <a:r>
              <a:rPr sz="1600" b="1" i="0">
                <a:solidFill>
                  <a:srgbClr val="1F2937"/>
                </a:solidFill>
                <a:latin typeface="Calibri"/>
              </a:rPr>
              <a:t>Mitigation link:</a:t>
            </a:r>
            <a:r>
              <a:rPr sz="1600" b="0" i="0">
                <a:solidFill>
                  <a:srgbClr val="1F2937"/>
                </a:solidFill>
                <a:latin typeface="Calibri"/>
              </a:rPr>
              <a:t> verifiers can receive only what they need. The benefit depends on retention: ISO/IEC 18013-5 leaves storage rules out of scope.</a:t>
            </a:r>
          </a:p>
          <a:p>
            <a:pPr marL="256032" indent="-256032">
              <a:lnSpc>
                <a:spcPct val="110000"/>
              </a:lnSpc>
              <a:spcAft>
                <a:spcPts val="1400"/>
              </a:spcAft>
              <a:buClr>
                <a:srgbClr val="1E846F"/>
              </a:buClr>
              <a:buFont typeface="Arial"/>
              <a:buChar char="■"/>
            </a:pPr>
            <a:r>
              <a:rPr sz="1600" b="1" i="0">
                <a:solidFill>
                  <a:srgbClr val="1F2937"/>
                </a:solidFill>
                <a:latin typeface="Calibri"/>
              </a:rPr>
              <a:t>With the AI control:</a:t>
            </a:r>
            <a:r>
              <a:rPr sz="1600" b="0" i="0">
                <a:solidFill>
                  <a:srgbClr val="1F2937"/>
                </a:solidFill>
                <a:latin typeface="Calibri"/>
              </a:rPr>
              <a:t> minimize what is stored, then monitor what remains.</a:t>
            </a:r>
          </a:p>
        </p:txBody>
      </p:sp>
      <p:sp>
        <p:nvSpPr>
          <p:cNvPr id="22" name="TextBox 21"/>
          <p:cNvSpPr txBox="1"/>
          <p:nvPr/>
        </p:nvSpPr>
        <p:spPr>
          <a:xfrm>
            <a:off x="7086600" y="4892040"/>
            <a:ext cx="4572000" cy="914400"/>
          </a:xfrm>
          <a:prstGeom prst="rect">
            <a:avLst/>
          </a:prstGeom>
          <a:noFill/>
        </p:spPr>
        <p:txBody>
          <a:bodyPr wrap="square" lIns="0" rIns="0" tIns="0" bIns="0" anchor="t">
            <a:spAutoFit/>
          </a:bodyPr>
          <a:lstStyle/>
          <a:p>
            <a:pPr algn="l">
              <a:lnSpc>
                <a:spcPct val="110000"/>
              </a:lnSpc>
              <a:spcAft>
                <a:spcPts val="600"/>
              </a:spcAft>
            </a:pPr>
            <a:r>
              <a:rPr sz="1300" b="0" i="1">
                <a:solidFill>
                  <a:srgbClr val="5B6472"/>
                </a:solidFill>
                <a:latin typeface="Calibri"/>
              </a:rPr>
              <a:t>“We don’t have nearly the oversight to ensure they are safe.”  Z. Edwards, privacy researcher, in Krebs (2026)</a:t>
            </a:r>
          </a:p>
        </p:txBody>
      </p:sp>
      <p:cxnSp>
        <p:nvCxnSpPr>
          <p:cNvPr id="23" name="Connector 22"/>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International Organization for Standardization (2021); Krebs (2026); Transportation Security Administration (n.d.).</a:t>
            </a:r>
          </a:p>
        </p:txBody>
      </p:sp>
      <p:sp>
        <p:nvSpPr>
          <p:cNvPr id="25" name="TextBox 24"/>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TAKEAWAYS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Reflection and references</a:t>
            </a:r>
          </a:p>
        </p:txBody>
      </p:sp>
      <p:sp>
        <p:nvSpPr>
          <p:cNvPr id="5" name="Rounded Rectangle 4"/>
          <p:cNvSpPr/>
          <p:nvPr/>
        </p:nvSpPr>
        <p:spPr>
          <a:xfrm>
            <a:off x="548640" y="1645920"/>
            <a:ext cx="5120640" cy="352044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828800"/>
            <a:ext cx="45720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WHAT I LEARNED</a:t>
            </a:r>
          </a:p>
        </p:txBody>
      </p:sp>
      <p:sp>
        <p:nvSpPr>
          <p:cNvPr id="7" name="TextBox 6"/>
          <p:cNvSpPr txBox="1"/>
          <p:nvPr/>
        </p:nvSpPr>
        <p:spPr>
          <a:xfrm>
            <a:off x="822959" y="2194560"/>
            <a:ext cx="4572000" cy="3566160"/>
          </a:xfrm>
          <a:prstGeom prst="rect">
            <a:avLst/>
          </a:prstGeom>
          <a:noFill/>
        </p:spPr>
        <p:txBody>
          <a:bodyPr wrap="square" lIns="0" rIns="0" tIns="0" bIns="0" anchor="t">
            <a:spAutoFit/>
          </a:bodyPr>
          <a:lstStyle/>
          <a:p>
            <a:pPr algn="l">
              <a:lnSpc>
                <a:spcPct val="110000"/>
              </a:lnSpc>
              <a:spcAft>
                <a:spcPts val="1200"/>
              </a:spcAft>
            </a:pPr>
            <a:r>
              <a:rPr sz="1500" b="0" i="0">
                <a:solidFill>
                  <a:srgbClr val="1F2937"/>
                </a:solidFill>
                <a:latin typeface="Calibri"/>
              </a:rPr>
              <a:t>My Module 1 detector scored well, but this breach exposes its blind spot: a patient attacker who looks normal one flow at a time. </a:t>
            </a:r>
            <a:r>
              <a:rPr sz="1500" b="1" i="0">
                <a:solidFill>
                  <a:srgbClr val="1F2937"/>
                </a:solidFill>
                <a:latin typeface="Calibri"/>
              </a:rPr>
              <a:t>A model’s limits matter as much as its score.</a:t>
            </a:r>
          </a:p>
          <a:p>
            <a:pPr algn="l">
              <a:lnSpc>
                <a:spcPct val="110000"/>
              </a:lnSpc>
              <a:spcAft>
                <a:spcPts val="1200"/>
              </a:spcAft>
            </a:pPr>
            <a:r>
              <a:rPr sz="1500" b="0" i="0">
                <a:solidFill>
                  <a:srgbClr val="1F2937"/>
                </a:solidFill>
                <a:latin typeface="Calibri"/>
              </a:rPr>
              <a:t>The cipher lab showed me that patterns leak. Here, stored data leaked. Sometimes the strongest control is keeping less.</a:t>
            </a:r>
          </a:p>
          <a:p>
            <a:pPr algn="l">
              <a:lnSpc>
                <a:spcPct val="110000"/>
              </a:lnSpc>
              <a:spcAft>
                <a:spcPts val="1200"/>
              </a:spcAft>
            </a:pPr>
            <a:r>
              <a:rPr sz="1500" b="0" i="0">
                <a:solidFill>
                  <a:srgbClr val="1F2937"/>
                </a:solidFill>
                <a:latin typeface="Calibri"/>
              </a:rPr>
              <a:t>As a future security engineer, I want to build detectors that track </a:t>
            </a:r>
            <a:r>
              <a:rPr sz="1500" b="1" i="0">
                <a:solidFill>
                  <a:srgbClr val="1F2937"/>
                </a:solidFill>
                <a:latin typeface="Calibri"/>
              </a:rPr>
              <a:t>behavior over time</a:t>
            </a:r>
            <a:r>
              <a:rPr sz="1500" b="0" i="0">
                <a:solidFill>
                  <a:srgbClr val="1F2937"/>
                </a:solidFill>
                <a:latin typeface="Calibri"/>
              </a:rPr>
              <a:t>, with a named analyst approving high-impact responses.</a:t>
            </a:r>
          </a:p>
        </p:txBody>
      </p:sp>
      <p:sp>
        <p:nvSpPr>
          <p:cNvPr id="8" name="TextBox 7"/>
          <p:cNvSpPr txBox="1"/>
          <p:nvPr/>
        </p:nvSpPr>
        <p:spPr>
          <a:xfrm>
            <a:off x="6080760" y="1691640"/>
            <a:ext cx="55778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REFERENCES</a:t>
            </a:r>
          </a:p>
        </p:txBody>
      </p:sp>
      <p:sp>
        <p:nvSpPr>
          <p:cNvPr id="9" name="TextBox 8"/>
          <p:cNvSpPr txBox="1"/>
          <p:nvPr/>
        </p:nvSpPr>
        <p:spPr>
          <a:xfrm>
            <a:off x="6080760" y="2057400"/>
            <a:ext cx="5577840" cy="3840480"/>
          </a:xfrm>
          <a:prstGeom prst="rect">
            <a:avLst/>
          </a:prstGeom>
          <a:noFill/>
        </p:spPr>
        <p:txBody>
          <a:bodyPr wrap="square" lIns="0" rIns="0" tIns="0" bIns="0" anchor="t">
            <a:spAutoFit/>
          </a:bodyPr>
          <a:lstStyle/>
          <a:p>
            <a:pPr algn="l" marL="365760" indent="-365760">
              <a:lnSpc>
                <a:spcPct val="105000"/>
              </a:lnSpc>
              <a:spcAft>
                <a:spcPts val="800"/>
              </a:spcAft>
            </a:pPr>
            <a:r>
              <a:rPr sz="1150" b="0" i="0">
                <a:solidFill>
                  <a:srgbClr val="1F2937"/>
                </a:solidFill>
                <a:latin typeface="Calibri"/>
              </a:rPr>
              <a:t>Krebs, B. (2026, September 1). FBI probes service selling 153M+ drivers licenses. </a:t>
            </a:r>
            <a:r>
              <a:rPr sz="1150" b="0" i="1">
                <a:solidFill>
                  <a:srgbClr val="1F2937"/>
                </a:solidFill>
                <a:latin typeface="Calibri"/>
              </a:rPr>
              <a:t>Krebs on Security</a:t>
            </a:r>
            <a:r>
              <a:rPr sz="1150" b="0" i="0">
                <a:solidFill>
                  <a:srgbClr val="1F2937"/>
                </a:solidFill>
                <a:latin typeface="Calibri"/>
              </a:rPr>
              <a:t>. https://krebsonsecurity.com/2026/09/fbi-probes-service-selling-153m-drivers-licenses/</a:t>
            </a:r>
          </a:p>
          <a:p>
            <a:pPr algn="l" marL="365760" indent="-365760">
              <a:lnSpc>
                <a:spcPct val="105000"/>
              </a:lnSpc>
              <a:spcAft>
                <a:spcPts val="800"/>
              </a:spcAft>
            </a:pPr>
            <a:r>
              <a:rPr sz="1150" b="0" i="0">
                <a:solidFill>
                  <a:srgbClr val="1F2937"/>
                </a:solidFill>
                <a:latin typeface="Calibri"/>
              </a:rPr>
              <a:t>International Organization for Standardization. (2021). </a:t>
            </a:r>
            <a:r>
              <a:rPr sz="1150" b="0" i="1">
                <a:solidFill>
                  <a:srgbClr val="1F2937"/>
                </a:solidFill>
                <a:latin typeface="Calibri"/>
              </a:rPr>
              <a:t>Personal identification: ISO-compliant driving licence. Part 5: Mobile driving licence (mDL) application</a:t>
            </a:r>
            <a:r>
              <a:rPr sz="1150" b="0" i="0">
                <a:solidFill>
                  <a:srgbClr val="1F2937"/>
                </a:solidFill>
                <a:latin typeface="Calibri"/>
              </a:rPr>
              <a:t> (ISO/IEC Standard No. 18013-5:2021). https://www.iso.org/standard/69084.html</a:t>
            </a:r>
          </a:p>
          <a:p>
            <a:pPr algn="l" marL="365760" indent="-365760">
              <a:lnSpc>
                <a:spcPct val="105000"/>
              </a:lnSpc>
              <a:spcAft>
                <a:spcPts val="800"/>
              </a:spcAft>
            </a:pPr>
            <a:r>
              <a:rPr sz="1150" b="0" i="0">
                <a:solidFill>
                  <a:srgbClr val="1F2937"/>
                </a:solidFill>
                <a:latin typeface="Calibri"/>
              </a:rPr>
              <a:t>Parisi, A. (2019). </a:t>
            </a:r>
            <a:r>
              <a:rPr sz="1150" b="0" i="1">
                <a:solidFill>
                  <a:srgbClr val="1F2937"/>
                </a:solidFill>
                <a:latin typeface="Calibri"/>
              </a:rPr>
              <a:t>Hands-on artificial intelligence for cybersecurity: Implement smart AI systems for preventing cyber attacks and detecting threats and network anomalies</a:t>
            </a:r>
            <a:r>
              <a:rPr sz="1150" b="0" i="0">
                <a:solidFill>
                  <a:srgbClr val="1F2937"/>
                </a:solidFill>
                <a:latin typeface="Calibri"/>
              </a:rPr>
              <a:t>. Packt Publishing.</a:t>
            </a:r>
          </a:p>
          <a:p>
            <a:pPr algn="l" marL="365760" indent="-365760">
              <a:lnSpc>
                <a:spcPct val="105000"/>
              </a:lnSpc>
              <a:spcAft>
                <a:spcPts val="800"/>
              </a:spcAft>
            </a:pPr>
            <a:r>
              <a:rPr sz="1150" b="0" i="0">
                <a:solidFill>
                  <a:srgbClr val="1F2937"/>
                </a:solidFill>
                <a:latin typeface="Calibri"/>
              </a:rPr>
              <a:t>Transportation Security Administration. (n.d.). </a:t>
            </a:r>
            <a:r>
              <a:rPr sz="1150" b="0" i="1">
                <a:solidFill>
                  <a:srgbClr val="1F2937"/>
                </a:solidFill>
                <a:latin typeface="Calibri"/>
              </a:rPr>
              <a:t>Digital identity and facial comparison technology</a:t>
            </a:r>
            <a:r>
              <a:rPr sz="1150" b="0" i="0">
                <a:solidFill>
                  <a:srgbClr val="1F2937"/>
                </a:solidFill>
                <a:latin typeface="Calibri"/>
              </a:rPr>
              <a:t>. Retrieved September 27, 2026, from https://www.tsa.gov/digital-id</a:t>
            </a:r>
          </a:p>
        </p:txBody>
      </p:sp>
      <p:cxnSp>
        <p:nvCxnSpPr>
          <p:cNvPr id="10" name="Connector 9"/>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References formatted in APA 7th edition.</a:t>
            </a:r>
          </a:p>
        </p:txBody>
      </p:sp>
      <p:sp>
        <p:nvSpPr>
          <p:cNvPr id="12" name="TextBox 11"/>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