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presentation analyses a breach reported by Brian Krebs on September 1, 2026. A dark-web service called Nexus was selling scans of more than 153 million U.S. and Canadian driver's licenses, and the evidence pointed to IDScan.net, an identity verification vendor. I will summarise the incident, map it to the CIA triad, explain why confidentiality was hit hardest, and recommend an AI-based control from Chapter 5 together with a current industry trend that would have reduced the damage.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IDScan.net verifies IDs for Hertz, Target, FedEx and more than a thousand cannabis dispensaries, running over 21 million verifications a month. What: the Nexus service listed over 153 million driver's licenses, more than 10 million ID cards, three million travel documents and 579,000 medical cards, often with infrared and ultraviolet images. When: Krebs matched image timestamps to trips as early as June 2025; Nexus was advertised on August 31, 2026, the FBI opened an inquiry on September 1, and IDScan confirmed unauthorized access on September 8. How: the attackers claimed continuous exfiltration for over a year, and the record count grew by about 400,000 in a single day. The threat is data theft for identity fraud; the impact includes identity and credit fraud, IDScan's notification and credit-protection costs, an FBI investigation, and exposure of senior officials such as the U.S. Defense Secretary.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maps the attack onto the triad. The attack vector is the long-running exfiltration in the centre. Confidentiality is severe: more than 153 million identity images were copied and sold. Integrity is high: the stolen scans include the infrared and ultraviolet images that verifiers check, so criminals can make convincing forgeries and open fraudulent accounts, which breaks the trust that a verified ID proves identity. Availability is low: Krebs reports no outage of IDScan's service, but there is indirect loss, because victims must freeze their credit and business clients may have to pause or repeat verification while the vendor investigates.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Confidentiality is the most severe impact for four reasons. First, it is irreversible: unlike a password, a person's face, date of birth and license number cannot be rotated. Second, the data is forgery-grade, because the infrared and ultraviolet scans are the very features that verification systems inspect. Third, the harm goes beyond financial fraud: a researcher quoted by Krebs warned that the images expose people fleeing domestic violence and people in witness protection, who cannot meaningfully change their appearance. Fourth, the integrity and availability harms are downstream of this one confidentiality failure, so preventing the leak would have prevented the rest.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recommended control is AI-based egress anomaly detection, which applies Chapter 5 of Parisi directly. The detector learns what normal outbound activity looks like for each service account, using features such as bytes sent, records read, destination and time of day, and fits a Gaussian or Gaussian mixture density. Activity with very low probability is flagged, and a SOAR playbook can revoke the token and block the destination. In this breach, an account suddenly moving hundreds of thousands of license images a day would stand out and be stopped in hours. My Module 1 lab adds a caveat: my benign-only mixture model scored ROC-AUC 0.966, but it missed attacks that look normal one flow at a time. So the detector must aggregate per account over days, which is how commercial UEBA and network detection platforms work today. This makes the control realistic for current industry practice.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trend I connect to mitigation is the shift to mobile driver's licenses and selective disclosure, standardised in ISO/IEC 18013-5. Instead of photocopying a physical card, the verifier asks the phone a narrow question, such as whether the holder is over 21, and receives a cryptographically signed yes or no from the issuing state. Nothing reusable needs to be stored, so a breach of the verifier yields no identity documents. This is data minimization in practice, and it answers the oversight gap the privacy researcher Zach Edwards raised in the article. It pairs with the AI control: minimization shrinks what can be stolen, and anomaly detection shrinks how long a thief has to steal what remains.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case changed how I read my own Module 1 results. My detector scored well overall, but it evaluated single flows, and this attacker was patient enough to blend in flow by flow for over a year. As I work toward a career in security engineering, I want to design detectors that model behavior over time, and to push for architectures that store less sensitive data in the first place. The references are listed in APA format: the Krebs on Security article, the ISO standard for mobile driving licences, and Chapter 5 of Parisi's Hands-On Artificial Intelligence for Cybersecurity.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548640" y="1417320"/>
            <a:ext cx="822960" cy="7315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691640"/>
            <a:ext cx="10515600" cy="1645920"/>
          </a:xfrm>
          <a:prstGeom prst="rect">
            <a:avLst/>
          </a:prstGeom>
          <a:noFill/>
        </p:spPr>
        <p:txBody>
          <a:bodyPr wrap="square" lIns="0" rIns="0" tIns="0" bIns="0" anchor="t">
            <a:spAutoFit/>
          </a:bodyPr>
          <a:lstStyle/>
          <a:p>
            <a:pPr algn="l">
              <a:lnSpc>
                <a:spcPct val="100000"/>
              </a:lnSpc>
              <a:spcAft>
                <a:spcPts val="600"/>
              </a:spcAft>
            </a:pPr>
            <a:r>
              <a:rPr sz="4800" b="1" i="0">
                <a:solidFill>
                  <a:srgbClr val="FFFFFF"/>
                </a:solidFill>
                <a:latin typeface="Calibri"/>
              </a:rPr>
              <a:t>153 Million Driver’s Licenses for Sale</a:t>
            </a:r>
          </a:p>
        </p:txBody>
      </p:sp>
      <p:sp>
        <p:nvSpPr>
          <p:cNvPr id="5" name="TextBox 4"/>
          <p:cNvSpPr txBox="1"/>
          <p:nvPr/>
        </p:nvSpPr>
        <p:spPr>
          <a:xfrm>
            <a:off x="548640" y="2651760"/>
            <a:ext cx="10515600" cy="914400"/>
          </a:xfrm>
          <a:prstGeom prst="rect">
            <a:avLst/>
          </a:prstGeom>
          <a:noFill/>
        </p:spPr>
        <p:txBody>
          <a:bodyPr wrap="square" lIns="0" rIns="0" tIns="0" bIns="0" anchor="t">
            <a:spAutoFit/>
          </a:bodyPr>
          <a:lstStyle/>
          <a:p>
            <a:pPr algn="l">
              <a:lnSpc>
                <a:spcPct val="110000"/>
              </a:lnSpc>
              <a:spcAft>
                <a:spcPts val="600"/>
              </a:spcAft>
            </a:pPr>
            <a:r>
              <a:rPr sz="2400" b="0" i="0">
                <a:solidFill>
                  <a:srgbClr val="C9D3E0"/>
                </a:solidFill>
                <a:latin typeface="Calibri"/>
              </a:rPr>
              <a:t>A CIA triad analysis of the IDScan.net breach behind the Nexus identity-theft service</a:t>
            </a:r>
          </a:p>
        </p:txBody>
      </p:sp>
      <p:sp>
        <p:nvSpPr>
          <p:cNvPr id="6" name="TextBox 5"/>
          <p:cNvSpPr txBox="1"/>
          <p:nvPr/>
        </p:nvSpPr>
        <p:spPr>
          <a:xfrm>
            <a:off x="548640" y="4343400"/>
            <a:ext cx="7315200" cy="1097280"/>
          </a:xfrm>
          <a:prstGeom prst="rect">
            <a:avLst/>
          </a:prstGeom>
          <a:noFill/>
        </p:spPr>
        <p:txBody>
          <a:bodyPr wrap="square" lIns="0" rIns="0" tIns="0" bIns="0" anchor="t">
            <a:spAutoFit/>
          </a:bodyPr>
          <a:lstStyle/>
          <a:p>
            <a:pPr algn="l">
              <a:lnSpc>
                <a:spcPct val="110000"/>
              </a:lnSpc>
              <a:spcAft>
                <a:spcPts val="400"/>
              </a:spcAft>
            </a:pPr>
            <a:r>
              <a:rPr sz="1600" b="1" i="0">
                <a:solidFill>
                  <a:srgbClr val="C9D3E0"/>
                </a:solidFill>
                <a:latin typeface="Calibri"/>
              </a:rPr>
              <a:t>Ruthvik Nath Bandari</a:t>
            </a:r>
          </a:p>
          <a:p>
            <a:pPr algn="l">
              <a:lnSpc>
                <a:spcPct val="110000"/>
              </a:lnSpc>
              <a:spcAft>
                <a:spcPts val="400"/>
              </a:spcAft>
            </a:pPr>
            <a:r>
              <a:rPr sz="1600" b="0" i="0">
                <a:solidFill>
                  <a:srgbClr val="C9D3E0"/>
                </a:solidFill>
                <a:latin typeface="Calibri"/>
              </a:rPr>
              <a:t>AAI6680: AI for Cybersecurity · Northeastern University</a:t>
            </a:r>
          </a:p>
          <a:p>
            <a:pPr algn="l">
              <a:lnSpc>
                <a:spcPct val="110000"/>
              </a:lnSpc>
              <a:spcAft>
                <a:spcPts val="400"/>
              </a:spcAft>
            </a:pPr>
            <a:r>
              <a:rPr sz="1600" b="0" i="0">
                <a:solidFill>
                  <a:srgbClr val="C9D3E0"/>
                </a:solidFill>
                <a:latin typeface="Calibri"/>
              </a:rPr>
              <a:t>Mimoza Dimodugno, PhD · September 2026</a:t>
            </a:r>
          </a:p>
        </p:txBody>
      </p:sp>
      <p:sp>
        <p:nvSpPr>
          <p:cNvPr id="7" name="TextBox 6"/>
          <p:cNvSpPr txBox="1"/>
          <p:nvPr/>
        </p:nvSpPr>
        <p:spPr>
          <a:xfrm>
            <a:off x="548640" y="6126480"/>
            <a:ext cx="10972800" cy="365760"/>
          </a:xfrm>
          <a:prstGeom prst="rect">
            <a:avLst/>
          </a:prstGeom>
          <a:noFill/>
        </p:spPr>
        <p:txBody>
          <a:bodyPr wrap="square" lIns="0" rIns="0" tIns="0" bIns="0" anchor="t">
            <a:spAutoFit/>
          </a:bodyPr>
          <a:lstStyle/>
          <a:p>
            <a:pPr algn="l">
              <a:lnSpc>
                <a:spcPct val="110000"/>
              </a:lnSpc>
              <a:spcAft>
                <a:spcPts val="600"/>
              </a:spcAft>
            </a:pPr>
            <a:r>
              <a:rPr sz="1100" b="0" i="1">
                <a:solidFill>
                  <a:srgbClr val="8A97A8"/>
                </a:solidFill>
                <a:latin typeface="Calibri"/>
              </a:rPr>
              <a:t>Case source: Krebs, B. (2026, September 1). FBI probes service selling 153M+ drivers licenses. Krebs on Security.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THE INCIDENT · THREAT: DATA EXFILTRATION FOR IDENTITY FRAUD</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A year-long data drain at an ID-verification vendor</a:t>
            </a:r>
          </a:p>
        </p:txBody>
      </p:sp>
      <p:sp>
        <p:nvSpPr>
          <p:cNvPr id="5" name="Rounded Rectangle 4"/>
          <p:cNvSpPr/>
          <p:nvPr/>
        </p:nvSpPr>
        <p:spPr>
          <a:xfrm>
            <a:off x="548640" y="1618488"/>
            <a:ext cx="914400" cy="310896"/>
          </a:xfrm>
          <a:prstGeom prst="roundRect">
            <a:avLst>
              <a:gd name="adj" fmla="val 20000"/>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48640" y="1618488"/>
            <a:ext cx="914400" cy="310896"/>
          </a:xfrm>
          <a:prstGeom prst="rect">
            <a:avLst/>
          </a:prstGeom>
          <a:noFill/>
        </p:spPr>
        <p:txBody>
          <a:bodyPr wrap="square" lIns="0" rIns="0" tIns="0" bIns="0" anchor="ctr">
            <a:spAutoFit/>
          </a:bodyPr>
          <a:lstStyle/>
          <a:p>
            <a:pPr algn="ctr">
              <a:lnSpc>
                <a:spcPct val="110000"/>
              </a:lnSpc>
              <a:spcAft>
                <a:spcPts val="0"/>
              </a:spcAft>
            </a:pPr>
            <a:r>
              <a:rPr sz="1200" b="1" i="0">
                <a:solidFill>
                  <a:srgbClr val="FFFFFF"/>
                </a:solidFill>
                <a:latin typeface="Calibri"/>
              </a:rPr>
              <a:t>WHO</a:t>
            </a:r>
          </a:p>
        </p:txBody>
      </p:sp>
      <p:sp>
        <p:nvSpPr>
          <p:cNvPr id="7" name="TextBox 6"/>
          <p:cNvSpPr txBox="1"/>
          <p:nvPr/>
        </p:nvSpPr>
        <p:spPr>
          <a:xfrm>
            <a:off x="1691640" y="1600200"/>
            <a:ext cx="5715000" cy="822960"/>
          </a:xfrm>
          <a:prstGeom prst="rect">
            <a:avLst/>
          </a:prstGeom>
          <a:noFill/>
        </p:spPr>
        <p:txBody>
          <a:bodyPr wrap="square" lIns="0" rIns="0" tIns="0" bIns="0" anchor="t">
            <a:spAutoFit/>
          </a:bodyPr>
          <a:lstStyle/>
          <a:p>
            <a:pPr algn="l">
              <a:lnSpc>
                <a:spcPct val="110000"/>
              </a:lnSpc>
              <a:spcAft>
                <a:spcPts val="0"/>
              </a:spcAft>
            </a:pPr>
            <a:r>
              <a:rPr sz="1450" b="1" i="0">
                <a:solidFill>
                  <a:srgbClr val="1F2937"/>
                </a:solidFill>
                <a:latin typeface="Calibri"/>
              </a:rPr>
              <a:t>IDScan.net</a:t>
            </a:r>
            <a:r>
              <a:rPr sz="1450" b="0" i="0">
                <a:solidFill>
                  <a:srgbClr val="1F2937"/>
                </a:solidFill>
                <a:latin typeface="Calibri"/>
              </a:rPr>
              <a:t>, an ID-verification vendor for Hertz, retailers and 1,000+ dispensaries. Victims: </a:t>
            </a:r>
            <a:r>
              <a:rPr sz="1450" b="1" i="0">
                <a:solidFill>
                  <a:srgbClr val="1F2937"/>
                </a:solidFill>
                <a:latin typeface="Calibri"/>
              </a:rPr>
              <a:t>153M+</a:t>
            </a:r>
            <a:r>
              <a:rPr sz="1450" b="0" i="0">
                <a:solidFill>
                  <a:srgbClr val="1F2937"/>
                </a:solidFill>
                <a:latin typeface="Calibri"/>
              </a:rPr>
              <a:t> U.S. and Canadian license holders.</a:t>
            </a:r>
          </a:p>
        </p:txBody>
      </p:sp>
      <p:sp>
        <p:nvSpPr>
          <p:cNvPr id="8" name="Rounded Rectangle 7"/>
          <p:cNvSpPr/>
          <p:nvPr/>
        </p:nvSpPr>
        <p:spPr>
          <a:xfrm>
            <a:off x="548640" y="2505456"/>
            <a:ext cx="914400" cy="310896"/>
          </a:xfrm>
          <a:prstGeom prst="roundRect">
            <a:avLst>
              <a:gd name="adj" fmla="val 20000"/>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48640" y="2505456"/>
            <a:ext cx="914400" cy="310896"/>
          </a:xfrm>
          <a:prstGeom prst="rect">
            <a:avLst/>
          </a:prstGeom>
          <a:noFill/>
        </p:spPr>
        <p:txBody>
          <a:bodyPr wrap="square" lIns="0" rIns="0" tIns="0" bIns="0" anchor="ctr">
            <a:spAutoFit/>
          </a:bodyPr>
          <a:lstStyle/>
          <a:p>
            <a:pPr algn="ctr">
              <a:lnSpc>
                <a:spcPct val="110000"/>
              </a:lnSpc>
              <a:spcAft>
                <a:spcPts val="0"/>
              </a:spcAft>
            </a:pPr>
            <a:r>
              <a:rPr sz="1200" b="1" i="0">
                <a:solidFill>
                  <a:srgbClr val="FFFFFF"/>
                </a:solidFill>
                <a:latin typeface="Calibri"/>
              </a:rPr>
              <a:t>WHAT</a:t>
            </a:r>
          </a:p>
        </p:txBody>
      </p:sp>
      <p:sp>
        <p:nvSpPr>
          <p:cNvPr id="10" name="TextBox 9"/>
          <p:cNvSpPr txBox="1"/>
          <p:nvPr/>
        </p:nvSpPr>
        <p:spPr>
          <a:xfrm>
            <a:off x="1691640" y="2487168"/>
            <a:ext cx="5715000" cy="822960"/>
          </a:xfrm>
          <a:prstGeom prst="rect">
            <a:avLst/>
          </a:prstGeom>
          <a:noFill/>
        </p:spPr>
        <p:txBody>
          <a:bodyPr wrap="square" lIns="0" rIns="0" tIns="0" bIns="0" anchor="t">
            <a:spAutoFit/>
          </a:bodyPr>
          <a:lstStyle/>
          <a:p>
            <a:pPr algn="l">
              <a:lnSpc>
                <a:spcPct val="110000"/>
              </a:lnSpc>
              <a:spcAft>
                <a:spcPts val="0"/>
              </a:spcAft>
            </a:pPr>
            <a:r>
              <a:rPr sz="1450" b="0" i="0">
                <a:solidFill>
                  <a:srgbClr val="1F2937"/>
                </a:solidFill>
                <a:latin typeface="Calibri"/>
              </a:rPr>
              <a:t>“Nexus,” a dark-web shop selling license scans (front, back, infrared, ultraviolet).</a:t>
            </a:r>
          </a:p>
        </p:txBody>
      </p:sp>
      <p:sp>
        <p:nvSpPr>
          <p:cNvPr id="11" name="Rounded Rectangle 10"/>
          <p:cNvSpPr/>
          <p:nvPr/>
        </p:nvSpPr>
        <p:spPr>
          <a:xfrm>
            <a:off x="548640" y="3392423"/>
            <a:ext cx="914400" cy="310896"/>
          </a:xfrm>
          <a:prstGeom prst="roundRect">
            <a:avLst>
              <a:gd name="adj" fmla="val 20000"/>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48640" y="3392423"/>
            <a:ext cx="914400" cy="310896"/>
          </a:xfrm>
          <a:prstGeom prst="rect">
            <a:avLst/>
          </a:prstGeom>
          <a:noFill/>
        </p:spPr>
        <p:txBody>
          <a:bodyPr wrap="square" lIns="0" rIns="0" tIns="0" bIns="0" anchor="ctr">
            <a:spAutoFit/>
          </a:bodyPr>
          <a:lstStyle/>
          <a:p>
            <a:pPr algn="ctr">
              <a:lnSpc>
                <a:spcPct val="110000"/>
              </a:lnSpc>
              <a:spcAft>
                <a:spcPts val="0"/>
              </a:spcAft>
            </a:pPr>
            <a:r>
              <a:rPr sz="1200" b="1" i="0">
                <a:solidFill>
                  <a:srgbClr val="FFFFFF"/>
                </a:solidFill>
                <a:latin typeface="Calibri"/>
              </a:rPr>
              <a:t>WHEN</a:t>
            </a:r>
          </a:p>
        </p:txBody>
      </p:sp>
      <p:sp>
        <p:nvSpPr>
          <p:cNvPr id="13" name="TextBox 12"/>
          <p:cNvSpPr txBox="1"/>
          <p:nvPr/>
        </p:nvSpPr>
        <p:spPr>
          <a:xfrm>
            <a:off x="1691640" y="3374135"/>
            <a:ext cx="5715000" cy="822960"/>
          </a:xfrm>
          <a:prstGeom prst="rect">
            <a:avLst/>
          </a:prstGeom>
          <a:noFill/>
        </p:spPr>
        <p:txBody>
          <a:bodyPr wrap="square" lIns="0" rIns="0" tIns="0" bIns="0" anchor="t">
            <a:spAutoFit/>
          </a:bodyPr>
          <a:lstStyle/>
          <a:p>
            <a:pPr algn="l">
              <a:lnSpc>
                <a:spcPct val="110000"/>
              </a:lnSpc>
              <a:spcAft>
                <a:spcPts val="0"/>
              </a:spcAft>
            </a:pPr>
            <a:r>
              <a:rPr sz="1450" b="0" i="0">
                <a:solidFill>
                  <a:srgbClr val="1F2937"/>
                </a:solidFill>
                <a:latin typeface="Calibri"/>
              </a:rPr>
              <a:t>Scans from </a:t>
            </a:r>
            <a:r>
              <a:rPr sz="1450" b="1" i="0">
                <a:solidFill>
                  <a:srgbClr val="1F2937"/>
                </a:solidFill>
                <a:latin typeface="Calibri"/>
              </a:rPr>
              <a:t>June 2025</a:t>
            </a:r>
            <a:r>
              <a:rPr sz="1450" b="0" i="0">
                <a:solidFill>
                  <a:srgbClr val="1F2937"/>
                </a:solidFill>
                <a:latin typeface="Calibri"/>
              </a:rPr>
              <a:t> onward; advertised </a:t>
            </a:r>
            <a:r>
              <a:rPr sz="1450" b="1" i="0">
                <a:solidFill>
                  <a:srgbClr val="1F2937"/>
                </a:solidFill>
                <a:latin typeface="Calibri"/>
              </a:rPr>
              <a:t>Aug. 31, 2026</a:t>
            </a:r>
            <a:r>
              <a:rPr sz="1450" b="0" i="0">
                <a:solidFill>
                  <a:srgbClr val="1F2937"/>
                </a:solidFill>
                <a:latin typeface="Calibri"/>
              </a:rPr>
              <a:t>.</a:t>
            </a:r>
          </a:p>
        </p:txBody>
      </p:sp>
      <p:sp>
        <p:nvSpPr>
          <p:cNvPr id="14" name="Rounded Rectangle 13"/>
          <p:cNvSpPr/>
          <p:nvPr/>
        </p:nvSpPr>
        <p:spPr>
          <a:xfrm>
            <a:off x="548640" y="4279391"/>
            <a:ext cx="914400" cy="310896"/>
          </a:xfrm>
          <a:prstGeom prst="roundRect">
            <a:avLst>
              <a:gd name="adj" fmla="val 20000"/>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48640" y="4279391"/>
            <a:ext cx="914400" cy="310896"/>
          </a:xfrm>
          <a:prstGeom prst="rect">
            <a:avLst/>
          </a:prstGeom>
          <a:noFill/>
        </p:spPr>
        <p:txBody>
          <a:bodyPr wrap="square" lIns="0" rIns="0" tIns="0" bIns="0" anchor="ctr">
            <a:spAutoFit/>
          </a:bodyPr>
          <a:lstStyle/>
          <a:p>
            <a:pPr algn="ctr">
              <a:lnSpc>
                <a:spcPct val="110000"/>
              </a:lnSpc>
              <a:spcAft>
                <a:spcPts val="0"/>
              </a:spcAft>
            </a:pPr>
            <a:r>
              <a:rPr sz="1200" b="1" i="0">
                <a:solidFill>
                  <a:srgbClr val="FFFFFF"/>
                </a:solidFill>
                <a:latin typeface="Calibri"/>
              </a:rPr>
              <a:t>HOW</a:t>
            </a:r>
          </a:p>
        </p:txBody>
      </p:sp>
      <p:sp>
        <p:nvSpPr>
          <p:cNvPr id="16" name="TextBox 15"/>
          <p:cNvSpPr txBox="1"/>
          <p:nvPr/>
        </p:nvSpPr>
        <p:spPr>
          <a:xfrm>
            <a:off x="1691640" y="4261103"/>
            <a:ext cx="5715000" cy="822960"/>
          </a:xfrm>
          <a:prstGeom prst="rect">
            <a:avLst/>
          </a:prstGeom>
          <a:noFill/>
        </p:spPr>
        <p:txBody>
          <a:bodyPr wrap="square" lIns="0" rIns="0" tIns="0" bIns="0" anchor="t">
            <a:spAutoFit/>
          </a:bodyPr>
          <a:lstStyle/>
          <a:p>
            <a:pPr algn="l">
              <a:lnSpc>
                <a:spcPct val="110000"/>
              </a:lnSpc>
              <a:spcAft>
                <a:spcPts val="0"/>
              </a:spcAft>
            </a:pPr>
            <a:r>
              <a:rPr sz="1450" b="0" i="0">
                <a:solidFill>
                  <a:srgbClr val="1F2937"/>
                </a:solidFill>
                <a:latin typeface="Calibri"/>
              </a:rPr>
              <a:t>“Continuously exfiltrating new data for </a:t>
            </a:r>
            <a:r>
              <a:rPr sz="1450" b="1" i="0">
                <a:solidFill>
                  <a:srgbClr val="1F2937"/>
                </a:solidFill>
                <a:latin typeface="Calibri"/>
              </a:rPr>
              <a:t>over a year</a:t>
            </a:r>
            <a:r>
              <a:rPr sz="1450" b="0" i="0">
                <a:solidFill>
                  <a:srgbClr val="1F2937"/>
                </a:solidFill>
                <a:latin typeface="Calibri"/>
              </a:rPr>
              <a:t>”: ~400K new records in one day.</a:t>
            </a:r>
          </a:p>
        </p:txBody>
      </p:sp>
      <p:sp>
        <p:nvSpPr>
          <p:cNvPr id="17" name="Rounded Rectangle 16"/>
          <p:cNvSpPr/>
          <p:nvPr/>
        </p:nvSpPr>
        <p:spPr>
          <a:xfrm>
            <a:off x="548640" y="5166359"/>
            <a:ext cx="914400" cy="310896"/>
          </a:xfrm>
          <a:prstGeom prst="roundRect">
            <a:avLst>
              <a:gd name="adj" fmla="val 2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548640" y="5166359"/>
            <a:ext cx="914400" cy="310896"/>
          </a:xfrm>
          <a:prstGeom prst="rect">
            <a:avLst/>
          </a:prstGeom>
          <a:noFill/>
        </p:spPr>
        <p:txBody>
          <a:bodyPr wrap="square" lIns="0" rIns="0" tIns="0" bIns="0" anchor="ctr">
            <a:spAutoFit/>
          </a:bodyPr>
          <a:lstStyle/>
          <a:p>
            <a:pPr algn="ctr">
              <a:lnSpc>
                <a:spcPct val="110000"/>
              </a:lnSpc>
              <a:spcAft>
                <a:spcPts val="0"/>
              </a:spcAft>
            </a:pPr>
            <a:r>
              <a:rPr sz="1200" b="1" i="0">
                <a:solidFill>
                  <a:srgbClr val="FFFFFF"/>
                </a:solidFill>
                <a:latin typeface="Calibri"/>
              </a:rPr>
              <a:t>IMPACT</a:t>
            </a:r>
          </a:p>
        </p:txBody>
      </p:sp>
      <p:sp>
        <p:nvSpPr>
          <p:cNvPr id="19" name="TextBox 18"/>
          <p:cNvSpPr txBox="1"/>
          <p:nvPr/>
        </p:nvSpPr>
        <p:spPr>
          <a:xfrm>
            <a:off x="1691640" y="5148071"/>
            <a:ext cx="5715000" cy="822960"/>
          </a:xfrm>
          <a:prstGeom prst="rect">
            <a:avLst/>
          </a:prstGeom>
          <a:noFill/>
        </p:spPr>
        <p:txBody>
          <a:bodyPr wrap="square" lIns="0" rIns="0" tIns="0" bIns="0" anchor="t">
            <a:spAutoFit/>
          </a:bodyPr>
          <a:lstStyle/>
          <a:p>
            <a:pPr algn="l">
              <a:lnSpc>
                <a:spcPct val="110000"/>
              </a:lnSpc>
              <a:spcAft>
                <a:spcPts val="0"/>
              </a:spcAft>
            </a:pPr>
            <a:r>
              <a:rPr sz="1450" b="0" i="0">
                <a:solidFill>
                  <a:srgbClr val="1F2937"/>
                </a:solidFill>
                <a:latin typeface="Calibri"/>
              </a:rPr>
              <a:t>Identity and credit fraud, breach-response costs, and exposure of senior U.S. officials.</a:t>
            </a:r>
          </a:p>
        </p:txBody>
      </p:sp>
      <p:sp>
        <p:nvSpPr>
          <p:cNvPr id="20" name="Rounded Rectangle 19"/>
          <p:cNvSpPr/>
          <p:nvPr/>
        </p:nvSpPr>
        <p:spPr>
          <a:xfrm>
            <a:off x="7498080" y="1508760"/>
            <a:ext cx="4297680" cy="4526280"/>
          </a:xfrm>
          <a:prstGeom prst="roundRect">
            <a:avLst>
              <a:gd name="adj" fmla="val 4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18120" y="1691640"/>
            <a:ext cx="3657600"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5B6472"/>
                </a:solidFill>
                <a:latin typeface="Calibri"/>
              </a:rPr>
              <a:t>TIMELINE</a:t>
            </a:r>
          </a:p>
        </p:txBody>
      </p:sp>
      <p:cxnSp>
        <p:nvCxnSpPr>
          <p:cNvPr id="22" name="Connector 21"/>
          <p:cNvCxnSpPr/>
          <p:nvPr/>
        </p:nvCxnSpPr>
        <p:spPr>
          <a:xfrm>
            <a:off x="7927848" y="2240280"/>
            <a:ext cx="0" cy="3291840"/>
          </a:xfrm>
          <a:prstGeom prst="line">
            <a:avLst/>
          </a:prstGeom>
          <a:ln w="25400">
            <a:solidFill>
              <a:srgbClr val="D5DAE1"/>
            </a:solidFill>
          </a:ln>
        </p:spPr>
        <p:style>
          <a:lnRef idx="2">
            <a:schemeClr val="accent1"/>
          </a:lnRef>
          <a:fillRef idx="0">
            <a:schemeClr val="accent1"/>
          </a:fillRef>
          <a:effectRef idx="1">
            <a:schemeClr val="accent1"/>
          </a:effectRef>
          <a:fontRef idx="minor">
            <a:schemeClr val="tx1"/>
          </a:fontRef>
        </p:style>
      </p:cxnSp>
      <p:sp>
        <p:nvSpPr>
          <p:cNvPr id="23" name="Oval 22"/>
          <p:cNvSpPr/>
          <p:nvPr/>
        </p:nvSpPr>
        <p:spPr>
          <a:xfrm>
            <a:off x="7818120" y="2148840"/>
            <a:ext cx="219456" cy="219456"/>
          </a:xfrm>
          <a:prstGeom prst="ellipse">
            <a:avLst/>
          </a:prstGeom>
          <a:solidFill>
            <a:srgbClr val="5B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229600" y="2093976"/>
            <a:ext cx="3200400" cy="274320"/>
          </a:xfrm>
          <a:prstGeom prst="rect">
            <a:avLst/>
          </a:prstGeom>
          <a:noFill/>
        </p:spPr>
        <p:txBody>
          <a:bodyPr wrap="square" lIns="0" rIns="0" tIns="0" bIns="0" anchor="t">
            <a:spAutoFit/>
          </a:bodyPr>
          <a:lstStyle/>
          <a:p>
            <a:pPr algn="l">
              <a:lnSpc>
                <a:spcPct val="110000"/>
              </a:lnSpc>
              <a:spcAft>
                <a:spcPts val="0"/>
              </a:spcAft>
            </a:pPr>
            <a:r>
              <a:rPr sz="1400" b="1" i="0">
                <a:solidFill>
                  <a:srgbClr val="0F1B2D"/>
                </a:solidFill>
                <a:latin typeface="Calibri"/>
              </a:rPr>
              <a:t>Jun 2025</a:t>
            </a:r>
          </a:p>
        </p:txBody>
      </p:sp>
      <p:sp>
        <p:nvSpPr>
          <p:cNvPr id="25" name="TextBox 24"/>
          <p:cNvSpPr txBox="1"/>
          <p:nvPr/>
        </p:nvSpPr>
        <p:spPr>
          <a:xfrm>
            <a:off x="8229600" y="2386584"/>
            <a:ext cx="3108960" cy="548640"/>
          </a:xfrm>
          <a:prstGeom prst="rect">
            <a:avLst/>
          </a:prstGeom>
          <a:noFill/>
        </p:spPr>
        <p:txBody>
          <a:bodyPr wrap="square" lIns="0" rIns="0" tIns="0" bIns="0" anchor="t">
            <a:spAutoFit/>
          </a:bodyPr>
          <a:lstStyle/>
          <a:p>
            <a:pPr algn="l">
              <a:lnSpc>
                <a:spcPct val="110000"/>
              </a:lnSpc>
              <a:spcAft>
                <a:spcPts val="0"/>
              </a:spcAft>
            </a:pPr>
            <a:r>
              <a:rPr sz="1250" b="0" i="0">
                <a:solidFill>
                  <a:srgbClr val="1F2937"/>
                </a:solidFill>
                <a:latin typeface="Calibri"/>
              </a:rPr>
              <a:t>Earliest matched scan timestamps</a:t>
            </a:r>
          </a:p>
        </p:txBody>
      </p:sp>
      <p:sp>
        <p:nvSpPr>
          <p:cNvPr id="26" name="Oval 25"/>
          <p:cNvSpPr/>
          <p:nvPr/>
        </p:nvSpPr>
        <p:spPr>
          <a:xfrm>
            <a:off x="7818120" y="3063240"/>
            <a:ext cx="219456" cy="219456"/>
          </a:xfrm>
          <a:prstGeom prst="ellipse">
            <a:avLst/>
          </a:prstGeom>
          <a:solidFill>
            <a:srgbClr val="C77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0" y="3008376"/>
            <a:ext cx="3200400" cy="274320"/>
          </a:xfrm>
          <a:prstGeom prst="rect">
            <a:avLst/>
          </a:prstGeom>
          <a:noFill/>
        </p:spPr>
        <p:txBody>
          <a:bodyPr wrap="square" lIns="0" rIns="0" tIns="0" bIns="0" anchor="t">
            <a:spAutoFit/>
          </a:bodyPr>
          <a:lstStyle/>
          <a:p>
            <a:pPr algn="l">
              <a:lnSpc>
                <a:spcPct val="110000"/>
              </a:lnSpc>
              <a:spcAft>
                <a:spcPts val="0"/>
              </a:spcAft>
            </a:pPr>
            <a:r>
              <a:rPr sz="1400" b="1" i="0">
                <a:solidFill>
                  <a:srgbClr val="0F1B2D"/>
                </a:solidFill>
                <a:latin typeface="Calibri"/>
              </a:rPr>
              <a:t>Aug 31, 2026</a:t>
            </a:r>
          </a:p>
        </p:txBody>
      </p:sp>
      <p:sp>
        <p:nvSpPr>
          <p:cNvPr id="28" name="TextBox 27"/>
          <p:cNvSpPr txBox="1"/>
          <p:nvPr/>
        </p:nvSpPr>
        <p:spPr>
          <a:xfrm>
            <a:off x="8229600" y="3300984"/>
            <a:ext cx="3108960" cy="548640"/>
          </a:xfrm>
          <a:prstGeom prst="rect">
            <a:avLst/>
          </a:prstGeom>
          <a:noFill/>
        </p:spPr>
        <p:txBody>
          <a:bodyPr wrap="square" lIns="0" rIns="0" tIns="0" bIns="0" anchor="t">
            <a:spAutoFit/>
          </a:bodyPr>
          <a:lstStyle/>
          <a:p>
            <a:pPr algn="l">
              <a:lnSpc>
                <a:spcPct val="110000"/>
              </a:lnSpc>
              <a:spcAft>
                <a:spcPts val="0"/>
              </a:spcAft>
            </a:pPr>
            <a:r>
              <a:rPr sz="1250" b="0" i="0">
                <a:solidFill>
                  <a:srgbClr val="1F2937"/>
                </a:solidFill>
                <a:latin typeface="Calibri"/>
              </a:rPr>
              <a:t>Nexus listed on the Exploit forum</a:t>
            </a:r>
          </a:p>
        </p:txBody>
      </p:sp>
      <p:sp>
        <p:nvSpPr>
          <p:cNvPr id="29" name="Oval 28"/>
          <p:cNvSpPr/>
          <p:nvPr/>
        </p:nvSpPr>
        <p:spPr>
          <a:xfrm>
            <a:off x="7818120" y="3977639"/>
            <a:ext cx="219456" cy="219456"/>
          </a:xfrm>
          <a:prstGeom prst="ellipse">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29600" y="3922776"/>
            <a:ext cx="3200400" cy="274320"/>
          </a:xfrm>
          <a:prstGeom prst="rect">
            <a:avLst/>
          </a:prstGeom>
          <a:noFill/>
        </p:spPr>
        <p:txBody>
          <a:bodyPr wrap="square" lIns="0" rIns="0" tIns="0" bIns="0" anchor="t">
            <a:spAutoFit/>
          </a:bodyPr>
          <a:lstStyle/>
          <a:p>
            <a:pPr algn="l">
              <a:lnSpc>
                <a:spcPct val="110000"/>
              </a:lnSpc>
              <a:spcAft>
                <a:spcPts val="0"/>
              </a:spcAft>
            </a:pPr>
            <a:r>
              <a:rPr sz="1400" b="1" i="0">
                <a:solidFill>
                  <a:srgbClr val="0F1B2D"/>
                </a:solidFill>
                <a:latin typeface="Calibri"/>
              </a:rPr>
              <a:t>Sep 1, 2026</a:t>
            </a:r>
          </a:p>
        </p:txBody>
      </p:sp>
      <p:sp>
        <p:nvSpPr>
          <p:cNvPr id="31" name="TextBox 30"/>
          <p:cNvSpPr txBox="1"/>
          <p:nvPr/>
        </p:nvSpPr>
        <p:spPr>
          <a:xfrm>
            <a:off x="8229600" y="4215383"/>
            <a:ext cx="3108960" cy="548640"/>
          </a:xfrm>
          <a:prstGeom prst="rect">
            <a:avLst/>
          </a:prstGeom>
          <a:noFill/>
        </p:spPr>
        <p:txBody>
          <a:bodyPr wrap="square" lIns="0" rIns="0" tIns="0" bIns="0" anchor="t">
            <a:spAutoFit/>
          </a:bodyPr>
          <a:lstStyle/>
          <a:p>
            <a:pPr algn="l">
              <a:lnSpc>
                <a:spcPct val="110000"/>
              </a:lnSpc>
              <a:spcAft>
                <a:spcPts val="0"/>
              </a:spcAft>
            </a:pPr>
            <a:r>
              <a:rPr sz="1250" b="0" i="0">
                <a:solidFill>
                  <a:srgbClr val="1F2937"/>
                </a:solidFill>
                <a:latin typeface="Calibri"/>
              </a:rPr>
              <a:t>FBI opens an investigation</a:t>
            </a:r>
          </a:p>
        </p:txBody>
      </p:sp>
      <p:sp>
        <p:nvSpPr>
          <p:cNvPr id="32" name="Oval 31"/>
          <p:cNvSpPr/>
          <p:nvPr/>
        </p:nvSpPr>
        <p:spPr>
          <a:xfrm>
            <a:off x="7818120" y="4892040"/>
            <a:ext cx="219456" cy="219456"/>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229600" y="4837176"/>
            <a:ext cx="3200400" cy="274320"/>
          </a:xfrm>
          <a:prstGeom prst="rect">
            <a:avLst/>
          </a:prstGeom>
          <a:noFill/>
        </p:spPr>
        <p:txBody>
          <a:bodyPr wrap="square" lIns="0" rIns="0" tIns="0" bIns="0" anchor="t">
            <a:spAutoFit/>
          </a:bodyPr>
          <a:lstStyle/>
          <a:p>
            <a:pPr algn="l">
              <a:lnSpc>
                <a:spcPct val="110000"/>
              </a:lnSpc>
              <a:spcAft>
                <a:spcPts val="0"/>
              </a:spcAft>
            </a:pPr>
            <a:r>
              <a:rPr sz="1400" b="1" i="0">
                <a:solidFill>
                  <a:srgbClr val="0F1B2D"/>
                </a:solidFill>
                <a:latin typeface="Calibri"/>
              </a:rPr>
              <a:t>Sep 8, 2026</a:t>
            </a:r>
          </a:p>
        </p:txBody>
      </p:sp>
      <p:sp>
        <p:nvSpPr>
          <p:cNvPr id="34" name="TextBox 33"/>
          <p:cNvSpPr txBox="1"/>
          <p:nvPr/>
        </p:nvSpPr>
        <p:spPr>
          <a:xfrm>
            <a:off x="8229600" y="5129783"/>
            <a:ext cx="3108960" cy="548640"/>
          </a:xfrm>
          <a:prstGeom prst="rect">
            <a:avLst/>
          </a:prstGeom>
          <a:noFill/>
        </p:spPr>
        <p:txBody>
          <a:bodyPr wrap="square" lIns="0" rIns="0" tIns="0" bIns="0" anchor="t">
            <a:spAutoFit/>
          </a:bodyPr>
          <a:lstStyle/>
          <a:p>
            <a:pPr algn="l">
              <a:lnSpc>
                <a:spcPct val="110000"/>
              </a:lnSpc>
              <a:spcAft>
                <a:spcPts val="0"/>
              </a:spcAft>
            </a:pPr>
            <a:r>
              <a:rPr sz="1250" b="0" i="0">
                <a:solidFill>
                  <a:srgbClr val="1F2937"/>
                </a:solidFill>
                <a:latin typeface="Calibri"/>
              </a:rPr>
              <a:t>IDScan.net confirms the breach</a:t>
            </a:r>
          </a:p>
        </p:txBody>
      </p:sp>
      <p:cxnSp>
        <p:nvCxnSpPr>
          <p:cNvPr id="35" name="Connector 34"/>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 Krebs (2026), including the Sept. 8 update.</a:t>
            </a:r>
          </a:p>
        </p:txBody>
      </p:sp>
      <p:sp>
        <p:nvSpPr>
          <p:cNvPr id="37" name="TextBox 36"/>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CIA TRIAD IMPACT</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All three elements were hit, but not equally</a:t>
            </a:r>
          </a:p>
        </p:txBody>
      </p:sp>
      <p:sp>
        <p:nvSpPr>
          <p:cNvPr id="5" name="Isosceles Triangle 4"/>
          <p:cNvSpPr/>
          <p:nvPr/>
        </p:nvSpPr>
        <p:spPr>
          <a:xfrm>
            <a:off x="1691639" y="1965960"/>
            <a:ext cx="4480560" cy="3611879"/>
          </a:xfrm>
          <a:prstGeom prst="triangle">
            <a:avLst/>
          </a:prstGeom>
          <a:solidFill>
            <a:srgbClr val="F2F4F7"/>
          </a:solidFill>
          <a:ln w="12700">
            <a:solidFill>
              <a:srgbClr val="D5DAE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2743200" y="3977639"/>
            <a:ext cx="2377440" cy="1097280"/>
          </a:xfrm>
          <a:prstGeom prst="rect">
            <a:avLst/>
          </a:prstGeom>
          <a:noFill/>
        </p:spPr>
        <p:txBody>
          <a:bodyPr wrap="square" lIns="0" rIns="0" tIns="0" bIns="0" anchor="t">
            <a:spAutoFit/>
          </a:bodyPr>
          <a:lstStyle/>
          <a:p>
            <a:pPr algn="ctr">
              <a:lnSpc>
                <a:spcPct val="110000"/>
              </a:lnSpc>
              <a:spcAft>
                <a:spcPts val="200"/>
              </a:spcAft>
            </a:pPr>
            <a:r>
              <a:rPr sz="1300" b="1" i="0">
                <a:solidFill>
                  <a:srgbClr val="1F2937"/>
                </a:solidFill>
                <a:latin typeface="Calibri"/>
              </a:rPr>
              <a:t>Attack vector</a:t>
            </a:r>
          </a:p>
          <a:p>
            <a:pPr algn="ctr">
              <a:lnSpc>
                <a:spcPct val="110000"/>
              </a:lnSpc>
              <a:spcAft>
                <a:spcPts val="200"/>
              </a:spcAft>
            </a:pPr>
            <a:r>
              <a:rPr sz="1300" b="0" i="0">
                <a:solidFill>
                  <a:srgbClr val="1F2937"/>
                </a:solidFill>
                <a:latin typeface="Calibri"/>
              </a:rPr>
              <a:t>Long-running, low-and-slow data exfiltration</a:t>
            </a:r>
          </a:p>
        </p:txBody>
      </p:sp>
      <p:sp>
        <p:nvSpPr>
          <p:cNvPr id="7" name="Oval 6"/>
          <p:cNvSpPr/>
          <p:nvPr/>
        </p:nvSpPr>
        <p:spPr>
          <a:xfrm>
            <a:off x="3547872" y="1581912"/>
            <a:ext cx="768096" cy="768096"/>
          </a:xfrm>
          <a:prstGeom prst="ellipse">
            <a:avLst/>
          </a:prstGeom>
          <a:solidFill>
            <a:srgbClr val="C0392B"/>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547872" y="1581912"/>
            <a:ext cx="768096" cy="768096"/>
          </a:xfrm>
          <a:prstGeom prst="rect">
            <a:avLst/>
          </a:prstGeom>
          <a:noFill/>
        </p:spPr>
        <p:txBody>
          <a:bodyPr wrap="square" lIns="0" rIns="0" tIns="0" bIns="0" anchor="ctr">
            <a:spAutoFit/>
          </a:bodyPr>
          <a:lstStyle/>
          <a:p>
            <a:pPr algn="ctr">
              <a:lnSpc>
                <a:spcPct val="110000"/>
              </a:lnSpc>
              <a:spcAft>
                <a:spcPts val="0"/>
              </a:spcAft>
            </a:pPr>
            <a:r>
              <a:rPr sz="2800" b="1" i="0">
                <a:solidFill>
                  <a:srgbClr val="FFFFFF"/>
                </a:solidFill>
                <a:latin typeface="Calibri"/>
              </a:rPr>
              <a:t>C</a:t>
            </a:r>
          </a:p>
        </p:txBody>
      </p:sp>
      <p:sp>
        <p:nvSpPr>
          <p:cNvPr id="9" name="Oval 8"/>
          <p:cNvSpPr/>
          <p:nvPr/>
        </p:nvSpPr>
        <p:spPr>
          <a:xfrm>
            <a:off x="1307591" y="5193792"/>
            <a:ext cx="768096" cy="768096"/>
          </a:xfrm>
          <a:prstGeom prst="ellipse">
            <a:avLst/>
          </a:prstGeom>
          <a:solidFill>
            <a:srgbClr val="C77C0E"/>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307591" y="5193792"/>
            <a:ext cx="768096" cy="768096"/>
          </a:xfrm>
          <a:prstGeom prst="rect">
            <a:avLst/>
          </a:prstGeom>
          <a:noFill/>
        </p:spPr>
        <p:txBody>
          <a:bodyPr wrap="square" lIns="0" rIns="0" tIns="0" bIns="0" anchor="ctr">
            <a:spAutoFit/>
          </a:bodyPr>
          <a:lstStyle/>
          <a:p>
            <a:pPr algn="ctr">
              <a:lnSpc>
                <a:spcPct val="110000"/>
              </a:lnSpc>
              <a:spcAft>
                <a:spcPts val="0"/>
              </a:spcAft>
            </a:pPr>
            <a:r>
              <a:rPr sz="2800" b="1" i="0">
                <a:solidFill>
                  <a:srgbClr val="FFFFFF"/>
                </a:solidFill>
                <a:latin typeface="Calibri"/>
              </a:rPr>
              <a:t>I</a:t>
            </a:r>
          </a:p>
        </p:txBody>
      </p:sp>
      <p:sp>
        <p:nvSpPr>
          <p:cNvPr id="11" name="Oval 10"/>
          <p:cNvSpPr/>
          <p:nvPr/>
        </p:nvSpPr>
        <p:spPr>
          <a:xfrm>
            <a:off x="5788152" y="5193792"/>
            <a:ext cx="768096" cy="768096"/>
          </a:xfrm>
          <a:prstGeom prst="ellipse">
            <a:avLst/>
          </a:prstGeom>
          <a:solidFill>
            <a:srgbClr val="1E846F"/>
          </a:solidFill>
          <a:ln w="381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788152" y="5193792"/>
            <a:ext cx="768096" cy="768096"/>
          </a:xfrm>
          <a:prstGeom prst="rect">
            <a:avLst/>
          </a:prstGeom>
          <a:noFill/>
        </p:spPr>
        <p:txBody>
          <a:bodyPr wrap="square" lIns="0" rIns="0" tIns="0" bIns="0" anchor="ctr">
            <a:spAutoFit/>
          </a:bodyPr>
          <a:lstStyle/>
          <a:p>
            <a:pPr algn="ctr">
              <a:lnSpc>
                <a:spcPct val="110000"/>
              </a:lnSpc>
              <a:spcAft>
                <a:spcPts val="0"/>
              </a:spcAft>
            </a:pPr>
            <a:r>
              <a:rPr sz="2800" b="1" i="0">
                <a:solidFill>
                  <a:srgbClr val="FFFFFF"/>
                </a:solidFill>
                <a:latin typeface="Calibri"/>
              </a:rPr>
              <a:t>A</a:t>
            </a:r>
          </a:p>
        </p:txBody>
      </p:sp>
      <p:sp>
        <p:nvSpPr>
          <p:cNvPr id="13" name="Rectangle 12"/>
          <p:cNvSpPr/>
          <p:nvPr/>
        </p:nvSpPr>
        <p:spPr>
          <a:xfrm>
            <a:off x="6720840" y="1600200"/>
            <a:ext cx="91440"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995160" y="1618488"/>
            <a:ext cx="2926080" cy="274320"/>
          </a:xfrm>
          <a:prstGeom prst="rect">
            <a:avLst/>
          </a:prstGeom>
          <a:noFill/>
        </p:spPr>
        <p:txBody>
          <a:bodyPr wrap="square" lIns="0" rIns="0" tIns="0" bIns="0" anchor="t">
            <a:spAutoFit/>
          </a:bodyPr>
          <a:lstStyle/>
          <a:p>
            <a:pPr algn="l">
              <a:lnSpc>
                <a:spcPct val="110000"/>
              </a:lnSpc>
              <a:spcAft>
                <a:spcPts val="0"/>
              </a:spcAft>
            </a:pPr>
            <a:r>
              <a:rPr sz="1400" b="1" i="0">
                <a:solidFill>
                  <a:srgbClr val="0F1B2D"/>
                </a:solidFill>
                <a:latin typeface="Calibri"/>
              </a:rPr>
              <a:t>CONFIDENTIALITY</a:t>
            </a:r>
          </a:p>
        </p:txBody>
      </p:sp>
      <p:sp>
        <p:nvSpPr>
          <p:cNvPr id="15" name="Rounded Rectangle 14"/>
          <p:cNvSpPr/>
          <p:nvPr/>
        </p:nvSpPr>
        <p:spPr>
          <a:xfrm>
            <a:off x="9921240" y="1618488"/>
            <a:ext cx="1143000" cy="274320"/>
          </a:xfrm>
          <a:prstGeom prst="roundRect">
            <a:avLst>
              <a:gd name="adj" fmla="val 3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921240" y="1618488"/>
            <a:ext cx="1143000" cy="274320"/>
          </a:xfrm>
          <a:prstGeom prst="rect">
            <a:avLst/>
          </a:prstGeom>
          <a:noFill/>
        </p:spPr>
        <p:txBody>
          <a:bodyPr wrap="square" lIns="0" rIns="0" tIns="0" bIns="0" anchor="ctr">
            <a:spAutoFit/>
          </a:bodyPr>
          <a:lstStyle/>
          <a:p>
            <a:pPr algn="ctr">
              <a:lnSpc>
                <a:spcPct val="110000"/>
              </a:lnSpc>
              <a:spcAft>
                <a:spcPts val="0"/>
              </a:spcAft>
            </a:pPr>
            <a:r>
              <a:rPr sz="1100" b="1" i="0">
                <a:solidFill>
                  <a:srgbClr val="FFFFFF"/>
                </a:solidFill>
                <a:latin typeface="Calibri"/>
              </a:rPr>
              <a:t>SEVERE</a:t>
            </a:r>
          </a:p>
        </p:txBody>
      </p:sp>
      <p:sp>
        <p:nvSpPr>
          <p:cNvPr id="17" name="TextBox 16"/>
          <p:cNvSpPr txBox="1"/>
          <p:nvPr/>
        </p:nvSpPr>
        <p:spPr>
          <a:xfrm>
            <a:off x="6995160" y="1984248"/>
            <a:ext cx="4114800" cy="914400"/>
          </a:xfrm>
          <a:prstGeom prst="rect">
            <a:avLst/>
          </a:prstGeom>
          <a:noFill/>
        </p:spPr>
        <p:txBody>
          <a:bodyPr wrap="square" lIns="0" rIns="0" tIns="0" bIns="0" anchor="t">
            <a:spAutoFit/>
          </a:bodyPr>
          <a:lstStyle/>
          <a:p>
            <a:pPr algn="l">
              <a:lnSpc>
                <a:spcPct val="110000"/>
              </a:lnSpc>
              <a:spcAft>
                <a:spcPts val="0"/>
              </a:spcAft>
            </a:pPr>
            <a:r>
              <a:rPr sz="1350" b="0" i="0">
                <a:solidFill>
                  <a:srgbClr val="1F2937"/>
                </a:solidFill>
                <a:latin typeface="Calibri"/>
              </a:rPr>
              <a:t>153M+ license images copied and sold, including those of the U.S. Defense Secretary and an FBI assistant director.</a:t>
            </a:r>
          </a:p>
        </p:txBody>
      </p:sp>
      <p:sp>
        <p:nvSpPr>
          <p:cNvPr id="18" name="Rectangle 17"/>
          <p:cNvSpPr/>
          <p:nvPr/>
        </p:nvSpPr>
        <p:spPr>
          <a:xfrm>
            <a:off x="6720840" y="3108960"/>
            <a:ext cx="91440" cy="1325880"/>
          </a:xfrm>
          <a:prstGeom prst="rect">
            <a:avLst/>
          </a:prstGeom>
          <a:solidFill>
            <a:srgbClr val="C77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995160" y="3127248"/>
            <a:ext cx="2926080" cy="274320"/>
          </a:xfrm>
          <a:prstGeom prst="rect">
            <a:avLst/>
          </a:prstGeom>
          <a:noFill/>
        </p:spPr>
        <p:txBody>
          <a:bodyPr wrap="square" lIns="0" rIns="0" tIns="0" bIns="0" anchor="t">
            <a:spAutoFit/>
          </a:bodyPr>
          <a:lstStyle/>
          <a:p>
            <a:pPr algn="l">
              <a:lnSpc>
                <a:spcPct val="110000"/>
              </a:lnSpc>
              <a:spcAft>
                <a:spcPts val="0"/>
              </a:spcAft>
            </a:pPr>
            <a:r>
              <a:rPr sz="1400" b="1" i="0">
                <a:solidFill>
                  <a:srgbClr val="0F1B2D"/>
                </a:solidFill>
                <a:latin typeface="Calibri"/>
              </a:rPr>
              <a:t>INTEGRITY</a:t>
            </a:r>
          </a:p>
        </p:txBody>
      </p:sp>
      <p:sp>
        <p:nvSpPr>
          <p:cNvPr id="20" name="Rounded Rectangle 19"/>
          <p:cNvSpPr/>
          <p:nvPr/>
        </p:nvSpPr>
        <p:spPr>
          <a:xfrm>
            <a:off x="9921240" y="3127248"/>
            <a:ext cx="1143000" cy="274320"/>
          </a:xfrm>
          <a:prstGeom prst="roundRect">
            <a:avLst>
              <a:gd name="adj" fmla="val 30000"/>
            </a:avLst>
          </a:prstGeom>
          <a:solidFill>
            <a:srgbClr val="C77C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921240" y="3127248"/>
            <a:ext cx="1143000" cy="274320"/>
          </a:xfrm>
          <a:prstGeom prst="rect">
            <a:avLst/>
          </a:prstGeom>
          <a:noFill/>
        </p:spPr>
        <p:txBody>
          <a:bodyPr wrap="square" lIns="0" rIns="0" tIns="0" bIns="0" anchor="ctr">
            <a:spAutoFit/>
          </a:bodyPr>
          <a:lstStyle/>
          <a:p>
            <a:pPr algn="ctr">
              <a:lnSpc>
                <a:spcPct val="110000"/>
              </a:lnSpc>
              <a:spcAft>
                <a:spcPts val="0"/>
              </a:spcAft>
            </a:pPr>
            <a:r>
              <a:rPr sz="1100" b="1" i="0">
                <a:solidFill>
                  <a:srgbClr val="FFFFFF"/>
                </a:solidFill>
                <a:latin typeface="Calibri"/>
              </a:rPr>
              <a:t>HIGH</a:t>
            </a:r>
          </a:p>
        </p:txBody>
      </p:sp>
      <p:sp>
        <p:nvSpPr>
          <p:cNvPr id="22" name="TextBox 21"/>
          <p:cNvSpPr txBox="1"/>
          <p:nvPr/>
        </p:nvSpPr>
        <p:spPr>
          <a:xfrm>
            <a:off x="6995160" y="3493008"/>
            <a:ext cx="4114800" cy="914400"/>
          </a:xfrm>
          <a:prstGeom prst="rect">
            <a:avLst/>
          </a:prstGeom>
          <a:noFill/>
        </p:spPr>
        <p:txBody>
          <a:bodyPr wrap="square" lIns="0" rIns="0" tIns="0" bIns="0" anchor="t">
            <a:spAutoFit/>
          </a:bodyPr>
          <a:lstStyle/>
          <a:p>
            <a:pPr algn="l">
              <a:lnSpc>
                <a:spcPct val="110000"/>
              </a:lnSpc>
              <a:spcAft>
                <a:spcPts val="0"/>
              </a:spcAft>
            </a:pPr>
            <a:r>
              <a:rPr sz="1350" b="0" i="0">
                <a:solidFill>
                  <a:srgbClr val="1F2937"/>
                </a:solidFill>
                <a:latin typeface="Calibri"/>
              </a:rPr>
              <a:t>Forgery-grade IR/UV scans let criminals pass ID checks and open fraudulent credit, so a “verified” ID no longer proves who someone is.</a:t>
            </a:r>
          </a:p>
        </p:txBody>
      </p:sp>
      <p:sp>
        <p:nvSpPr>
          <p:cNvPr id="23" name="Rectangle 22"/>
          <p:cNvSpPr/>
          <p:nvPr/>
        </p:nvSpPr>
        <p:spPr>
          <a:xfrm>
            <a:off x="6720840" y="4617720"/>
            <a:ext cx="91440" cy="1325880"/>
          </a:xfrm>
          <a:prstGeom prst="rect">
            <a:avLst/>
          </a:prstGeom>
          <a:solidFill>
            <a:srgbClr val="1E8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995160" y="4636007"/>
            <a:ext cx="2926080" cy="274320"/>
          </a:xfrm>
          <a:prstGeom prst="rect">
            <a:avLst/>
          </a:prstGeom>
          <a:noFill/>
        </p:spPr>
        <p:txBody>
          <a:bodyPr wrap="square" lIns="0" rIns="0" tIns="0" bIns="0" anchor="t">
            <a:spAutoFit/>
          </a:bodyPr>
          <a:lstStyle/>
          <a:p>
            <a:pPr algn="l">
              <a:lnSpc>
                <a:spcPct val="110000"/>
              </a:lnSpc>
              <a:spcAft>
                <a:spcPts val="0"/>
              </a:spcAft>
            </a:pPr>
            <a:r>
              <a:rPr sz="1400" b="1" i="0">
                <a:solidFill>
                  <a:srgbClr val="0F1B2D"/>
                </a:solidFill>
                <a:latin typeface="Calibri"/>
              </a:rPr>
              <a:t>AVAILABILITY</a:t>
            </a:r>
          </a:p>
        </p:txBody>
      </p:sp>
      <p:sp>
        <p:nvSpPr>
          <p:cNvPr id="25" name="Rounded Rectangle 24"/>
          <p:cNvSpPr/>
          <p:nvPr/>
        </p:nvSpPr>
        <p:spPr>
          <a:xfrm>
            <a:off x="9921240" y="4636007"/>
            <a:ext cx="1143000" cy="274320"/>
          </a:xfrm>
          <a:prstGeom prst="roundRect">
            <a:avLst>
              <a:gd name="adj" fmla="val 30000"/>
            </a:avLst>
          </a:prstGeom>
          <a:solidFill>
            <a:srgbClr val="1E8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9921240" y="4636007"/>
            <a:ext cx="1143000" cy="274320"/>
          </a:xfrm>
          <a:prstGeom prst="rect">
            <a:avLst/>
          </a:prstGeom>
          <a:noFill/>
        </p:spPr>
        <p:txBody>
          <a:bodyPr wrap="square" lIns="0" rIns="0" tIns="0" bIns="0" anchor="ctr">
            <a:spAutoFit/>
          </a:bodyPr>
          <a:lstStyle/>
          <a:p>
            <a:pPr algn="ctr">
              <a:lnSpc>
                <a:spcPct val="110000"/>
              </a:lnSpc>
              <a:spcAft>
                <a:spcPts val="0"/>
              </a:spcAft>
            </a:pPr>
            <a:r>
              <a:rPr sz="1100" b="1" i="0">
                <a:solidFill>
                  <a:srgbClr val="FFFFFF"/>
                </a:solidFill>
                <a:latin typeface="Calibri"/>
              </a:rPr>
              <a:t>LOW</a:t>
            </a:r>
          </a:p>
        </p:txBody>
      </p:sp>
      <p:sp>
        <p:nvSpPr>
          <p:cNvPr id="27" name="TextBox 26"/>
          <p:cNvSpPr txBox="1"/>
          <p:nvPr/>
        </p:nvSpPr>
        <p:spPr>
          <a:xfrm>
            <a:off x="6995160" y="5001768"/>
            <a:ext cx="4114800" cy="914400"/>
          </a:xfrm>
          <a:prstGeom prst="rect">
            <a:avLst/>
          </a:prstGeom>
          <a:noFill/>
        </p:spPr>
        <p:txBody>
          <a:bodyPr wrap="square" lIns="0" rIns="0" tIns="0" bIns="0" anchor="t">
            <a:spAutoFit/>
          </a:bodyPr>
          <a:lstStyle/>
          <a:p>
            <a:pPr algn="l">
              <a:lnSpc>
                <a:spcPct val="110000"/>
              </a:lnSpc>
              <a:spcAft>
                <a:spcPts val="0"/>
              </a:spcAft>
            </a:pPr>
            <a:r>
              <a:rPr sz="1350" b="0" i="0">
                <a:solidFill>
                  <a:srgbClr val="1F2937"/>
                </a:solidFill>
                <a:latin typeface="Calibri"/>
              </a:rPr>
              <a:t>No reported outage. Indirect loss: victims freeze credit, and clients must pause or redo verification.</a:t>
            </a:r>
          </a:p>
        </p:txBody>
      </p:sp>
      <p:cxnSp>
        <p:nvCxnSpPr>
          <p:cNvPr id="28" name="Connector 27"/>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Diagram: author’s analysis of Krebs (2026). Severity reflects scale, reversibility and downstream harm.</a:t>
            </a:r>
          </a:p>
        </p:txBody>
      </p:sp>
      <p:sp>
        <p:nvSpPr>
          <p:cNvPr id="30" name="TextBox 29"/>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MOST SEVERE IMPACT</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Confidentiality was hit hardest: identity can’t be reset</a:t>
            </a:r>
          </a:p>
        </p:txBody>
      </p:sp>
      <p:sp>
        <p:nvSpPr>
          <p:cNvPr id="5" name="Rounded Rectangle 4"/>
          <p:cNvSpPr/>
          <p:nvPr/>
        </p:nvSpPr>
        <p:spPr>
          <a:xfrm>
            <a:off x="548640" y="1691640"/>
            <a:ext cx="4206240" cy="17830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68680" y="1920240"/>
            <a:ext cx="3657600" cy="822960"/>
          </a:xfrm>
          <a:prstGeom prst="rect">
            <a:avLst/>
          </a:prstGeom>
          <a:noFill/>
        </p:spPr>
        <p:txBody>
          <a:bodyPr wrap="square" lIns="0" rIns="0" tIns="0" bIns="0" anchor="t">
            <a:spAutoFit/>
          </a:bodyPr>
          <a:lstStyle/>
          <a:p>
            <a:pPr algn="l">
              <a:lnSpc>
                <a:spcPct val="100000"/>
              </a:lnSpc>
              <a:spcAft>
                <a:spcPts val="0"/>
              </a:spcAft>
            </a:pPr>
            <a:r>
              <a:rPr sz="5400" b="1" i="0">
                <a:solidFill>
                  <a:srgbClr val="C0392B"/>
                </a:solidFill>
                <a:latin typeface="Calibri"/>
              </a:rPr>
              <a:t>153M+</a:t>
            </a:r>
          </a:p>
        </p:txBody>
      </p:sp>
      <p:sp>
        <p:nvSpPr>
          <p:cNvPr id="7" name="TextBox 6"/>
          <p:cNvSpPr txBox="1"/>
          <p:nvPr/>
        </p:nvSpPr>
        <p:spPr>
          <a:xfrm>
            <a:off x="868680" y="2788920"/>
            <a:ext cx="3657600" cy="548640"/>
          </a:xfrm>
          <a:prstGeom prst="rect">
            <a:avLst/>
          </a:prstGeom>
          <a:noFill/>
        </p:spPr>
        <p:txBody>
          <a:bodyPr wrap="square" lIns="0" rIns="0" tIns="0" bIns="0" anchor="t">
            <a:spAutoFit/>
          </a:bodyPr>
          <a:lstStyle/>
          <a:p>
            <a:pPr algn="l">
              <a:lnSpc>
                <a:spcPct val="110000"/>
              </a:lnSpc>
              <a:spcAft>
                <a:spcPts val="0"/>
              </a:spcAft>
            </a:pPr>
            <a:r>
              <a:rPr sz="1600" b="0" i="0">
                <a:solidFill>
                  <a:srgbClr val="1F2937"/>
                </a:solidFill>
                <a:latin typeface="Calibri"/>
              </a:rPr>
              <a:t>driver’s license records exposed</a:t>
            </a:r>
          </a:p>
        </p:txBody>
      </p:sp>
      <p:sp>
        <p:nvSpPr>
          <p:cNvPr id="8" name="Rounded Rectangle 7"/>
          <p:cNvSpPr/>
          <p:nvPr/>
        </p:nvSpPr>
        <p:spPr>
          <a:xfrm>
            <a:off x="548640" y="3749039"/>
            <a:ext cx="4206240" cy="178308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 y="3977639"/>
            <a:ext cx="3657600" cy="822960"/>
          </a:xfrm>
          <a:prstGeom prst="rect">
            <a:avLst/>
          </a:prstGeom>
          <a:noFill/>
        </p:spPr>
        <p:txBody>
          <a:bodyPr wrap="square" lIns="0" rIns="0" tIns="0" bIns="0" anchor="t">
            <a:spAutoFit/>
          </a:bodyPr>
          <a:lstStyle/>
          <a:p>
            <a:pPr algn="l">
              <a:lnSpc>
                <a:spcPct val="100000"/>
              </a:lnSpc>
              <a:spcAft>
                <a:spcPts val="0"/>
              </a:spcAft>
            </a:pPr>
            <a:r>
              <a:rPr sz="5400" b="1" i="0">
                <a:solidFill>
                  <a:srgbClr val="0F1B2D"/>
                </a:solidFill>
                <a:latin typeface="Calibri"/>
              </a:rPr>
              <a:t>1+ year</a:t>
            </a:r>
          </a:p>
        </p:txBody>
      </p:sp>
      <p:sp>
        <p:nvSpPr>
          <p:cNvPr id="10" name="TextBox 9"/>
          <p:cNvSpPr txBox="1"/>
          <p:nvPr/>
        </p:nvSpPr>
        <p:spPr>
          <a:xfrm>
            <a:off x="868680" y="4846320"/>
            <a:ext cx="3657600" cy="548640"/>
          </a:xfrm>
          <a:prstGeom prst="rect">
            <a:avLst/>
          </a:prstGeom>
          <a:noFill/>
        </p:spPr>
        <p:txBody>
          <a:bodyPr wrap="square" lIns="0" rIns="0" tIns="0" bIns="0" anchor="t">
            <a:spAutoFit/>
          </a:bodyPr>
          <a:lstStyle/>
          <a:p>
            <a:pPr algn="l">
              <a:lnSpc>
                <a:spcPct val="110000"/>
              </a:lnSpc>
              <a:spcAft>
                <a:spcPts val="0"/>
              </a:spcAft>
            </a:pPr>
            <a:r>
              <a:rPr sz="1600" b="0" i="0">
                <a:solidFill>
                  <a:srgbClr val="1F2937"/>
                </a:solidFill>
                <a:latin typeface="Calibri"/>
              </a:rPr>
              <a:t>of exfiltration before it was detected</a:t>
            </a:r>
          </a:p>
        </p:txBody>
      </p:sp>
      <p:sp>
        <p:nvSpPr>
          <p:cNvPr id="11" name="TextBox 10"/>
          <p:cNvSpPr txBox="1"/>
          <p:nvPr/>
        </p:nvSpPr>
        <p:spPr>
          <a:xfrm>
            <a:off x="5349240" y="1783080"/>
            <a:ext cx="6309360" cy="4114800"/>
          </a:xfrm>
          <a:prstGeom prst="rect">
            <a:avLst/>
          </a:prstGeom>
          <a:noFill/>
        </p:spPr>
        <p:txBody>
          <a:bodyPr wrap="square" lIns="0" rIns="0" tIns="0" bIns="0">
            <a:spAutoFit/>
          </a:bodyPr>
          <a:lstStyle/>
          <a:p>
            <a:pPr marL="256032" indent="-256032">
              <a:lnSpc>
                <a:spcPct val="110000"/>
              </a:lnSpc>
              <a:spcAft>
                <a:spcPts val="1600"/>
              </a:spcAft>
              <a:buClr>
                <a:srgbClr val="C0392B"/>
              </a:buClr>
              <a:buFont typeface="Arial"/>
              <a:buChar char="■"/>
            </a:pPr>
            <a:r>
              <a:rPr sz="1700" b="1" i="0">
                <a:solidFill>
                  <a:srgbClr val="1F2937"/>
                </a:solidFill>
                <a:latin typeface="Calibri"/>
              </a:rPr>
              <a:t>Irreversible.</a:t>
            </a:r>
            <a:r>
              <a:rPr sz="1700" b="0" i="0">
                <a:solidFill>
                  <a:srgbClr val="1F2937"/>
                </a:solidFill>
                <a:latin typeface="Calibri"/>
              </a:rPr>
              <a:t> A password can be reset; a face, birth date and license number cannot.</a:t>
            </a:r>
          </a:p>
          <a:p>
            <a:pPr marL="256032" indent="-256032">
              <a:lnSpc>
                <a:spcPct val="110000"/>
              </a:lnSpc>
              <a:spcAft>
                <a:spcPts val="1600"/>
              </a:spcAft>
              <a:buClr>
                <a:srgbClr val="C0392B"/>
              </a:buClr>
              <a:buFont typeface="Arial"/>
              <a:buChar char="■"/>
            </a:pPr>
            <a:r>
              <a:rPr sz="1700" b="1" i="0">
                <a:solidFill>
                  <a:srgbClr val="1F2937"/>
                </a:solidFill>
                <a:latin typeface="Calibri"/>
              </a:rPr>
              <a:t>Forgery-grade.</a:t>
            </a:r>
            <a:r>
              <a:rPr sz="1700" b="0" i="0">
                <a:solidFill>
                  <a:srgbClr val="1F2937"/>
                </a:solidFill>
                <a:latin typeface="Calibri"/>
              </a:rPr>
              <a:t> IR and UV scans are exactly what ID verifiers check.</a:t>
            </a:r>
          </a:p>
          <a:p>
            <a:pPr marL="256032" indent="-256032">
              <a:lnSpc>
                <a:spcPct val="110000"/>
              </a:lnSpc>
              <a:spcAft>
                <a:spcPts val="1600"/>
              </a:spcAft>
              <a:buClr>
                <a:srgbClr val="C0392B"/>
              </a:buClr>
              <a:buFont typeface="Arial"/>
              <a:buChar char="■"/>
            </a:pPr>
            <a:r>
              <a:rPr sz="1700" b="1" i="0">
                <a:solidFill>
                  <a:srgbClr val="1F2937"/>
                </a:solidFill>
                <a:latin typeface="Calibri"/>
              </a:rPr>
              <a:t>Harm beyond fraud.</a:t>
            </a:r>
            <a:r>
              <a:rPr sz="1700" b="0" i="0">
                <a:solidFill>
                  <a:srgbClr val="1F2937"/>
                </a:solidFill>
                <a:latin typeface="Calibri"/>
              </a:rPr>
              <a:t> Exposes senior officials, abuse survivors and protected witnesses who cannot change their appearance.</a:t>
            </a:r>
          </a:p>
          <a:p>
            <a:pPr marL="256032" indent="-256032">
              <a:lnSpc>
                <a:spcPct val="110000"/>
              </a:lnSpc>
              <a:spcAft>
                <a:spcPts val="1600"/>
              </a:spcAft>
              <a:buClr>
                <a:srgbClr val="C0392B"/>
              </a:buClr>
              <a:buFont typeface="Arial"/>
              <a:buChar char="■"/>
            </a:pPr>
            <a:r>
              <a:rPr sz="1700" b="1" i="0">
                <a:solidFill>
                  <a:srgbClr val="1F2937"/>
                </a:solidFill>
                <a:latin typeface="Calibri"/>
              </a:rPr>
              <a:t>Root cause.</a:t>
            </a:r>
            <a:r>
              <a:rPr sz="1700" b="0" i="0">
                <a:solidFill>
                  <a:srgbClr val="1F2937"/>
                </a:solidFill>
                <a:latin typeface="Calibri"/>
              </a:rPr>
              <a:t> The integrity and availability damage both flow from this single loss of confidentiality.</a:t>
            </a:r>
          </a:p>
        </p:txBody>
      </p:sp>
      <p:cxnSp>
        <p:nvCxnSpPr>
          <p:cNvPr id="12" name="Connector 11"/>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 Krebs (2026), citing researcher L. Baldwin on exposure of abuse survivors and protected witnesses.</a:t>
            </a:r>
          </a:p>
        </p:txBody>
      </p:sp>
      <p:sp>
        <p:nvSpPr>
          <p:cNvPr id="14" name="TextBox 13"/>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RECOMMENDED CONTROL · CHAPTER 5</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Prevention: AI-based egress anomaly detection</a:t>
            </a:r>
          </a:p>
        </p:txBody>
      </p:sp>
      <p:sp>
        <p:nvSpPr>
          <p:cNvPr id="5" name="Rounded Rectangle 4"/>
          <p:cNvSpPr/>
          <p:nvPr/>
        </p:nvSpPr>
        <p:spPr>
          <a:xfrm>
            <a:off x="548640" y="1645920"/>
            <a:ext cx="2514600" cy="16002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1828800"/>
            <a:ext cx="2112264" cy="320040"/>
          </a:xfrm>
          <a:prstGeom prst="rect">
            <a:avLst/>
          </a:prstGeom>
          <a:noFill/>
        </p:spPr>
        <p:txBody>
          <a:bodyPr wrap="square" lIns="0" rIns="0" tIns="0" bIns="0" anchor="t">
            <a:spAutoFit/>
          </a:bodyPr>
          <a:lstStyle/>
          <a:p>
            <a:pPr algn="l">
              <a:lnSpc>
                <a:spcPct val="110000"/>
              </a:lnSpc>
              <a:spcAft>
                <a:spcPts val="0"/>
              </a:spcAft>
            </a:pPr>
            <a:r>
              <a:rPr sz="1600" b="1" i="0">
                <a:solidFill>
                  <a:srgbClr val="0F1B2D"/>
                </a:solidFill>
                <a:latin typeface="Calibri"/>
              </a:rPr>
              <a:t>1  Collect</a:t>
            </a:r>
          </a:p>
        </p:txBody>
      </p:sp>
      <p:sp>
        <p:nvSpPr>
          <p:cNvPr id="7" name="TextBox 6"/>
          <p:cNvSpPr txBox="1"/>
          <p:nvPr/>
        </p:nvSpPr>
        <p:spPr>
          <a:xfrm>
            <a:off x="749808" y="2212848"/>
            <a:ext cx="2112264" cy="1005840"/>
          </a:xfrm>
          <a:prstGeom prst="rect">
            <a:avLst/>
          </a:prstGeom>
          <a:noFill/>
        </p:spPr>
        <p:txBody>
          <a:bodyPr wrap="square" lIns="0" rIns="0" tIns="0" bIns="0" anchor="t">
            <a:spAutoFit/>
          </a:bodyPr>
          <a:lstStyle/>
          <a:p>
            <a:pPr algn="l">
              <a:lnSpc>
                <a:spcPct val="110000"/>
              </a:lnSpc>
              <a:spcAft>
                <a:spcPts val="0"/>
              </a:spcAft>
            </a:pPr>
            <a:r>
              <a:rPr sz="1300" b="0" i="0">
                <a:solidFill>
                  <a:srgbClr val="1F2937"/>
                </a:solidFill>
                <a:latin typeface="Calibri"/>
              </a:rPr>
              <a:t>Flow and storage-access logs per service account</a:t>
            </a:r>
          </a:p>
        </p:txBody>
      </p:sp>
      <p:sp>
        <p:nvSpPr>
          <p:cNvPr id="8" name="Right Arrow 7"/>
          <p:cNvSpPr/>
          <p:nvPr/>
        </p:nvSpPr>
        <p:spPr>
          <a:xfrm>
            <a:off x="3099816" y="2304288"/>
            <a:ext cx="228600" cy="274320"/>
          </a:xfrm>
          <a:prstGeom prst="rightArrow">
            <a:avLst/>
          </a:prstGeom>
          <a:solidFill>
            <a:srgbClr val="1F5F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364992" y="1645920"/>
            <a:ext cx="2514600" cy="16002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566160" y="1828800"/>
            <a:ext cx="2112264" cy="320040"/>
          </a:xfrm>
          <a:prstGeom prst="rect">
            <a:avLst/>
          </a:prstGeom>
          <a:noFill/>
        </p:spPr>
        <p:txBody>
          <a:bodyPr wrap="square" lIns="0" rIns="0" tIns="0" bIns="0" anchor="t">
            <a:spAutoFit/>
          </a:bodyPr>
          <a:lstStyle/>
          <a:p>
            <a:pPr algn="l">
              <a:lnSpc>
                <a:spcPct val="110000"/>
              </a:lnSpc>
              <a:spcAft>
                <a:spcPts val="0"/>
              </a:spcAft>
            </a:pPr>
            <a:r>
              <a:rPr sz="1600" b="1" i="0">
                <a:solidFill>
                  <a:srgbClr val="0F1B2D"/>
                </a:solidFill>
                <a:latin typeface="Calibri"/>
              </a:rPr>
              <a:t>2  Learn normal</a:t>
            </a:r>
          </a:p>
        </p:txBody>
      </p:sp>
      <p:sp>
        <p:nvSpPr>
          <p:cNvPr id="11" name="TextBox 10"/>
          <p:cNvSpPr txBox="1"/>
          <p:nvPr/>
        </p:nvSpPr>
        <p:spPr>
          <a:xfrm>
            <a:off x="3566160" y="2212848"/>
            <a:ext cx="2112264" cy="1005840"/>
          </a:xfrm>
          <a:prstGeom prst="rect">
            <a:avLst/>
          </a:prstGeom>
          <a:noFill/>
        </p:spPr>
        <p:txBody>
          <a:bodyPr wrap="square" lIns="0" rIns="0" tIns="0" bIns="0" anchor="t">
            <a:spAutoFit/>
          </a:bodyPr>
          <a:lstStyle/>
          <a:p>
            <a:pPr algn="l">
              <a:lnSpc>
                <a:spcPct val="110000"/>
              </a:lnSpc>
              <a:spcAft>
                <a:spcPts val="0"/>
              </a:spcAft>
            </a:pPr>
            <a:r>
              <a:rPr sz="1300" b="0" i="0">
                <a:solidFill>
                  <a:srgbClr val="1F2937"/>
                </a:solidFill>
                <a:latin typeface="Calibri"/>
              </a:rPr>
              <a:t>Baseline bytes out, records read, destinations, hour</a:t>
            </a:r>
          </a:p>
        </p:txBody>
      </p:sp>
      <p:sp>
        <p:nvSpPr>
          <p:cNvPr id="12" name="Right Arrow 11"/>
          <p:cNvSpPr/>
          <p:nvPr/>
        </p:nvSpPr>
        <p:spPr>
          <a:xfrm>
            <a:off x="5916168" y="2304288"/>
            <a:ext cx="228600" cy="274320"/>
          </a:xfrm>
          <a:prstGeom prst="rightArrow">
            <a:avLst/>
          </a:prstGeom>
          <a:solidFill>
            <a:srgbClr val="1F5F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81344" y="1645920"/>
            <a:ext cx="2514600" cy="1600200"/>
          </a:xfrm>
          <a:prstGeom prst="roundRect">
            <a:avLst>
              <a:gd name="adj" fmla="val 6000"/>
            </a:avLst>
          </a:prstGeom>
          <a:solidFill>
            <a:srgbClr val="0F1B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82512" y="1828800"/>
            <a:ext cx="2112264" cy="320040"/>
          </a:xfrm>
          <a:prstGeom prst="rect">
            <a:avLst/>
          </a:prstGeom>
          <a:noFill/>
        </p:spPr>
        <p:txBody>
          <a:bodyPr wrap="square" lIns="0" rIns="0" tIns="0" bIns="0" anchor="t">
            <a:spAutoFit/>
          </a:bodyPr>
          <a:lstStyle/>
          <a:p>
            <a:pPr algn="l">
              <a:lnSpc>
                <a:spcPct val="110000"/>
              </a:lnSpc>
              <a:spcAft>
                <a:spcPts val="0"/>
              </a:spcAft>
            </a:pPr>
            <a:r>
              <a:rPr sz="1600" b="1" i="0">
                <a:solidFill>
                  <a:srgbClr val="FFFFFF"/>
                </a:solidFill>
                <a:latin typeface="Calibri"/>
              </a:rPr>
              <a:t>3  Score</a:t>
            </a:r>
          </a:p>
        </p:txBody>
      </p:sp>
      <p:sp>
        <p:nvSpPr>
          <p:cNvPr id="15" name="TextBox 14"/>
          <p:cNvSpPr txBox="1"/>
          <p:nvPr/>
        </p:nvSpPr>
        <p:spPr>
          <a:xfrm>
            <a:off x="6382512" y="2212848"/>
            <a:ext cx="2112264" cy="1005840"/>
          </a:xfrm>
          <a:prstGeom prst="rect">
            <a:avLst/>
          </a:prstGeom>
          <a:noFill/>
        </p:spPr>
        <p:txBody>
          <a:bodyPr wrap="square" lIns="0" rIns="0" tIns="0" bIns="0" anchor="t">
            <a:spAutoFit/>
          </a:bodyPr>
          <a:lstStyle/>
          <a:p>
            <a:pPr algn="l">
              <a:lnSpc>
                <a:spcPct val="110000"/>
              </a:lnSpc>
              <a:spcAft>
                <a:spcPts val="0"/>
              </a:spcAft>
            </a:pPr>
            <a:r>
              <a:rPr sz="1300" b="0" i="0">
                <a:solidFill>
                  <a:srgbClr val="FFFFFF"/>
                </a:solidFill>
                <a:latin typeface="Calibri"/>
              </a:rPr>
              <a:t>Gaussian / GMM density: low p(x) = anomaly (Parisi, 2019, ch. 5)</a:t>
            </a:r>
          </a:p>
        </p:txBody>
      </p:sp>
      <p:sp>
        <p:nvSpPr>
          <p:cNvPr id="16" name="Right Arrow 15"/>
          <p:cNvSpPr/>
          <p:nvPr/>
        </p:nvSpPr>
        <p:spPr>
          <a:xfrm>
            <a:off x="8732519" y="2304288"/>
            <a:ext cx="228600" cy="274320"/>
          </a:xfrm>
          <a:prstGeom prst="rightArrow">
            <a:avLst/>
          </a:prstGeom>
          <a:solidFill>
            <a:srgbClr val="1F5F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97696" y="1645920"/>
            <a:ext cx="2514600" cy="1600200"/>
          </a:xfrm>
          <a:prstGeom prst="roundRect">
            <a:avLst>
              <a:gd name="adj" fmla="val 6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198864" y="1828800"/>
            <a:ext cx="2112264" cy="320040"/>
          </a:xfrm>
          <a:prstGeom prst="rect">
            <a:avLst/>
          </a:prstGeom>
          <a:noFill/>
        </p:spPr>
        <p:txBody>
          <a:bodyPr wrap="square" lIns="0" rIns="0" tIns="0" bIns="0" anchor="t">
            <a:spAutoFit/>
          </a:bodyPr>
          <a:lstStyle/>
          <a:p>
            <a:pPr algn="l">
              <a:lnSpc>
                <a:spcPct val="110000"/>
              </a:lnSpc>
              <a:spcAft>
                <a:spcPts val="0"/>
              </a:spcAft>
            </a:pPr>
            <a:r>
              <a:rPr sz="1600" b="1" i="0">
                <a:solidFill>
                  <a:srgbClr val="0F1B2D"/>
                </a:solidFill>
                <a:latin typeface="Calibri"/>
              </a:rPr>
              <a:t>4  Respond</a:t>
            </a:r>
          </a:p>
        </p:txBody>
      </p:sp>
      <p:sp>
        <p:nvSpPr>
          <p:cNvPr id="19" name="TextBox 18"/>
          <p:cNvSpPr txBox="1"/>
          <p:nvPr/>
        </p:nvSpPr>
        <p:spPr>
          <a:xfrm>
            <a:off x="9198864" y="2212848"/>
            <a:ext cx="2112264" cy="1005840"/>
          </a:xfrm>
          <a:prstGeom prst="rect">
            <a:avLst/>
          </a:prstGeom>
          <a:noFill/>
        </p:spPr>
        <p:txBody>
          <a:bodyPr wrap="square" lIns="0" rIns="0" tIns="0" bIns="0" anchor="t">
            <a:spAutoFit/>
          </a:bodyPr>
          <a:lstStyle/>
          <a:p>
            <a:pPr algn="l">
              <a:lnSpc>
                <a:spcPct val="110000"/>
              </a:lnSpc>
              <a:spcAft>
                <a:spcPts val="0"/>
              </a:spcAft>
            </a:pPr>
            <a:r>
              <a:rPr sz="1300" b="0" i="0">
                <a:solidFill>
                  <a:srgbClr val="1F2937"/>
                </a:solidFill>
                <a:latin typeface="Calibri"/>
              </a:rPr>
              <a:t>Alert, revoke the token, block the destination</a:t>
            </a:r>
          </a:p>
        </p:txBody>
      </p:sp>
      <p:sp>
        <p:nvSpPr>
          <p:cNvPr id="20" name="Rectangle 19"/>
          <p:cNvSpPr/>
          <p:nvPr/>
        </p:nvSpPr>
        <p:spPr>
          <a:xfrm>
            <a:off x="548640" y="3657600"/>
            <a:ext cx="73152" cy="132588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22959" y="3657600"/>
            <a:ext cx="512064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F5FAD"/>
                </a:solidFill>
                <a:latin typeface="Calibri"/>
              </a:rPr>
              <a:t>APPLIED TO THIS BREACH</a:t>
            </a:r>
          </a:p>
        </p:txBody>
      </p:sp>
      <p:sp>
        <p:nvSpPr>
          <p:cNvPr id="22" name="TextBox 21"/>
          <p:cNvSpPr txBox="1"/>
          <p:nvPr/>
        </p:nvSpPr>
        <p:spPr>
          <a:xfrm>
            <a:off x="822959" y="4023360"/>
            <a:ext cx="5120640" cy="1828800"/>
          </a:xfrm>
          <a:prstGeom prst="rect">
            <a:avLst/>
          </a:prstGeom>
          <a:noFill/>
        </p:spPr>
        <p:txBody>
          <a:bodyPr wrap="square" lIns="0" rIns="0" tIns="0" bIns="0" anchor="t">
            <a:spAutoFit/>
          </a:bodyPr>
          <a:lstStyle/>
          <a:p>
            <a:pPr algn="l">
              <a:lnSpc>
                <a:spcPct val="110000"/>
              </a:lnSpc>
              <a:spcAft>
                <a:spcPts val="0"/>
              </a:spcAft>
            </a:pPr>
            <a:r>
              <a:rPr sz="1500" b="0" i="0">
                <a:solidFill>
                  <a:srgbClr val="1F2937"/>
                </a:solidFill>
                <a:latin typeface="Calibri"/>
              </a:rPr>
              <a:t>An account that normally reads few images starts sending ~400K records a day to a new host. That falls far outside its baseline, so it is </a:t>
            </a:r>
            <a:r>
              <a:rPr sz="1500" b="1" i="0">
                <a:solidFill>
                  <a:srgbClr val="1F2937"/>
                </a:solidFill>
                <a:latin typeface="Calibri"/>
              </a:rPr>
              <a:t>cut off within hours, not after a year</a:t>
            </a:r>
            <a:r>
              <a:rPr sz="1500" b="0" i="0">
                <a:solidFill>
                  <a:srgbClr val="1F2937"/>
                </a:solidFill>
                <a:latin typeface="Calibri"/>
              </a:rPr>
              <a:t>.</a:t>
            </a:r>
          </a:p>
        </p:txBody>
      </p:sp>
      <p:sp>
        <p:nvSpPr>
          <p:cNvPr id="23" name="Rectangle 22"/>
          <p:cNvSpPr/>
          <p:nvPr/>
        </p:nvSpPr>
        <p:spPr>
          <a:xfrm>
            <a:off x="6217920" y="3657600"/>
            <a:ext cx="73152" cy="13258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92240" y="3657600"/>
            <a:ext cx="5120640" cy="274320"/>
          </a:xfrm>
          <a:prstGeom prst="rect">
            <a:avLst/>
          </a:prstGeom>
          <a:noFill/>
        </p:spPr>
        <p:txBody>
          <a:bodyPr wrap="square" lIns="0" rIns="0" tIns="0" bIns="0" anchor="t">
            <a:spAutoFit/>
          </a:bodyPr>
          <a:lstStyle/>
          <a:p>
            <a:pPr algn="l">
              <a:lnSpc>
                <a:spcPct val="110000"/>
              </a:lnSpc>
              <a:spcAft>
                <a:spcPts val="0"/>
              </a:spcAft>
            </a:pPr>
            <a:r>
              <a:rPr sz="1200" b="1" i="0">
                <a:solidFill>
                  <a:srgbClr val="C0392B"/>
                </a:solidFill>
                <a:latin typeface="Calibri"/>
              </a:rPr>
              <a:t>LESSON FROM MY MODULE 1 LAB</a:t>
            </a:r>
          </a:p>
        </p:txBody>
      </p:sp>
      <p:sp>
        <p:nvSpPr>
          <p:cNvPr id="25" name="TextBox 24"/>
          <p:cNvSpPr txBox="1"/>
          <p:nvPr/>
        </p:nvSpPr>
        <p:spPr>
          <a:xfrm>
            <a:off x="6492240" y="4023360"/>
            <a:ext cx="5120640" cy="1828800"/>
          </a:xfrm>
          <a:prstGeom prst="rect">
            <a:avLst/>
          </a:prstGeom>
          <a:noFill/>
        </p:spPr>
        <p:txBody>
          <a:bodyPr wrap="square" lIns="0" rIns="0" tIns="0" bIns="0" anchor="t">
            <a:spAutoFit/>
          </a:bodyPr>
          <a:lstStyle/>
          <a:p>
            <a:pPr algn="l">
              <a:lnSpc>
                <a:spcPct val="110000"/>
              </a:lnSpc>
              <a:spcAft>
                <a:spcPts val="0"/>
              </a:spcAft>
            </a:pPr>
            <a:r>
              <a:rPr sz="1500" b="0" i="0">
                <a:solidFill>
                  <a:srgbClr val="1F2937"/>
                </a:solidFill>
                <a:latin typeface="Calibri"/>
              </a:rPr>
              <a:t>My benign-only GMM reached </a:t>
            </a:r>
            <a:r>
              <a:rPr sz="1500" b="1" i="0">
                <a:solidFill>
                  <a:srgbClr val="1F2937"/>
                </a:solidFill>
                <a:latin typeface="Calibri"/>
              </a:rPr>
              <a:t>ROC-AUC 0.966</a:t>
            </a:r>
            <a:r>
              <a:rPr sz="1500" b="0" i="0">
                <a:solidFill>
                  <a:srgbClr val="1F2937"/>
                </a:solidFill>
                <a:latin typeface="Calibri"/>
              </a:rPr>
              <a:t> on CIC-IDS-2017 but missed attacks that look normal flow by flow. Slow leaks need </a:t>
            </a:r>
            <a:r>
              <a:rPr sz="1500" b="1" i="0">
                <a:solidFill>
                  <a:srgbClr val="1F2937"/>
                </a:solidFill>
                <a:latin typeface="Calibri"/>
              </a:rPr>
              <a:t>per-account baselines over days</a:t>
            </a:r>
            <a:r>
              <a:rPr sz="1500" b="0" i="0">
                <a:solidFill>
                  <a:srgbClr val="1F2937"/>
                </a:solidFill>
                <a:latin typeface="Calibri"/>
              </a:rPr>
              <a:t> (UEBA).</a:t>
            </a:r>
          </a:p>
        </p:txBody>
      </p:sp>
      <p:cxnSp>
        <p:nvCxnSpPr>
          <p:cNvPr id="26" name="Connector 25"/>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Parisi (2019), Ch. 5, network anomaly detection with AI; Krebs (2026); author’s Module 1 lab results.</a:t>
            </a:r>
          </a:p>
        </p:txBody>
      </p:sp>
      <p:sp>
        <p:nvSpPr>
          <p:cNvPr id="28" name="TextBox 27"/>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CURRENT TREND · DATA MINIMIZATION</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Trend: mobile IDs shrink what there is to steal</a:t>
            </a:r>
          </a:p>
        </p:txBody>
      </p:sp>
      <p:sp>
        <p:nvSpPr>
          <p:cNvPr id="5" name="Rounded Rectangle 4"/>
          <p:cNvSpPr/>
          <p:nvPr/>
        </p:nvSpPr>
        <p:spPr>
          <a:xfrm>
            <a:off x="548640" y="1645920"/>
            <a:ext cx="2926080" cy="370332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48640" y="1645920"/>
            <a:ext cx="2926080" cy="109728"/>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920240"/>
            <a:ext cx="2560320" cy="548640"/>
          </a:xfrm>
          <a:prstGeom prst="rect">
            <a:avLst/>
          </a:prstGeom>
          <a:noFill/>
        </p:spPr>
        <p:txBody>
          <a:bodyPr wrap="square" lIns="0" rIns="0" tIns="0" bIns="0" anchor="t">
            <a:spAutoFit/>
          </a:bodyPr>
          <a:lstStyle/>
          <a:p>
            <a:pPr algn="l">
              <a:lnSpc>
                <a:spcPct val="110000"/>
              </a:lnSpc>
              <a:spcAft>
                <a:spcPts val="0"/>
              </a:spcAft>
            </a:pPr>
            <a:r>
              <a:rPr sz="1300" b="1" i="0">
                <a:solidFill>
                  <a:srgbClr val="C0392B"/>
                </a:solidFill>
                <a:latin typeface="Calibri"/>
              </a:rPr>
              <a:t>TODAY: SCAN AND STORE</a:t>
            </a:r>
          </a:p>
        </p:txBody>
      </p:sp>
      <p:sp>
        <p:nvSpPr>
          <p:cNvPr id="8" name="TextBox 7"/>
          <p:cNvSpPr txBox="1"/>
          <p:nvPr/>
        </p:nvSpPr>
        <p:spPr>
          <a:xfrm>
            <a:off x="777240" y="2606040"/>
            <a:ext cx="2514600" cy="822960"/>
          </a:xfrm>
          <a:prstGeom prst="rect">
            <a:avLst/>
          </a:prstGeom>
          <a:noFill/>
        </p:spPr>
        <p:txBody>
          <a:bodyPr wrap="square" lIns="0" rIns="0" tIns="0" bIns="0" anchor="t">
            <a:spAutoFit/>
          </a:bodyPr>
          <a:lstStyle/>
          <a:p>
            <a:pPr algn="l">
              <a:lnSpc>
                <a:spcPct val="110000"/>
              </a:lnSpc>
              <a:spcAft>
                <a:spcPts val="0"/>
              </a:spcAft>
            </a:pPr>
            <a:r>
              <a:rPr sz="1400" b="0" i="0">
                <a:solidFill>
                  <a:srgbClr val="1F2937"/>
                </a:solidFill>
                <a:latin typeface="Calibri"/>
              </a:rPr>
              <a:t>Physical license scanned</a:t>
            </a:r>
          </a:p>
        </p:txBody>
      </p:sp>
      <p:sp>
        <p:nvSpPr>
          <p:cNvPr id="9" name="Down Arrow 8"/>
          <p:cNvSpPr/>
          <p:nvPr/>
        </p:nvSpPr>
        <p:spPr>
          <a:xfrm>
            <a:off x="1874519" y="3355848"/>
            <a:ext cx="237744" cy="256032"/>
          </a:xfrm>
          <a:prstGeom prst="downArrow">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3657600"/>
            <a:ext cx="2514600" cy="822960"/>
          </a:xfrm>
          <a:prstGeom prst="rect">
            <a:avLst/>
          </a:prstGeom>
          <a:noFill/>
        </p:spPr>
        <p:txBody>
          <a:bodyPr wrap="square" lIns="0" rIns="0" tIns="0" bIns="0" anchor="t">
            <a:spAutoFit/>
          </a:bodyPr>
          <a:lstStyle/>
          <a:p>
            <a:pPr algn="l">
              <a:lnSpc>
                <a:spcPct val="110000"/>
              </a:lnSpc>
              <a:spcAft>
                <a:spcPts val="0"/>
              </a:spcAft>
            </a:pPr>
            <a:r>
              <a:rPr sz="1400" b="0" i="0">
                <a:solidFill>
                  <a:srgbClr val="1F2937"/>
                </a:solidFill>
                <a:latin typeface="Calibri"/>
              </a:rPr>
              <a:t>Vendor keeps the full image: front, back, IR, UV</a:t>
            </a:r>
          </a:p>
        </p:txBody>
      </p:sp>
      <p:sp>
        <p:nvSpPr>
          <p:cNvPr id="11" name="Down Arrow 10"/>
          <p:cNvSpPr/>
          <p:nvPr/>
        </p:nvSpPr>
        <p:spPr>
          <a:xfrm>
            <a:off x="1874519" y="4407408"/>
            <a:ext cx="237744" cy="256032"/>
          </a:xfrm>
          <a:prstGeom prst="downArrow">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4709160"/>
            <a:ext cx="2514600" cy="822960"/>
          </a:xfrm>
          <a:prstGeom prst="rect">
            <a:avLst/>
          </a:prstGeom>
          <a:noFill/>
        </p:spPr>
        <p:txBody>
          <a:bodyPr wrap="square" lIns="0" rIns="0" tIns="0" bIns="0" anchor="t">
            <a:spAutoFit/>
          </a:bodyPr>
          <a:lstStyle/>
          <a:p>
            <a:pPr algn="l">
              <a:lnSpc>
                <a:spcPct val="110000"/>
              </a:lnSpc>
              <a:spcAft>
                <a:spcPts val="0"/>
              </a:spcAft>
            </a:pPr>
            <a:r>
              <a:rPr sz="1400" b="0" i="0">
                <a:solidFill>
                  <a:srgbClr val="1F2937"/>
                </a:solidFill>
                <a:latin typeface="Calibri"/>
              </a:rPr>
              <a:t>A breach leaks a reusable identity</a:t>
            </a:r>
          </a:p>
        </p:txBody>
      </p:sp>
      <p:sp>
        <p:nvSpPr>
          <p:cNvPr id="13" name="Rounded Rectangle 12"/>
          <p:cNvSpPr/>
          <p:nvPr/>
        </p:nvSpPr>
        <p:spPr>
          <a:xfrm>
            <a:off x="3703320" y="1645920"/>
            <a:ext cx="2926080" cy="370332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3703320" y="1645920"/>
            <a:ext cx="2926080" cy="109728"/>
          </a:xfrm>
          <a:prstGeom prst="rect">
            <a:avLst/>
          </a:prstGeom>
          <a:solidFill>
            <a:srgbClr val="1E84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3931920" y="1920240"/>
            <a:ext cx="2560320" cy="548640"/>
          </a:xfrm>
          <a:prstGeom prst="rect">
            <a:avLst/>
          </a:prstGeom>
          <a:noFill/>
        </p:spPr>
        <p:txBody>
          <a:bodyPr wrap="square" lIns="0" rIns="0" tIns="0" bIns="0" anchor="t">
            <a:spAutoFit/>
          </a:bodyPr>
          <a:lstStyle/>
          <a:p>
            <a:pPr algn="l">
              <a:lnSpc>
                <a:spcPct val="110000"/>
              </a:lnSpc>
              <a:spcAft>
                <a:spcPts val="0"/>
              </a:spcAft>
            </a:pPr>
            <a:r>
              <a:rPr sz="1300" b="1" i="0">
                <a:solidFill>
                  <a:srgbClr val="1E846F"/>
                </a:solidFill>
                <a:latin typeface="Calibri"/>
              </a:rPr>
              <a:t>MOBILE ID (ISO/IEC 18013-5)</a:t>
            </a:r>
          </a:p>
        </p:txBody>
      </p:sp>
      <p:sp>
        <p:nvSpPr>
          <p:cNvPr id="16" name="TextBox 15"/>
          <p:cNvSpPr txBox="1"/>
          <p:nvPr/>
        </p:nvSpPr>
        <p:spPr>
          <a:xfrm>
            <a:off x="3931920" y="2606040"/>
            <a:ext cx="2514600" cy="822960"/>
          </a:xfrm>
          <a:prstGeom prst="rect">
            <a:avLst/>
          </a:prstGeom>
          <a:noFill/>
        </p:spPr>
        <p:txBody>
          <a:bodyPr wrap="square" lIns="0" rIns="0" tIns="0" bIns="0" anchor="t">
            <a:spAutoFit/>
          </a:bodyPr>
          <a:lstStyle/>
          <a:p>
            <a:pPr algn="l">
              <a:lnSpc>
                <a:spcPct val="110000"/>
              </a:lnSpc>
              <a:spcAft>
                <a:spcPts val="0"/>
              </a:spcAft>
            </a:pPr>
            <a:r>
              <a:rPr sz="1400" b="0" i="0">
                <a:solidFill>
                  <a:srgbClr val="1F2937"/>
                </a:solidFill>
                <a:latin typeface="Calibri"/>
              </a:rPr>
              <a:t>Phone shares a state-signed credential</a:t>
            </a:r>
          </a:p>
        </p:txBody>
      </p:sp>
      <p:sp>
        <p:nvSpPr>
          <p:cNvPr id="17" name="Down Arrow 16"/>
          <p:cNvSpPr/>
          <p:nvPr/>
        </p:nvSpPr>
        <p:spPr>
          <a:xfrm>
            <a:off x="5029200" y="3355848"/>
            <a:ext cx="237744" cy="256032"/>
          </a:xfrm>
          <a:prstGeom prst="downArrow">
            <a:avLst/>
          </a:prstGeom>
          <a:solidFill>
            <a:srgbClr val="1E84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31920" y="3657600"/>
            <a:ext cx="2514600" cy="822960"/>
          </a:xfrm>
          <a:prstGeom prst="rect">
            <a:avLst/>
          </a:prstGeom>
          <a:noFill/>
        </p:spPr>
        <p:txBody>
          <a:bodyPr wrap="square" lIns="0" rIns="0" tIns="0" bIns="0" anchor="t">
            <a:spAutoFit/>
          </a:bodyPr>
          <a:lstStyle/>
          <a:p>
            <a:pPr algn="l">
              <a:lnSpc>
                <a:spcPct val="110000"/>
              </a:lnSpc>
              <a:spcAft>
                <a:spcPts val="0"/>
              </a:spcAft>
            </a:pPr>
            <a:r>
              <a:rPr sz="1400" b="0" i="0">
                <a:solidFill>
                  <a:srgbClr val="1F2937"/>
                </a:solidFill>
                <a:latin typeface="Calibri"/>
              </a:rPr>
              <a:t>Verifier asks only “age over 21?” and gets yes/no</a:t>
            </a:r>
          </a:p>
        </p:txBody>
      </p:sp>
      <p:sp>
        <p:nvSpPr>
          <p:cNvPr id="19" name="Down Arrow 18"/>
          <p:cNvSpPr/>
          <p:nvPr/>
        </p:nvSpPr>
        <p:spPr>
          <a:xfrm>
            <a:off x="5029200" y="4407408"/>
            <a:ext cx="237744" cy="256032"/>
          </a:xfrm>
          <a:prstGeom prst="downArrow">
            <a:avLst/>
          </a:prstGeom>
          <a:solidFill>
            <a:srgbClr val="1E84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31920" y="4709160"/>
            <a:ext cx="2514600" cy="822960"/>
          </a:xfrm>
          <a:prstGeom prst="rect">
            <a:avLst/>
          </a:prstGeom>
          <a:noFill/>
        </p:spPr>
        <p:txBody>
          <a:bodyPr wrap="square" lIns="0" rIns="0" tIns="0" bIns="0" anchor="t">
            <a:spAutoFit/>
          </a:bodyPr>
          <a:lstStyle/>
          <a:p>
            <a:pPr algn="l">
              <a:lnSpc>
                <a:spcPct val="110000"/>
              </a:lnSpc>
              <a:spcAft>
                <a:spcPts val="0"/>
              </a:spcAft>
            </a:pPr>
            <a:r>
              <a:rPr sz="1400" b="0" i="0">
                <a:solidFill>
                  <a:srgbClr val="1F2937"/>
                </a:solidFill>
                <a:latin typeface="Calibri"/>
              </a:rPr>
              <a:t>A breach leaks a signed answer, not an identity</a:t>
            </a:r>
          </a:p>
        </p:txBody>
      </p:sp>
      <p:sp>
        <p:nvSpPr>
          <p:cNvPr id="21" name="TextBox 20"/>
          <p:cNvSpPr txBox="1"/>
          <p:nvPr/>
        </p:nvSpPr>
        <p:spPr>
          <a:xfrm>
            <a:off x="7086600" y="1737360"/>
            <a:ext cx="4572000" cy="2926080"/>
          </a:xfrm>
          <a:prstGeom prst="rect">
            <a:avLst/>
          </a:prstGeom>
          <a:noFill/>
        </p:spPr>
        <p:txBody>
          <a:bodyPr wrap="square" lIns="0" rIns="0" tIns="0" bIns="0">
            <a:spAutoFit/>
          </a:bodyPr>
          <a:lstStyle/>
          <a:p>
            <a:pPr marL="256032" indent="-256032">
              <a:lnSpc>
                <a:spcPct val="110000"/>
              </a:lnSpc>
              <a:spcAft>
                <a:spcPts val="1400"/>
              </a:spcAft>
              <a:buClr>
                <a:srgbClr val="1E846F"/>
              </a:buClr>
              <a:buFont typeface="Arial"/>
              <a:buChar char="■"/>
            </a:pPr>
            <a:r>
              <a:rPr sz="1600" b="1" i="0">
                <a:solidFill>
                  <a:srgbClr val="1F2937"/>
                </a:solidFill>
                <a:latin typeface="Calibri"/>
              </a:rPr>
              <a:t>The trend:</a:t>
            </a:r>
            <a:r>
              <a:rPr sz="1600" b="0" i="0">
                <a:solidFill>
                  <a:srgbClr val="1F2937"/>
                </a:solidFill>
                <a:latin typeface="Calibri"/>
              </a:rPr>
              <a:t> mobile driver’s licenses (ISO/IEC 18013-5, 2021), now accepted by more U.S. states and TSA checkpoints.</a:t>
            </a:r>
          </a:p>
          <a:p>
            <a:pPr marL="256032" indent="-256032">
              <a:lnSpc>
                <a:spcPct val="110000"/>
              </a:lnSpc>
              <a:spcAft>
                <a:spcPts val="1400"/>
              </a:spcAft>
              <a:buClr>
                <a:srgbClr val="1E846F"/>
              </a:buClr>
              <a:buFont typeface="Arial"/>
              <a:buChar char="■"/>
            </a:pPr>
            <a:r>
              <a:rPr sz="1600" b="1" i="0">
                <a:solidFill>
                  <a:srgbClr val="1F2937"/>
                </a:solidFill>
                <a:latin typeface="Calibri"/>
              </a:rPr>
              <a:t>Mitigation link:</a:t>
            </a:r>
            <a:r>
              <a:rPr sz="1600" b="0" i="0">
                <a:solidFill>
                  <a:srgbClr val="1F2937"/>
                </a:solidFill>
                <a:latin typeface="Calibri"/>
              </a:rPr>
              <a:t> verifiers never hold an image, so a breach like IDScan’s yields nothing reusable.</a:t>
            </a:r>
          </a:p>
          <a:p>
            <a:pPr marL="256032" indent="-256032">
              <a:lnSpc>
                <a:spcPct val="110000"/>
              </a:lnSpc>
              <a:spcAft>
                <a:spcPts val="1400"/>
              </a:spcAft>
              <a:buClr>
                <a:srgbClr val="1E846F"/>
              </a:buClr>
              <a:buFont typeface="Arial"/>
              <a:buChar char="■"/>
            </a:pPr>
            <a:r>
              <a:rPr sz="1600" b="1" i="0">
                <a:solidFill>
                  <a:srgbClr val="1F2937"/>
                </a:solidFill>
                <a:latin typeface="Calibri"/>
              </a:rPr>
              <a:t>With the AI control:</a:t>
            </a:r>
            <a:r>
              <a:rPr sz="1600" b="0" i="0">
                <a:solidFill>
                  <a:srgbClr val="1F2937"/>
                </a:solidFill>
                <a:latin typeface="Calibri"/>
              </a:rPr>
              <a:t> minimize what is stored, then monitor what remains.</a:t>
            </a:r>
          </a:p>
        </p:txBody>
      </p:sp>
      <p:sp>
        <p:nvSpPr>
          <p:cNvPr id="22" name="TextBox 21"/>
          <p:cNvSpPr txBox="1"/>
          <p:nvPr/>
        </p:nvSpPr>
        <p:spPr>
          <a:xfrm>
            <a:off x="7086600" y="4892040"/>
            <a:ext cx="4572000" cy="914400"/>
          </a:xfrm>
          <a:prstGeom prst="rect">
            <a:avLst/>
          </a:prstGeom>
          <a:noFill/>
        </p:spPr>
        <p:txBody>
          <a:bodyPr wrap="square" lIns="0" rIns="0" tIns="0" bIns="0" anchor="t">
            <a:spAutoFit/>
          </a:bodyPr>
          <a:lstStyle/>
          <a:p>
            <a:pPr algn="l">
              <a:lnSpc>
                <a:spcPct val="110000"/>
              </a:lnSpc>
              <a:spcAft>
                <a:spcPts val="600"/>
              </a:spcAft>
            </a:pPr>
            <a:r>
              <a:rPr sz="1300" b="0" i="1">
                <a:solidFill>
                  <a:srgbClr val="5B6472"/>
                </a:solidFill>
                <a:latin typeface="Calibri"/>
              </a:rPr>
              <a:t>“We don’t have nearly the oversight to ensure they are safe.”  Z. Edwards, privacy researcher, in Krebs (2026)</a:t>
            </a:r>
          </a:p>
        </p:txBody>
      </p:sp>
      <p:cxnSp>
        <p:nvCxnSpPr>
          <p:cNvPr id="23" name="Connector 22"/>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Sources: International Organization for Standardization (2021); Krebs (2026).</a:t>
            </a:r>
          </a:p>
        </p:txBody>
      </p:sp>
      <p:sp>
        <p:nvSpPr>
          <p:cNvPr id="25" name="TextBox 24"/>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F5F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48640" y="384048"/>
            <a:ext cx="11094415" cy="274320"/>
          </a:xfrm>
          <a:prstGeom prst="rect">
            <a:avLst/>
          </a:prstGeom>
          <a:noFill/>
        </p:spPr>
        <p:txBody>
          <a:bodyPr wrap="square" lIns="0" rIns="0" tIns="0" bIns="0" anchor="t">
            <a:spAutoFit/>
          </a:bodyPr>
          <a:lstStyle/>
          <a:p>
            <a:pPr algn="l">
              <a:lnSpc>
                <a:spcPct val="110000"/>
              </a:lnSpc>
              <a:spcAft>
                <a:spcPts val="600"/>
              </a:spcAft>
            </a:pPr>
            <a:r>
              <a:rPr sz="1200" b="1" i="0">
                <a:solidFill>
                  <a:srgbClr val="1F5FAD"/>
                </a:solidFill>
                <a:latin typeface="Calibri"/>
              </a:rPr>
              <a:t>TAKEAWAYS</a:t>
            </a:r>
          </a:p>
        </p:txBody>
      </p:sp>
      <p:sp>
        <p:nvSpPr>
          <p:cNvPr id="4" name="TextBox 3"/>
          <p:cNvSpPr txBox="1"/>
          <p:nvPr/>
        </p:nvSpPr>
        <p:spPr>
          <a:xfrm>
            <a:off x="548640" y="658368"/>
            <a:ext cx="11094415" cy="731520"/>
          </a:xfrm>
          <a:prstGeom prst="rect">
            <a:avLst/>
          </a:prstGeom>
          <a:noFill/>
        </p:spPr>
        <p:txBody>
          <a:bodyPr wrap="square" lIns="0" rIns="0" tIns="0" bIns="0" anchor="t">
            <a:spAutoFit/>
          </a:bodyPr>
          <a:lstStyle/>
          <a:p>
            <a:pPr algn="l">
              <a:lnSpc>
                <a:spcPct val="100000"/>
              </a:lnSpc>
              <a:spcAft>
                <a:spcPts val="600"/>
              </a:spcAft>
            </a:pPr>
            <a:r>
              <a:rPr sz="3000" b="1" i="0">
                <a:solidFill>
                  <a:srgbClr val="0F1B2D"/>
                </a:solidFill>
                <a:latin typeface="Calibri"/>
              </a:rPr>
              <a:t>Reflection and references</a:t>
            </a:r>
          </a:p>
        </p:txBody>
      </p:sp>
      <p:sp>
        <p:nvSpPr>
          <p:cNvPr id="5" name="Rounded Rectangle 4"/>
          <p:cNvSpPr/>
          <p:nvPr/>
        </p:nvSpPr>
        <p:spPr>
          <a:xfrm>
            <a:off x="548640" y="1645920"/>
            <a:ext cx="5120640" cy="3520440"/>
          </a:xfrm>
          <a:prstGeom prst="roundRect">
            <a:avLst>
              <a:gd name="adj" fmla="val 5000"/>
            </a:avLst>
          </a:prstGeom>
          <a:solidFill>
            <a:srgbClr val="F2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1828800"/>
            <a:ext cx="457200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F5FAD"/>
                </a:solidFill>
                <a:latin typeface="Calibri"/>
              </a:rPr>
              <a:t>WHAT I LEARNED</a:t>
            </a:r>
          </a:p>
        </p:txBody>
      </p:sp>
      <p:sp>
        <p:nvSpPr>
          <p:cNvPr id="7" name="TextBox 6"/>
          <p:cNvSpPr txBox="1"/>
          <p:nvPr/>
        </p:nvSpPr>
        <p:spPr>
          <a:xfrm>
            <a:off x="822959" y="2194560"/>
            <a:ext cx="4572000" cy="3566160"/>
          </a:xfrm>
          <a:prstGeom prst="rect">
            <a:avLst/>
          </a:prstGeom>
          <a:noFill/>
        </p:spPr>
        <p:txBody>
          <a:bodyPr wrap="square" lIns="0" rIns="0" tIns="0" bIns="0" anchor="t">
            <a:spAutoFit/>
          </a:bodyPr>
          <a:lstStyle/>
          <a:p>
            <a:pPr algn="l">
              <a:lnSpc>
                <a:spcPct val="110000"/>
              </a:lnSpc>
              <a:spcAft>
                <a:spcPts val="1200"/>
              </a:spcAft>
            </a:pPr>
            <a:r>
              <a:rPr sz="1500" b="0" i="0">
                <a:solidFill>
                  <a:srgbClr val="1F2937"/>
                </a:solidFill>
                <a:latin typeface="Calibri"/>
              </a:rPr>
              <a:t>This case changed how I read my Module 1 detector: a strong score is not enough when an attacker is patient enough to look normal one event at a time.</a:t>
            </a:r>
          </a:p>
          <a:p>
            <a:pPr algn="l">
              <a:lnSpc>
                <a:spcPct val="110000"/>
              </a:lnSpc>
              <a:spcAft>
                <a:spcPts val="1200"/>
              </a:spcAft>
            </a:pPr>
            <a:r>
              <a:rPr sz="1500" b="0" i="0">
                <a:solidFill>
                  <a:srgbClr val="1F2937"/>
                </a:solidFill>
                <a:latin typeface="Calibri"/>
              </a:rPr>
              <a:t>In security engineering, I want to build detectors that model </a:t>
            </a:r>
            <a:r>
              <a:rPr sz="1500" b="1" i="0">
                <a:solidFill>
                  <a:srgbClr val="1F2937"/>
                </a:solidFill>
                <a:latin typeface="Calibri"/>
              </a:rPr>
              <a:t>behavior over time</a:t>
            </a:r>
            <a:r>
              <a:rPr sz="1500" b="0" i="0">
                <a:solidFill>
                  <a:srgbClr val="1F2937"/>
                </a:solidFill>
                <a:latin typeface="Calibri"/>
              </a:rPr>
              <a:t> and to argue for storing less data.</a:t>
            </a:r>
          </a:p>
          <a:p>
            <a:pPr algn="l">
              <a:lnSpc>
                <a:spcPct val="110000"/>
              </a:lnSpc>
              <a:spcAft>
                <a:spcPts val="1200"/>
              </a:spcAft>
            </a:pPr>
            <a:r>
              <a:rPr sz="1500" b="1" i="0">
                <a:solidFill>
                  <a:srgbClr val="1F2937"/>
                </a:solidFill>
                <a:latin typeface="Calibri"/>
              </a:rPr>
              <a:t>Three questions I now ask:</a:t>
            </a:r>
            <a:r>
              <a:rPr sz="1500" b="0" i="0">
                <a:solidFill>
                  <a:srgbClr val="1F2937"/>
                </a:solidFill>
                <a:latin typeface="Calibri"/>
              </a:rPr>
              <a:t> What do we store? How fast would we notice it leaving? How quickly can we cut it off?</a:t>
            </a:r>
          </a:p>
        </p:txBody>
      </p:sp>
      <p:sp>
        <p:nvSpPr>
          <p:cNvPr id="8" name="TextBox 7"/>
          <p:cNvSpPr txBox="1"/>
          <p:nvPr/>
        </p:nvSpPr>
        <p:spPr>
          <a:xfrm>
            <a:off x="6080760" y="1691640"/>
            <a:ext cx="5577840" cy="274320"/>
          </a:xfrm>
          <a:prstGeom prst="rect">
            <a:avLst/>
          </a:prstGeom>
          <a:noFill/>
        </p:spPr>
        <p:txBody>
          <a:bodyPr wrap="square" lIns="0" rIns="0" tIns="0" bIns="0" anchor="t">
            <a:spAutoFit/>
          </a:bodyPr>
          <a:lstStyle/>
          <a:p>
            <a:pPr algn="l">
              <a:lnSpc>
                <a:spcPct val="110000"/>
              </a:lnSpc>
              <a:spcAft>
                <a:spcPts val="0"/>
              </a:spcAft>
            </a:pPr>
            <a:r>
              <a:rPr sz="1200" b="1" i="0">
                <a:solidFill>
                  <a:srgbClr val="1F5FAD"/>
                </a:solidFill>
                <a:latin typeface="Calibri"/>
              </a:rPr>
              <a:t>REFERENCES</a:t>
            </a:r>
          </a:p>
        </p:txBody>
      </p:sp>
      <p:sp>
        <p:nvSpPr>
          <p:cNvPr id="9" name="TextBox 8"/>
          <p:cNvSpPr txBox="1"/>
          <p:nvPr/>
        </p:nvSpPr>
        <p:spPr>
          <a:xfrm>
            <a:off x="6080760" y="2057400"/>
            <a:ext cx="5577840" cy="3840480"/>
          </a:xfrm>
          <a:prstGeom prst="rect">
            <a:avLst/>
          </a:prstGeom>
          <a:noFill/>
        </p:spPr>
        <p:txBody>
          <a:bodyPr wrap="square" lIns="0" rIns="0" tIns="0" bIns="0" anchor="t">
            <a:spAutoFit/>
          </a:bodyPr>
          <a:lstStyle/>
          <a:p>
            <a:pPr algn="l" marL="365760" indent="-365760">
              <a:lnSpc>
                <a:spcPct val="105000"/>
              </a:lnSpc>
              <a:spcAft>
                <a:spcPts val="1000"/>
              </a:spcAft>
            </a:pPr>
            <a:r>
              <a:rPr sz="1200" b="0" i="0">
                <a:solidFill>
                  <a:srgbClr val="1F2937"/>
                </a:solidFill>
                <a:latin typeface="Calibri"/>
              </a:rPr>
              <a:t>Krebs, B. (2026, September 1). FBI probes service selling 153M+ drivers licenses. </a:t>
            </a:r>
            <a:r>
              <a:rPr sz="1200" b="0" i="1">
                <a:solidFill>
                  <a:srgbClr val="1F2937"/>
                </a:solidFill>
                <a:latin typeface="Calibri"/>
              </a:rPr>
              <a:t>Krebs on Security</a:t>
            </a:r>
            <a:r>
              <a:rPr sz="1200" b="0" i="0">
                <a:solidFill>
                  <a:srgbClr val="1F2937"/>
                </a:solidFill>
                <a:latin typeface="Calibri"/>
              </a:rPr>
              <a:t>. https://krebsonsecurity.com/2026/09/fbi-probes-service-selling-153m-drivers-licenses/</a:t>
            </a:r>
          </a:p>
          <a:p>
            <a:pPr algn="l" marL="365760" indent="-365760">
              <a:lnSpc>
                <a:spcPct val="105000"/>
              </a:lnSpc>
              <a:spcAft>
                <a:spcPts val="1000"/>
              </a:spcAft>
            </a:pPr>
            <a:r>
              <a:rPr sz="1200" b="0" i="0">
                <a:solidFill>
                  <a:srgbClr val="1F2937"/>
                </a:solidFill>
                <a:latin typeface="Calibri"/>
              </a:rPr>
              <a:t>International Organization for Standardization. (2021). </a:t>
            </a:r>
            <a:r>
              <a:rPr sz="1200" b="0" i="1">
                <a:solidFill>
                  <a:srgbClr val="1F2937"/>
                </a:solidFill>
                <a:latin typeface="Calibri"/>
              </a:rPr>
              <a:t>Personal identification: ISO-compliant driving licence. Part 5: Mobile driving licence (mDL) application</a:t>
            </a:r>
            <a:r>
              <a:rPr sz="1200" b="0" i="0">
                <a:solidFill>
                  <a:srgbClr val="1F2937"/>
                </a:solidFill>
                <a:latin typeface="Calibri"/>
              </a:rPr>
              <a:t> (ISO/IEC Standard No. 18013-5:2021). https://www.iso.org/standard/69084.html</a:t>
            </a:r>
          </a:p>
          <a:p>
            <a:pPr algn="l" marL="365760" indent="-365760">
              <a:lnSpc>
                <a:spcPct val="105000"/>
              </a:lnSpc>
              <a:spcAft>
                <a:spcPts val="1000"/>
              </a:spcAft>
            </a:pPr>
            <a:r>
              <a:rPr sz="1200" b="0" i="0">
                <a:solidFill>
                  <a:srgbClr val="1F2937"/>
                </a:solidFill>
                <a:latin typeface="Calibri"/>
              </a:rPr>
              <a:t>Parisi, A. (2019). </a:t>
            </a:r>
            <a:r>
              <a:rPr sz="1200" b="0" i="1">
                <a:solidFill>
                  <a:srgbClr val="1F2937"/>
                </a:solidFill>
                <a:latin typeface="Calibri"/>
              </a:rPr>
              <a:t>Hands-on artificial intelligence for cybersecurity: Implement smart AI systems for preventing cyber attacks and detecting threats and network anomalies</a:t>
            </a:r>
            <a:r>
              <a:rPr sz="1200" b="0" i="0">
                <a:solidFill>
                  <a:srgbClr val="1F2937"/>
                </a:solidFill>
                <a:latin typeface="Calibri"/>
              </a:rPr>
              <a:t>. Packt Publishing.</a:t>
            </a:r>
          </a:p>
        </p:txBody>
      </p:sp>
      <p:cxnSp>
        <p:nvCxnSpPr>
          <p:cNvPr id="10" name="Connector 9"/>
          <p:cNvCxnSpPr/>
          <p:nvPr/>
        </p:nvCxnSpPr>
        <p:spPr>
          <a:xfrm>
            <a:off x="548640" y="6355080"/>
            <a:ext cx="11094415" cy="0"/>
          </a:xfrm>
          <a:prstGeom prst="line">
            <a:avLst/>
          </a:prstGeom>
          <a:ln w="9525">
            <a:solidFill>
              <a:srgbClr val="D5DAE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48640" y="6446520"/>
            <a:ext cx="10545775" cy="274320"/>
          </a:xfrm>
          <a:prstGeom prst="rect">
            <a:avLst/>
          </a:prstGeom>
          <a:noFill/>
        </p:spPr>
        <p:txBody>
          <a:bodyPr wrap="square" lIns="0" rIns="0" tIns="0" bIns="0" anchor="t">
            <a:spAutoFit/>
          </a:bodyPr>
          <a:lstStyle/>
          <a:p>
            <a:pPr algn="l">
              <a:lnSpc>
                <a:spcPct val="110000"/>
              </a:lnSpc>
              <a:spcAft>
                <a:spcPts val="600"/>
              </a:spcAft>
            </a:pPr>
            <a:r>
              <a:rPr sz="1000" b="0" i="0">
                <a:solidFill>
                  <a:srgbClr val="5B6472"/>
                </a:solidFill>
                <a:latin typeface="Calibri"/>
              </a:rPr>
              <a:t>References formatted in APA 7th edition.</a:t>
            </a:r>
          </a:p>
        </p:txBody>
      </p:sp>
      <p:sp>
        <p:nvSpPr>
          <p:cNvPr id="12" name="TextBox 11"/>
          <p:cNvSpPr txBox="1"/>
          <p:nvPr/>
        </p:nvSpPr>
        <p:spPr>
          <a:xfrm>
            <a:off x="11185855" y="6446520"/>
            <a:ext cx="457200" cy="274320"/>
          </a:xfrm>
          <a:prstGeom prst="rect">
            <a:avLst/>
          </a:prstGeom>
          <a:noFill/>
        </p:spPr>
        <p:txBody>
          <a:bodyPr wrap="square" lIns="0" rIns="0" tIns="0" bIns="0" anchor="t">
            <a:spAutoFit/>
          </a:bodyPr>
          <a:lstStyle/>
          <a:p>
            <a:pPr algn="r">
              <a:lnSpc>
                <a:spcPct val="110000"/>
              </a:lnSpc>
              <a:spcAft>
                <a:spcPts val="600"/>
              </a:spcAft>
            </a:pPr>
            <a:r>
              <a:rPr sz="1000" b="0" i="0">
                <a:solidFill>
                  <a:srgbClr val="5B6472"/>
                </a:solidFill>
                <a:latin typeface="Calibri"/>
              </a:rPr>
              <a:t>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